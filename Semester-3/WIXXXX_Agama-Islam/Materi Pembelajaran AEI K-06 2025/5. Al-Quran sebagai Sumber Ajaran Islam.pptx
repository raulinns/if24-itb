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coM8obwgGQUm2DE5k7WUoO1kK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hyperlink" Target="https://www.youtube.com/watch?v=C-HDFiC2bo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hyperlink" Target="https://www.flickr.com/photos/thegreatshadow/262245901" TargetMode="External"/><Relationship Id="rId5" Type="http://schemas.openxmlformats.org/officeDocument/2006/relationships/hyperlink" Target="https://creativecommons.org/licenses/by/3.0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2207602"/>
            <a:ext cx="12191999" cy="316214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29803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1097280" y="325550"/>
            <a:ext cx="10058400" cy="357477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000"/>
              <a:buFont typeface="Arial"/>
              <a:buNone/>
            </a:pPr>
            <a:r>
              <a:rPr b="1" lang="id-ID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AL-QUR’AN</a:t>
            </a:r>
            <a:r>
              <a:rPr b="1" lang="id-ID" sz="5200">
                <a:solidFill>
                  <a:srgbClr val="FFFFFF"/>
                </a:solidFill>
              </a:rPr>
              <a:t> SEBAGAI SUMBER POKOK AJARAN ISLAM</a:t>
            </a:r>
            <a:endParaRPr b="1" sz="5200">
              <a:solidFill>
                <a:srgbClr val="FFFFFF"/>
              </a:solidFill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d-ID"/>
              <a:t>Tim Dosen AEI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-423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589009" y="502400"/>
            <a:ext cx="3367171" cy="1818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1" lang="id-ID" sz="4000"/>
              <a:t>Muqaddimah</a:t>
            </a:r>
            <a:endParaRPr/>
          </a:p>
        </p:txBody>
      </p:sp>
      <p:pic>
        <p:nvPicPr>
          <p:cNvPr descr="A close up of a book&#10;&#10;Description automatically generated" id="99" name="Google Shape;99;p2"/>
          <p:cNvPicPr preferRelativeResize="0"/>
          <p:nvPr/>
        </p:nvPicPr>
        <p:blipFill rotWithShape="1">
          <a:blip r:embed="rId3">
            <a:alphaModFix/>
          </a:blip>
          <a:srcRect b="9560" l="0" r="0" t="26126"/>
          <a:stretch/>
        </p:blipFill>
        <p:spPr>
          <a:xfrm>
            <a:off x="4555236" y="6"/>
            <a:ext cx="7636763" cy="276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0" y="2762729"/>
            <a:ext cx="12192000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erson in a suit and tie&#10;&#10;Description automatically generated" id="101" name="Google Shape;101;p2"/>
          <p:cNvPicPr preferRelativeResize="0"/>
          <p:nvPr/>
        </p:nvPicPr>
        <p:blipFill rotWithShape="1">
          <a:blip r:embed="rId4">
            <a:alphaModFix/>
          </a:blip>
          <a:srcRect b="11311" l="0" r="-2" t="0"/>
          <a:stretch/>
        </p:blipFill>
        <p:spPr>
          <a:xfrm>
            <a:off x="-1" y="2826737"/>
            <a:ext cx="4565779" cy="4031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4788408" y="2971800"/>
            <a:ext cx="7145142" cy="3593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57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d-ID" sz="2000"/>
              <a:t>“Kekuatan dan daya tarik al-Qur’an di antaranya dimunculkan oleh irama dan retorikanya, juga oleh sajak dan maknanya, yang tidak bisa dialihkan ke dalam terjemahan semua bahasa pun ... Dalam kedudukannya sebagai kitab suci umat Islam, al-Qur’an memainkan peran penting lainnya, di antaranya sebagai pilar Islam dan otoritas tertinggi dalam persoalan-persoalan spiritual dan etika. Di bidang teologi, hukum, dan ilmu pengetahuan, menurut umat Islam, al-Qur’an merupakan sumber ajaran yang mempunyai aspek-aspek yang berbeda-beda.” </a:t>
            </a:r>
            <a:endParaRPr/>
          </a:p>
          <a:p>
            <a:pPr indent="0" lvl="0" marL="457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d-ID" sz="2000"/>
              <a:t>(</a:t>
            </a:r>
            <a:r>
              <a:rPr b="1" lang="id-ID" sz="2000"/>
              <a:t>Philip K. Hitti, 1978</a:t>
            </a:r>
            <a:r>
              <a:rPr lang="id-ID" sz="2000"/>
              <a:t>)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 rot="5400000">
            <a:off x="1158239" y="3396995"/>
            <a:ext cx="6858002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4"/>
            <a:ext cx="12192000" cy="2295238"/>
          </a:xfrm>
          <a:custGeom>
            <a:rect b="b" l="l" r="r" t="t"/>
            <a:pathLst>
              <a:path extrusionOk="0" h="2079137" w="12192000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1137036" y="548640"/>
            <a:ext cx="9543405" cy="986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Calibri"/>
              <a:buNone/>
            </a:pPr>
            <a:r>
              <a:rPr b="1" lang="id-ID">
                <a:solidFill>
                  <a:srgbClr val="262626"/>
                </a:solidFill>
              </a:rPr>
              <a:t>Makna al-Qur’an</a:t>
            </a:r>
            <a:endParaRPr b="1">
              <a:solidFill>
                <a:srgbClr val="262626"/>
              </a:solidFill>
            </a:endParaRPr>
          </a:p>
        </p:txBody>
      </p:sp>
      <p:grpSp>
        <p:nvGrpSpPr>
          <p:cNvPr id="111" name="Google Shape;111;p3"/>
          <p:cNvGrpSpPr/>
          <p:nvPr/>
        </p:nvGrpSpPr>
        <p:grpSpPr>
          <a:xfrm>
            <a:off x="1969913" y="1715259"/>
            <a:ext cx="8381357" cy="4075940"/>
            <a:chOff x="11927" y="0"/>
            <a:chExt cx="8381357" cy="4075940"/>
          </a:xfrm>
        </p:grpSpPr>
        <p:sp>
          <p:nvSpPr>
            <p:cNvPr id="112" name="Google Shape;112;p3"/>
            <p:cNvSpPr/>
            <p:nvPr/>
          </p:nvSpPr>
          <p:spPr>
            <a:xfrm>
              <a:off x="11927" y="0"/>
              <a:ext cx="8381357" cy="122074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11927" y="305186"/>
              <a:ext cx="8076171" cy="61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3775" lIns="87625" spcFirstLastPara="1" rIns="254000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id-ID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Secara bahasa</a:t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1927" y="944395"/>
              <a:ext cx="3872187" cy="27247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11927" y="944395"/>
              <a:ext cx="3872187" cy="272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id-ID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Kata al-Qur’an diambil dari kata </a:t>
              </a:r>
              <a:r>
                <a:rPr b="0" i="1" lang="id-ID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qara’a, yaqra’u, qur’anan</a:t>
              </a:r>
              <a:r>
                <a:rPr b="0" i="0" lang="id-ID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yang berarti bacaan. </a:t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884114" y="406778"/>
              <a:ext cx="4509170" cy="122074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3884114" y="711964"/>
              <a:ext cx="4203984" cy="61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3775" lIns="87625" spcFirstLastPara="1" rIns="254000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id-ID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Secara istilah, </a:t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3884114" y="1351174"/>
              <a:ext cx="3872187" cy="272476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3884114" y="1351174"/>
              <a:ext cx="3872187" cy="272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id-ID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adalah kalam Allah yang mengandung kemukjizatan; yang diturunkan kepada Nabi Muhammad melalui perantara Jibril; disampaikan dan dikodifikasikan secara tawatur; membacanya bernilai ibadah, dan diawalai dengan surat al-Fatihah serta diakhiri dengan surat an-Nas. </a:t>
              </a:r>
              <a:endParaRPr/>
            </a:p>
          </p:txBody>
        </p:sp>
      </p:grpSp>
      <p:sp>
        <p:nvSpPr>
          <p:cNvPr id="120" name="Google Shape;120;p3"/>
          <p:cNvSpPr/>
          <p:nvPr/>
        </p:nvSpPr>
        <p:spPr>
          <a:xfrm>
            <a:off x="2224586" y="5970896"/>
            <a:ext cx="9967416" cy="887104"/>
          </a:xfrm>
          <a:custGeom>
            <a:rect b="b" l="l" r="r" t="t"/>
            <a:pathLst>
              <a:path extrusionOk="0" h="918356" w="9517857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957986" y="5997725"/>
            <a:ext cx="7010400" cy="3231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1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Muh}ammad ‘Ali al-S{a&gt;bu&gt;ni&gt;, </a:t>
            </a:r>
            <a:r>
              <a:rPr b="0" i="1" lang="id-ID" sz="1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al-Tibya&gt;n fi&gt;-’Ulu&gt;m al-Qur’a&gt;n </a:t>
            </a:r>
            <a:r>
              <a:rPr b="0" i="0" lang="id-ID" sz="1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(Teheran: Dar Ihsa&gt;n, 2003), 8.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>
            <p:ph type="title"/>
          </p:nvPr>
        </p:nvSpPr>
        <p:spPr>
          <a:xfrm>
            <a:off x="1265120" y="1107860"/>
            <a:ext cx="5847781" cy="1046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id-ID" sz="4000"/>
              <a:t>Karakteristik al-Qur’an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666395" y="539937"/>
            <a:ext cx="4525605" cy="5778126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 rot="5400000">
            <a:off x="-2749379" y="3396997"/>
            <a:ext cx="6858002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3552" y="1524000"/>
            <a:ext cx="3891290" cy="388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4"/>
          <p:cNvGrpSpPr/>
          <p:nvPr/>
        </p:nvGrpSpPr>
        <p:grpSpPr>
          <a:xfrm>
            <a:off x="1265121" y="2402668"/>
            <a:ext cx="5847780" cy="3347061"/>
            <a:chOff x="0" y="408"/>
            <a:chExt cx="5847780" cy="3347061"/>
          </a:xfrm>
        </p:grpSpPr>
        <p:cxnSp>
          <p:nvCxnSpPr>
            <p:cNvPr id="134" name="Google Shape;134;p4"/>
            <p:cNvCxnSpPr/>
            <p:nvPr/>
          </p:nvCxnSpPr>
          <p:spPr>
            <a:xfrm>
              <a:off x="0" y="408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5" name="Google Shape;135;p4"/>
            <p:cNvSpPr/>
            <p:nvPr/>
          </p:nvSpPr>
          <p:spPr>
            <a:xfrm>
              <a:off x="0" y="408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408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Kalam Allah</a:t>
              </a:r>
              <a:endParaRPr/>
            </a:p>
          </p:txBody>
        </p:sp>
        <p:cxnSp>
          <p:nvCxnSpPr>
            <p:cNvPr id="137" name="Google Shape;137;p4"/>
            <p:cNvCxnSpPr/>
            <p:nvPr/>
          </p:nvCxnSpPr>
          <p:spPr>
            <a:xfrm>
              <a:off x="0" y="478560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" name="Google Shape;138;p4"/>
            <p:cNvSpPr/>
            <p:nvPr/>
          </p:nvSpPr>
          <p:spPr>
            <a:xfrm>
              <a:off x="0" y="478560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478560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Kata dan maknanya mengandung mukjizat</a:t>
              </a:r>
              <a:endParaRPr/>
            </a:p>
          </p:txBody>
        </p:sp>
        <p:cxnSp>
          <p:nvCxnSpPr>
            <p:cNvPr id="140" name="Google Shape;140;p4"/>
            <p:cNvCxnSpPr/>
            <p:nvPr/>
          </p:nvCxnSpPr>
          <p:spPr>
            <a:xfrm>
              <a:off x="0" y="956712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1" name="Google Shape;141;p4"/>
            <p:cNvSpPr/>
            <p:nvPr/>
          </p:nvSpPr>
          <p:spPr>
            <a:xfrm>
              <a:off x="0" y="956712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956712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Nabi berperan sebagai penerima </a:t>
              </a:r>
              <a:endParaRPr/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0" y="1434863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4" name="Google Shape;144;p4"/>
            <p:cNvSpPr/>
            <p:nvPr/>
          </p:nvSpPr>
          <p:spPr>
            <a:xfrm>
              <a:off x="0" y="1434863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1434863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Penyampaiannya bersifat </a:t>
              </a:r>
              <a:r>
                <a:rPr i="1"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tawatur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6" name="Google Shape;146;p4"/>
            <p:cNvCxnSpPr/>
            <p:nvPr/>
          </p:nvCxnSpPr>
          <p:spPr>
            <a:xfrm>
              <a:off x="0" y="1913015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7" name="Google Shape;147;p4"/>
            <p:cNvSpPr/>
            <p:nvPr/>
          </p:nvSpPr>
          <p:spPr>
            <a:xfrm>
              <a:off x="0" y="1913015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1913015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Kitab yang terpelihara </a:t>
              </a:r>
              <a:endParaRPr/>
            </a:p>
          </p:txBody>
        </p:sp>
        <p:cxnSp>
          <p:nvCxnSpPr>
            <p:cNvPr id="149" name="Google Shape;149;p4"/>
            <p:cNvCxnSpPr/>
            <p:nvPr/>
          </p:nvCxnSpPr>
          <p:spPr>
            <a:xfrm>
              <a:off x="0" y="2391166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0" name="Google Shape;150;p4"/>
            <p:cNvSpPr/>
            <p:nvPr/>
          </p:nvSpPr>
          <p:spPr>
            <a:xfrm>
              <a:off x="0" y="2391166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2391166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Membacanya bernilai ibadah</a:t>
              </a:r>
              <a:endParaRPr/>
            </a:p>
          </p:txBody>
        </p:sp>
        <p:cxnSp>
          <p:nvCxnSpPr>
            <p:cNvPr id="152" name="Google Shape;152;p4"/>
            <p:cNvCxnSpPr/>
            <p:nvPr/>
          </p:nvCxnSpPr>
          <p:spPr>
            <a:xfrm>
              <a:off x="0" y="2869318"/>
              <a:ext cx="5847780" cy="0"/>
            </a:xfrm>
            <a:prstGeom prst="straightConnector1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3" name="Google Shape;153;p4"/>
            <p:cNvSpPr/>
            <p:nvPr/>
          </p:nvSpPr>
          <p:spPr>
            <a:xfrm>
              <a:off x="0" y="2869318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2869318"/>
              <a:ext cx="5847780" cy="47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Dikodifikasi dalam mushhaf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>
            <p:ph type="title"/>
          </p:nvPr>
        </p:nvSpPr>
        <p:spPr>
          <a:xfrm>
            <a:off x="793935" y="854169"/>
            <a:ext cx="3527117" cy="14738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Nama-nama </a:t>
            </a:r>
            <a:br>
              <a:rPr b="1"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id-ID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al-Qur’an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 rot="5400000">
            <a:off x="1643658" y="3396997"/>
            <a:ext cx="6858002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40655" y="854168"/>
            <a:ext cx="7151345" cy="60885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40655" y="6022991"/>
            <a:ext cx="7151345" cy="60885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5"/>
          <p:cNvGrpSpPr/>
          <p:nvPr/>
        </p:nvGrpSpPr>
        <p:grpSpPr>
          <a:xfrm>
            <a:off x="5350685" y="1953430"/>
            <a:ext cx="6595293" cy="4022377"/>
            <a:chOff x="822959" y="1846225"/>
            <a:chExt cx="7543801" cy="4022377"/>
          </a:xfrm>
        </p:grpSpPr>
        <p:cxnSp>
          <p:nvCxnSpPr>
            <p:cNvPr id="165" name="Google Shape;165;p5"/>
            <p:cNvCxnSpPr/>
            <p:nvPr/>
          </p:nvCxnSpPr>
          <p:spPr>
            <a:xfrm>
              <a:off x="822959" y="1846225"/>
              <a:ext cx="7543801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6" name="Google Shape;166;p5"/>
            <p:cNvSpPr/>
            <p:nvPr/>
          </p:nvSpPr>
          <p:spPr>
            <a:xfrm>
              <a:off x="822959" y="1846225"/>
              <a:ext cx="7543801" cy="804475"/>
            </a:xfrm>
            <a:custGeom>
              <a:rect b="b" l="l" r="r" t="t"/>
              <a:pathLst>
                <a:path extrusionOk="0" h="804475" w="7543801">
                  <a:moveTo>
                    <a:pt x="0" y="0"/>
                  </a:moveTo>
                  <a:lnTo>
                    <a:pt x="7543801" y="0"/>
                  </a:lnTo>
                  <a:lnTo>
                    <a:pt x="7543801" y="804475"/>
                  </a:lnTo>
                  <a:lnTo>
                    <a:pt x="0" y="8044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20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Al-Qur’an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bacaan. Kata ini diantaranya terdapat pada Q.S. Al-Isra [17]: 9 dan al-Qiyamah[75]: 18.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5"/>
            <p:cNvCxnSpPr/>
            <p:nvPr/>
          </p:nvCxnSpPr>
          <p:spPr>
            <a:xfrm>
              <a:off x="822959" y="2650700"/>
              <a:ext cx="7543801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8" name="Google Shape;168;p5"/>
            <p:cNvSpPr/>
            <p:nvPr/>
          </p:nvSpPr>
          <p:spPr>
            <a:xfrm>
              <a:off x="822959" y="2650700"/>
              <a:ext cx="7543801" cy="804475"/>
            </a:xfrm>
            <a:custGeom>
              <a:rect b="b" l="l" r="r" t="t"/>
              <a:pathLst>
                <a:path extrusionOk="0" h="804475" w="7543801">
                  <a:moveTo>
                    <a:pt x="0" y="0"/>
                  </a:moveTo>
                  <a:lnTo>
                    <a:pt x="7543801" y="0"/>
                  </a:lnTo>
                  <a:lnTo>
                    <a:pt x="7543801" y="804475"/>
                  </a:lnTo>
                  <a:lnTo>
                    <a:pt x="0" y="8044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20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Al-Furqan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pembeda antara yang benar dari yang salah. Kata ini terdapat pada Q.S. Al-Furqan [25]: 1.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9" name="Google Shape;169;p5"/>
            <p:cNvCxnSpPr/>
            <p:nvPr/>
          </p:nvCxnSpPr>
          <p:spPr>
            <a:xfrm>
              <a:off x="822959" y="3455176"/>
              <a:ext cx="7543801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0" name="Google Shape;170;p5"/>
            <p:cNvSpPr/>
            <p:nvPr/>
          </p:nvSpPr>
          <p:spPr>
            <a:xfrm>
              <a:off x="822959" y="3455176"/>
              <a:ext cx="7543801" cy="804475"/>
            </a:xfrm>
            <a:custGeom>
              <a:rect b="b" l="l" r="r" t="t"/>
              <a:pathLst>
                <a:path extrusionOk="0" h="804475" w="7543801">
                  <a:moveTo>
                    <a:pt x="0" y="0"/>
                  </a:moveTo>
                  <a:lnTo>
                    <a:pt x="7543801" y="0"/>
                  </a:lnTo>
                  <a:lnTo>
                    <a:pt x="7543801" y="804475"/>
                  </a:lnTo>
                  <a:lnTo>
                    <a:pt x="0" y="8044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20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Al-Kitab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tulisan atau yang ditulis. Kata ini diantaranya terdapat pada Q.S. Al-Baqarah [2]:2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" name="Google Shape;171;p5"/>
            <p:cNvCxnSpPr/>
            <p:nvPr/>
          </p:nvCxnSpPr>
          <p:spPr>
            <a:xfrm>
              <a:off x="822959" y="4259651"/>
              <a:ext cx="7543801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2" name="Google Shape;172;p5"/>
            <p:cNvSpPr/>
            <p:nvPr/>
          </p:nvSpPr>
          <p:spPr>
            <a:xfrm>
              <a:off x="822959" y="4259651"/>
              <a:ext cx="7543801" cy="804475"/>
            </a:xfrm>
            <a:custGeom>
              <a:rect b="b" l="l" r="r" t="t"/>
              <a:pathLst>
                <a:path extrusionOk="0" h="804475" w="7543801">
                  <a:moveTo>
                    <a:pt x="0" y="0"/>
                  </a:moveTo>
                  <a:lnTo>
                    <a:pt x="7543801" y="0"/>
                  </a:lnTo>
                  <a:lnTo>
                    <a:pt x="7543801" y="804475"/>
                  </a:lnTo>
                  <a:lnTo>
                    <a:pt x="0" y="8044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20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Al-Dzikra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peringatan. Kata ini diantaranya terdapat pada Q.S. Al-Hijr [15]: 9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" name="Google Shape;173;p5"/>
            <p:cNvCxnSpPr/>
            <p:nvPr/>
          </p:nvCxnSpPr>
          <p:spPr>
            <a:xfrm>
              <a:off x="822959" y="5064127"/>
              <a:ext cx="7543801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4" name="Google Shape;174;p5"/>
            <p:cNvSpPr/>
            <p:nvPr/>
          </p:nvSpPr>
          <p:spPr>
            <a:xfrm>
              <a:off x="822959" y="5064127"/>
              <a:ext cx="7543801" cy="804475"/>
            </a:xfrm>
            <a:custGeom>
              <a:rect b="b" l="l" r="r" t="t"/>
              <a:pathLst>
                <a:path extrusionOk="0" h="804475" w="7543801">
                  <a:moveTo>
                    <a:pt x="0" y="0"/>
                  </a:moveTo>
                  <a:lnTo>
                    <a:pt x="7543801" y="0"/>
                  </a:lnTo>
                  <a:lnTo>
                    <a:pt x="7543801" y="804475"/>
                  </a:lnTo>
                  <a:lnTo>
                    <a:pt x="0" y="8044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-ID" sz="20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Al-Syifa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obat (ruhani). Kata ini terdapat diantaranya pada Q.S. Yunus [10]: 57.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178" y="2563292"/>
            <a:ext cx="2652299" cy="3607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oup of children reading books&#10;&#10;Description automatically generated" id="181" name="Google Shape;181;p6"/>
          <p:cNvPicPr preferRelativeResize="0"/>
          <p:nvPr/>
        </p:nvPicPr>
        <p:blipFill rotWithShape="1">
          <a:blip r:embed="rId3">
            <a:alphaModFix/>
          </a:blip>
          <a:srcRect b="15907" l="0" r="-2" t="0"/>
          <a:stretch/>
        </p:blipFill>
        <p:spPr>
          <a:xfrm>
            <a:off x="20" y="10"/>
            <a:ext cx="6116549" cy="685799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82" name="Google Shape;182;p6"/>
          <p:cNvGrpSpPr/>
          <p:nvPr/>
        </p:nvGrpSpPr>
        <p:grpSpPr>
          <a:xfrm>
            <a:off x="6513851" y="523861"/>
            <a:ext cx="5220884" cy="5581677"/>
            <a:chOff x="63" y="219061"/>
            <a:chExt cx="5220884" cy="5581677"/>
          </a:xfrm>
        </p:grpSpPr>
        <p:sp>
          <p:nvSpPr>
            <p:cNvPr id="183" name="Google Shape;183;p6"/>
            <p:cNvSpPr/>
            <p:nvPr/>
          </p:nvSpPr>
          <p:spPr>
            <a:xfrm>
              <a:off x="2780290" y="4293898"/>
              <a:ext cx="318346" cy="97626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84" name="Google Shape;184;p6"/>
            <p:cNvSpPr/>
            <p:nvPr/>
          </p:nvSpPr>
          <p:spPr>
            <a:xfrm>
              <a:off x="3583495" y="2787057"/>
              <a:ext cx="91440" cy="445685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2345217" y="1280216"/>
              <a:ext cx="1283998" cy="44568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86" name="Google Shape;186;p6"/>
            <p:cNvSpPr/>
            <p:nvPr/>
          </p:nvSpPr>
          <p:spPr>
            <a:xfrm>
              <a:off x="212294" y="4293898"/>
              <a:ext cx="318346" cy="97626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87" name="Google Shape;187;p6"/>
            <p:cNvSpPr/>
            <p:nvPr/>
          </p:nvSpPr>
          <p:spPr>
            <a:xfrm>
              <a:off x="1015499" y="2787057"/>
              <a:ext cx="91440" cy="445685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88" name="Google Shape;188;p6"/>
            <p:cNvSpPr/>
            <p:nvPr/>
          </p:nvSpPr>
          <p:spPr>
            <a:xfrm>
              <a:off x="1061219" y="1280216"/>
              <a:ext cx="1283998" cy="445685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89" name="Google Shape;189;p6"/>
            <p:cNvSpPr/>
            <p:nvPr/>
          </p:nvSpPr>
          <p:spPr>
            <a:xfrm>
              <a:off x="1284061" y="219061"/>
              <a:ext cx="2122310" cy="1061155"/>
            </a:xfrm>
            <a:prstGeom prst="rect">
              <a:avLst/>
            </a:prstGeom>
            <a:solidFill>
              <a:srgbClr val="4372C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 txBox="1"/>
            <p:nvPr/>
          </p:nvSpPr>
          <p:spPr>
            <a:xfrm>
              <a:off x="1284061" y="219061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Nama Paling Masyhur</a:t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3" y="1725901"/>
              <a:ext cx="2122310" cy="1061155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63" y="1725901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Al-Qur’an</a:t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63" y="3232742"/>
              <a:ext cx="2122310" cy="106115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63" y="3232742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Kitab suci yang dibaca oleh lisan</a:t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530641" y="4739583"/>
              <a:ext cx="2122310" cy="1061155"/>
            </a:xfrm>
            <a:prstGeom prst="rect">
              <a:avLst/>
            </a:prstGeom>
            <a:solidFill>
              <a:srgbClr val="C0000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530641" y="4739583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Terjaga secara hafalan</a:t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568059" y="1725901"/>
              <a:ext cx="2122310" cy="1061155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2568059" y="1725901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Al-Kitab</a:t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2568059" y="3232742"/>
              <a:ext cx="2122310" cy="1061155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2568059" y="3232742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Kitab suci ditulis dengan tinta</a:t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3098637" y="4739583"/>
              <a:ext cx="2122310" cy="1061155"/>
            </a:xfrm>
            <a:prstGeom prst="rect">
              <a:avLst/>
            </a:prstGeom>
            <a:solidFill>
              <a:srgbClr val="C0000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3098637" y="4739583"/>
              <a:ext cx="2122310" cy="106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id-ID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Terjaga secara tertulis</a:t>
              </a:r>
              <a:endParaRPr/>
            </a:p>
          </p:txBody>
        </p:sp>
      </p:grpSp>
      <p:sp>
        <p:nvSpPr>
          <p:cNvPr id="203" name="Google Shape;203;p6"/>
          <p:cNvSpPr txBox="1"/>
          <p:nvPr/>
        </p:nvSpPr>
        <p:spPr>
          <a:xfrm>
            <a:off x="5410200" y="6350526"/>
            <a:ext cx="6324600" cy="3077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Manna‘ al-Qat}t{a&gt;n, </a:t>
            </a:r>
            <a:r>
              <a:rPr i="1"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Maba&gt;h}ith fi&gt;-’Ulu&gt;m al-Qur’a&gt;n </a:t>
            </a: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Maktabat Wahbab, t.t.), 17.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09" name="Google Shape;209;p7"/>
          <p:cNvSpPr/>
          <p:nvPr/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>
            <p:ph type="title"/>
          </p:nvPr>
        </p:nvSpPr>
        <p:spPr>
          <a:xfrm>
            <a:off x="523875" y="5317240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Calibri"/>
              <a:buNone/>
            </a:pPr>
            <a:r>
              <a:rPr b="1" lang="id-ID" sz="2300">
                <a:solidFill>
                  <a:srgbClr val="262626"/>
                </a:solidFill>
              </a:rPr>
              <a:t>Manuskrip Universitas Birmingham</a:t>
            </a:r>
            <a:br>
              <a:rPr b="1" lang="id-ID" sz="2300">
                <a:solidFill>
                  <a:srgbClr val="262626"/>
                </a:solidFill>
              </a:rPr>
            </a:br>
            <a:r>
              <a:rPr b="1" lang="id-ID" sz="2300" u="sng">
                <a:solidFill>
                  <a:srgbClr val="26262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https://www.youtube.com/watch?v=C-HDFiC2boQ</a:t>
            </a:r>
            <a:r>
              <a:rPr b="1" lang="id-ID" sz="2300">
                <a:solidFill>
                  <a:srgbClr val="262626"/>
                </a:solidFill>
              </a:rPr>
              <a:t> </a:t>
            </a:r>
            <a:endParaRPr b="1" sz="2300">
              <a:solidFill>
                <a:srgbClr val="262626"/>
              </a:solidFill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0" y="5241983"/>
            <a:ext cx="12192000" cy="0"/>
          </a:xfrm>
          <a:prstGeom prst="straightConnector1">
            <a:avLst/>
          </a:prstGeom>
          <a:noFill/>
          <a:ln cap="flat" cmpd="sng" w="41275">
            <a:solidFill>
              <a:schemeClr val="lt1">
                <a:alpha val="8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2" name="Google Shape;212;p7"/>
          <p:cNvCxnSpPr/>
          <p:nvPr/>
        </p:nvCxnSpPr>
        <p:spPr>
          <a:xfrm>
            <a:off x="0" y="6134852"/>
            <a:ext cx="12192000" cy="0"/>
          </a:xfrm>
          <a:prstGeom prst="straightConnector1">
            <a:avLst/>
          </a:prstGeom>
          <a:noFill/>
          <a:ln cap="flat" cmpd="sng" w="41275">
            <a:solidFill>
              <a:schemeClr val="lt1">
                <a:alpha val="8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erson reading a book&#10;&#10;Description automatically generated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11212" r="0" t="0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0" y="0"/>
            <a:ext cx="6103025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889000" sx="90000" rotWithShape="0" algn="t" dir="21540000" dist="406400" sy="90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0" y="0"/>
            <a:ext cx="6103025" cy="22859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sx="92000" rotWithShape="0" algn="t" dir="5460000" dist="127000" sy="920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>
            <p:ph type="title"/>
          </p:nvPr>
        </p:nvSpPr>
        <p:spPr>
          <a:xfrm>
            <a:off x="761801" y="328512"/>
            <a:ext cx="4778387" cy="1628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id-ID" sz="4000"/>
              <a:t>Kedudukan al-Qur’an</a:t>
            </a:r>
            <a:endParaRPr/>
          </a:p>
        </p:txBody>
      </p:sp>
      <p:sp>
        <p:nvSpPr>
          <p:cNvPr id="222" name="Google Shape;222;p8"/>
          <p:cNvSpPr txBox="1"/>
          <p:nvPr>
            <p:ph idx="1" type="body"/>
          </p:nvPr>
        </p:nvSpPr>
        <p:spPr>
          <a:xfrm>
            <a:off x="761801" y="2438400"/>
            <a:ext cx="4659756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id-ID" sz="2500"/>
              <a:t>Al-Qur’an merupakan sumber primer dalam agama Islam, yang menjadi landasan pokok bagi pembentukan doktrin dan ajarannya, baik dalam bidang akidah, syariah, akhlak, pemikiran, pendidikan, ekonomi, politik, budaya, dll.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>
            <p:ph type="title"/>
          </p:nvPr>
        </p:nvSpPr>
        <p:spPr>
          <a:xfrm>
            <a:off x="1221644" y="1054853"/>
            <a:ext cx="5847781" cy="779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id-ID" sz="4000"/>
              <a:t>Tentang al-Qur’an</a:t>
            </a:r>
            <a:br>
              <a:rPr b="1" lang="id-ID" sz="4000"/>
            </a:br>
            <a:endParaRPr b="1" sz="4000"/>
          </a:p>
        </p:txBody>
      </p:sp>
      <p:sp>
        <p:nvSpPr>
          <p:cNvPr id="229" name="Google Shape;229;p9"/>
          <p:cNvSpPr txBox="1"/>
          <p:nvPr>
            <p:ph idx="1" type="body"/>
          </p:nvPr>
        </p:nvSpPr>
        <p:spPr>
          <a:xfrm>
            <a:off x="1265121" y="1499617"/>
            <a:ext cx="5847780" cy="3300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id-ID" sz="2100"/>
              <a:t>“Al-Qur’an adalah kitab suci yang dengannya Allah mengakhiri semua kitab suci; Allah menurunkannya kepada Nabi yang menjadi akhir bagi seluruh Nabi ... Al-Qur’an adalah undang-undang Pencipta untuk memberi kebaikan dan kemaslahatan ciptaan-Nya; hukum langit untuk memberi petunjuk bumi. Allah benamkan ke dalamnya semua ajaran; memuatkan di dalamnya semua syarat kemajuan; dan mengaitkan dengannya setiap unsur kebahagiaan.”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7666395" y="539937"/>
            <a:ext cx="4525605" cy="5778126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 rot="5400000">
            <a:off x="-2749379" y="3396997"/>
            <a:ext cx="6858002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book cover&#10;&#10;Description automatically generated" id="234" name="Google Shape;2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6412" y="832282"/>
            <a:ext cx="3505569" cy="5193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 txBox="1"/>
          <p:nvPr/>
        </p:nvSpPr>
        <p:spPr>
          <a:xfrm>
            <a:off x="1221644" y="4968366"/>
            <a:ext cx="5847781" cy="55399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"/>
              <a:buNone/>
            </a:pP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‘Abd al-’Az}i&gt;m al-Zarqa&gt;ni&gt;,  </a:t>
            </a:r>
            <a:r>
              <a:rPr i="1"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Mana&gt;hil al-’Irfa&gt;n fi&gt;-’Ulu&gt;m al-Qur’a&gt;n,</a:t>
            </a: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vol. 1 (Beirut: Da&gt;r al-Kita&gt;b al-’Arabi, 1995), 12.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ok on a table&#10;&#10;Description automatically generated" id="240" name="Google Shape;24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>
            <p:ph type="title"/>
          </p:nvPr>
        </p:nvSpPr>
        <p:spPr>
          <a:xfrm>
            <a:off x="838201" y="365125"/>
            <a:ext cx="5251316" cy="10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id-ID" sz="4000"/>
              <a:t>Kandungan al-Qur’an</a:t>
            </a:r>
            <a:endParaRPr/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-1" l="14601" r="27360" t="0"/>
          <a:stretch/>
        </p:blipFill>
        <p:spPr>
          <a:xfrm>
            <a:off x="6229215" y="10"/>
            <a:ext cx="5962785" cy="685799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49" name="Google Shape;249;p11"/>
          <p:cNvGrpSpPr/>
          <p:nvPr/>
        </p:nvGrpSpPr>
        <p:grpSpPr>
          <a:xfrm>
            <a:off x="838199" y="1524606"/>
            <a:ext cx="5387967" cy="4967661"/>
            <a:chOff x="0" y="606"/>
            <a:chExt cx="5387967" cy="4967661"/>
          </a:xfrm>
        </p:grpSpPr>
        <p:cxnSp>
          <p:nvCxnSpPr>
            <p:cNvPr id="250" name="Google Shape;250;p11"/>
            <p:cNvCxnSpPr/>
            <p:nvPr/>
          </p:nvCxnSpPr>
          <p:spPr>
            <a:xfrm>
              <a:off x="0" y="606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1" name="Google Shape;251;p11"/>
            <p:cNvSpPr/>
            <p:nvPr/>
          </p:nvSpPr>
          <p:spPr>
            <a:xfrm>
              <a:off x="0" y="606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 txBox="1"/>
            <p:nvPr/>
          </p:nvSpPr>
          <p:spPr>
            <a:xfrm>
              <a:off x="0" y="606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Pokok-pokok keyakinan atau keimanan (</a:t>
              </a:r>
              <a:r>
                <a:rPr i="1"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aqidah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);</a:t>
              </a:r>
              <a:endParaRPr/>
            </a:p>
          </p:txBody>
        </p:sp>
        <p:cxnSp>
          <p:nvCxnSpPr>
            <p:cNvPr id="253" name="Google Shape;253;p11"/>
            <p:cNvCxnSpPr/>
            <p:nvPr/>
          </p:nvCxnSpPr>
          <p:spPr>
            <a:xfrm>
              <a:off x="0" y="710272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6BC1D3"/>
                </a:gs>
                <a:gs pos="50000">
                  <a:srgbClr val="4EBED3"/>
                </a:gs>
                <a:gs pos="100000">
                  <a:srgbClr val="3DACC1"/>
                </a:gs>
              </a:gsLst>
              <a:lin ang="5400000" scaled="0"/>
            </a:gradFill>
            <a:ln cap="flat" cmpd="sng" w="9525">
              <a:solidFill>
                <a:srgbClr val="55BAC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4" name="Google Shape;254;p11"/>
            <p:cNvSpPr/>
            <p:nvPr/>
          </p:nvSpPr>
          <p:spPr>
            <a:xfrm>
              <a:off x="0" y="710272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0" y="710272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Pokok-pokok aturan atau hukum ( </a:t>
              </a:r>
              <a:r>
                <a:rPr i="1"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syariat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); </a:t>
              </a:r>
              <a:endParaRPr/>
            </a:p>
          </p:txBody>
        </p:sp>
        <p:cxnSp>
          <p:nvCxnSpPr>
            <p:cNvPr id="256" name="Google Shape;256;p11"/>
            <p:cNvCxnSpPr/>
            <p:nvPr/>
          </p:nvCxnSpPr>
          <p:spPr>
            <a:xfrm>
              <a:off x="0" y="1419938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67CFBD"/>
                </a:gs>
                <a:gs pos="50000">
                  <a:srgbClr val="49CEBA"/>
                </a:gs>
                <a:gs pos="100000">
                  <a:srgbClr val="39BDA8"/>
                </a:gs>
              </a:gsLst>
              <a:lin ang="5400000" scaled="0"/>
            </a:gradFill>
            <a:ln cap="flat" cmpd="sng" w="9525">
              <a:solidFill>
                <a:srgbClr val="50C9B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7" name="Google Shape;257;p11"/>
            <p:cNvSpPr/>
            <p:nvPr/>
          </p:nvSpPr>
          <p:spPr>
            <a:xfrm>
              <a:off x="0" y="1419938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0" y="1419938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Pokok-pokok pengabdian kepada Allah (</a:t>
              </a:r>
              <a:r>
                <a:rPr i="1"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ibadah</a:t>
              </a: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);</a:t>
              </a:r>
              <a:endParaRPr/>
            </a:p>
          </p:txBody>
        </p:sp>
        <p:cxnSp>
          <p:nvCxnSpPr>
            <p:cNvPr id="259" name="Google Shape;259;p11"/>
            <p:cNvCxnSpPr/>
            <p:nvPr/>
          </p:nvCxnSpPr>
          <p:spPr>
            <a:xfrm>
              <a:off x="0" y="2129604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65C998"/>
                </a:gs>
                <a:gs pos="50000">
                  <a:srgbClr val="46C78C"/>
                </a:gs>
                <a:gs pos="100000">
                  <a:srgbClr val="35B87B"/>
                </a:gs>
              </a:gsLst>
              <a:lin ang="5400000" scaled="0"/>
            </a:gradFill>
            <a:ln cap="flat" cmpd="sng" w="9525">
              <a:solidFill>
                <a:srgbClr val="4CC3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0" name="Google Shape;260;p11"/>
            <p:cNvSpPr/>
            <p:nvPr/>
          </p:nvSpPr>
          <p:spPr>
            <a:xfrm>
              <a:off x="0" y="2129604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1"/>
            <p:cNvSpPr txBox="1"/>
            <p:nvPr/>
          </p:nvSpPr>
          <p:spPr>
            <a:xfrm>
              <a:off x="0" y="2129604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Tata cara hubungan antara sesama manusia;</a:t>
              </a:r>
              <a:endParaRPr/>
            </a:p>
          </p:txBody>
        </p:sp>
        <p:cxnSp>
          <p:nvCxnSpPr>
            <p:cNvPr id="262" name="Google Shape;262;p11"/>
            <p:cNvCxnSpPr/>
            <p:nvPr/>
          </p:nvCxnSpPr>
          <p:spPr>
            <a:xfrm>
              <a:off x="0" y="2839270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61C475"/>
                </a:gs>
                <a:gs pos="50000">
                  <a:srgbClr val="42C25D"/>
                </a:gs>
                <a:gs pos="100000">
                  <a:srgbClr val="33B14F"/>
                </a:gs>
              </a:gsLst>
              <a:lin ang="5400000" scaled="0"/>
            </a:gradFill>
            <a:ln cap="flat" cmpd="sng" w="9525">
              <a:solidFill>
                <a:srgbClr val="48BD6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3" name="Google Shape;263;p11"/>
            <p:cNvSpPr/>
            <p:nvPr/>
          </p:nvSpPr>
          <p:spPr>
            <a:xfrm>
              <a:off x="0" y="2839270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1"/>
            <p:cNvSpPr txBox="1"/>
            <p:nvPr/>
          </p:nvSpPr>
          <p:spPr>
            <a:xfrm>
              <a:off x="0" y="2839270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Pokok-pokok akhlak;</a:t>
              </a:r>
              <a:endParaRPr/>
            </a:p>
          </p:txBody>
        </p:sp>
        <p:cxnSp>
          <p:nvCxnSpPr>
            <p:cNvPr id="265" name="Google Shape;265;p11"/>
            <p:cNvCxnSpPr/>
            <p:nvPr/>
          </p:nvCxnSpPr>
          <p:spPr>
            <a:xfrm>
              <a:off x="0" y="3548936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65BE5F"/>
                </a:gs>
                <a:gs pos="50000">
                  <a:srgbClr val="4ABA40"/>
                </a:gs>
                <a:gs pos="100000">
                  <a:srgbClr val="3CA933"/>
                </a:gs>
              </a:gsLst>
              <a:lin ang="5400000" scaled="0"/>
            </a:gradFill>
            <a:ln cap="flat" cmpd="sng" w="9525">
              <a:solidFill>
                <a:srgbClr val="4FB54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11"/>
            <p:cNvSpPr/>
            <p:nvPr/>
          </p:nvSpPr>
          <p:spPr>
            <a:xfrm>
              <a:off x="0" y="3548936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1"/>
            <p:cNvSpPr txBox="1"/>
            <p:nvPr/>
          </p:nvSpPr>
          <p:spPr>
            <a:xfrm>
              <a:off x="0" y="3548936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Sejarah para nabi dan umat terdahulu; </a:t>
              </a:r>
              <a:endParaRPr/>
            </a:p>
          </p:txBody>
        </p:sp>
        <p:cxnSp>
          <p:nvCxnSpPr>
            <p:cNvPr id="268" name="Google Shape;268;p11"/>
            <p:cNvCxnSpPr/>
            <p:nvPr/>
          </p:nvCxnSpPr>
          <p:spPr>
            <a:xfrm>
              <a:off x="0" y="4258602"/>
              <a:ext cx="5387967" cy="0"/>
            </a:xfrm>
            <a:prstGeom prst="straightConnector1">
              <a:avLst/>
            </a:prstGeom>
            <a:gradFill>
              <a:gsLst>
                <a:gs pos="0">
                  <a:srgbClr val="7EB55F"/>
                </a:gs>
                <a:gs pos="50000">
                  <a:srgbClr val="6EB03F"/>
                </a:gs>
                <a:gs pos="100000">
                  <a:srgbClr val="5F9F34"/>
                </a:gs>
              </a:gsLst>
              <a:lin ang="5400000" scaled="0"/>
            </a:gradFill>
            <a:ln cap="flat" cmpd="sng" w="9525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9" name="Google Shape;269;p11"/>
            <p:cNvSpPr/>
            <p:nvPr/>
          </p:nvSpPr>
          <p:spPr>
            <a:xfrm>
              <a:off x="0" y="4258602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 txBox="1"/>
            <p:nvPr/>
          </p:nvSpPr>
          <p:spPr>
            <a:xfrm>
              <a:off x="0" y="4258602"/>
              <a:ext cx="5387967" cy="709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Isyarat-isyarat ilmu pengetahuan.</a:t>
              </a:r>
              <a:endParaRPr/>
            </a:p>
          </p:txBody>
        </p:sp>
      </p:grpSp>
      <p:sp>
        <p:nvSpPr>
          <p:cNvPr id="271" name="Google Shape;271;p11"/>
          <p:cNvSpPr txBox="1"/>
          <p:nvPr/>
        </p:nvSpPr>
        <p:spPr>
          <a:xfrm>
            <a:off x="10005184" y="6657945"/>
            <a:ext cx="2186816" cy="20005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7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Photo</a:t>
            </a:r>
            <a:r>
              <a:rPr lang="id-ID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by Unknown Author is licensed under </a:t>
            </a:r>
            <a:r>
              <a:rPr lang="id-ID" sz="7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 txBox="1"/>
          <p:nvPr>
            <p:ph type="title"/>
          </p:nvPr>
        </p:nvSpPr>
        <p:spPr>
          <a:xfrm>
            <a:off x="533400" y="322982"/>
            <a:ext cx="10363200" cy="591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id-ID"/>
              <a:t>Tujuan-Tujuan al-Qur’an</a:t>
            </a:r>
            <a:endParaRPr/>
          </a:p>
        </p:txBody>
      </p:sp>
      <p:grpSp>
        <p:nvGrpSpPr>
          <p:cNvPr id="277" name="Google Shape;277;p12"/>
          <p:cNvGrpSpPr/>
          <p:nvPr/>
        </p:nvGrpSpPr>
        <p:grpSpPr>
          <a:xfrm>
            <a:off x="4038600" y="1147233"/>
            <a:ext cx="7620000" cy="4948162"/>
            <a:chOff x="0" y="604"/>
            <a:chExt cx="7620000" cy="4948162"/>
          </a:xfrm>
        </p:grpSpPr>
        <p:cxnSp>
          <p:nvCxnSpPr>
            <p:cNvPr id="278" name="Google Shape;278;p12"/>
            <p:cNvCxnSpPr/>
            <p:nvPr/>
          </p:nvCxnSpPr>
          <p:spPr>
            <a:xfrm>
              <a:off x="0" y="604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FFDC9B"/>
                </a:gs>
                <a:gs pos="50000">
                  <a:srgbClr val="FFD68D"/>
                </a:gs>
                <a:gs pos="100000">
                  <a:srgbClr val="FFD478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9" name="Google Shape;279;p12"/>
            <p:cNvSpPr/>
            <p:nvPr/>
          </p:nvSpPr>
          <p:spPr>
            <a:xfrm>
              <a:off x="0" y="604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2"/>
            <p:cNvSpPr txBox="1"/>
            <p:nvPr/>
          </p:nvSpPr>
          <p:spPr>
            <a:xfrm>
              <a:off x="0" y="604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Meluruskan akidah dan pemikiran manusia;</a:t>
              </a:r>
              <a:endParaRPr/>
            </a:p>
          </p:txBody>
        </p:sp>
        <p:cxnSp>
          <p:nvCxnSpPr>
            <p:cNvPr id="281" name="Google Shape;281;p12"/>
            <p:cNvCxnSpPr/>
            <p:nvPr/>
          </p:nvCxnSpPr>
          <p:spPr>
            <a:xfrm>
              <a:off x="0" y="707484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E0FD9C"/>
                </a:gs>
                <a:gs pos="50000">
                  <a:srgbClr val="D9FB8D"/>
                </a:gs>
                <a:gs pos="100000">
                  <a:srgbClr val="D8FF78"/>
                </a:gs>
              </a:gsLst>
              <a:lin ang="5400000" scaled="0"/>
            </a:gradFill>
            <a:ln cap="flat" cmpd="sng" w="9525">
              <a:solidFill>
                <a:srgbClr val="C6F70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2" name="Google Shape;282;p12"/>
            <p:cNvSpPr/>
            <p:nvPr/>
          </p:nvSpPr>
          <p:spPr>
            <a:xfrm>
              <a:off x="0" y="707484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2"/>
            <p:cNvSpPr txBox="1"/>
            <p:nvPr/>
          </p:nvSpPr>
          <p:spPr>
            <a:xfrm>
              <a:off x="0" y="707484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Mengukuhkan kemuliaan manusia dan hak-hak asasi manusia;</a:t>
              </a:r>
              <a:endParaRPr/>
            </a:p>
          </p:txBody>
        </p:sp>
        <p:cxnSp>
          <p:nvCxnSpPr>
            <p:cNvPr id="284" name="Google Shape;284;p12"/>
            <p:cNvCxnSpPr/>
            <p:nvPr/>
          </p:nvCxnSpPr>
          <p:spPr>
            <a:xfrm>
              <a:off x="0" y="1414364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B1F79E"/>
                </a:gs>
                <a:gs pos="50000">
                  <a:srgbClr val="A4F490"/>
                </a:gs>
                <a:gs pos="100000">
                  <a:srgbClr val="95F87B"/>
                </a:gs>
              </a:gsLst>
              <a:lin ang="5400000" scaled="0"/>
            </a:gradFill>
            <a:ln cap="flat" cmpd="sng" w="9525">
              <a:solidFill>
                <a:srgbClr val="65EE1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5" name="Google Shape;285;p12"/>
            <p:cNvSpPr/>
            <p:nvPr/>
          </p:nvSpPr>
          <p:spPr>
            <a:xfrm>
              <a:off x="0" y="1414364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2"/>
            <p:cNvSpPr txBox="1"/>
            <p:nvPr/>
          </p:nvSpPr>
          <p:spPr>
            <a:xfrm>
              <a:off x="0" y="1414364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Mengajak manusia untuk beribadah secara benar kepada Allah;</a:t>
              </a:r>
              <a:endParaRPr/>
            </a:p>
          </p:txBody>
        </p:sp>
        <p:cxnSp>
          <p:nvCxnSpPr>
            <p:cNvPr id="287" name="Google Shape;287;p12"/>
            <p:cNvCxnSpPr/>
            <p:nvPr/>
          </p:nvCxnSpPr>
          <p:spPr>
            <a:xfrm>
              <a:off x="0" y="2121245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A1F4A6"/>
                </a:gs>
                <a:gs pos="50000">
                  <a:srgbClr val="92F198"/>
                </a:gs>
                <a:gs pos="100000">
                  <a:srgbClr val="7EF386"/>
                </a:gs>
              </a:gsLst>
              <a:lin ang="5400000" scaled="0"/>
            </a:gradFill>
            <a:ln cap="flat" cmpd="sng" w="9525">
              <a:solidFill>
                <a:srgbClr val="2EE84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8" name="Google Shape;288;p12"/>
            <p:cNvSpPr/>
            <p:nvPr/>
          </p:nvSpPr>
          <p:spPr>
            <a:xfrm>
              <a:off x="0" y="2121245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2"/>
            <p:cNvSpPr txBox="1"/>
            <p:nvPr/>
          </p:nvSpPr>
          <p:spPr>
            <a:xfrm>
              <a:off x="0" y="2121245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Mengarahkan manusia untuk menyucikan hati;</a:t>
              </a:r>
              <a:endParaRPr/>
            </a:p>
          </p:txBody>
        </p:sp>
        <p:cxnSp>
          <p:nvCxnSpPr>
            <p:cNvPr id="290" name="Google Shape;290;p12"/>
            <p:cNvCxnSpPr/>
            <p:nvPr/>
          </p:nvCxnSpPr>
          <p:spPr>
            <a:xfrm>
              <a:off x="0" y="2828125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A5EFC9"/>
                </a:gs>
                <a:gs pos="50000">
                  <a:srgbClr val="96ECBF"/>
                </a:gs>
                <a:gs pos="100000">
                  <a:srgbClr val="83EDB6"/>
                </a:gs>
              </a:gsLst>
              <a:lin ang="5400000" scaled="0"/>
            </a:gradFill>
            <a:ln cap="flat" cmpd="sng" w="9525">
              <a:solidFill>
                <a:srgbClr val="3DE1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1" name="Google Shape;291;p12"/>
            <p:cNvSpPr/>
            <p:nvPr/>
          </p:nvSpPr>
          <p:spPr>
            <a:xfrm>
              <a:off x="0" y="2828125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2"/>
            <p:cNvSpPr txBox="1"/>
            <p:nvPr/>
          </p:nvSpPr>
          <p:spPr>
            <a:xfrm>
              <a:off x="0" y="2828125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Membangun rumah tangga yang sakinah dan menempatkan posisi terhormat bagi perempuan;</a:t>
              </a:r>
              <a:endParaRPr/>
            </a:p>
          </p:txBody>
        </p:sp>
        <p:cxnSp>
          <p:nvCxnSpPr>
            <p:cNvPr id="293" name="Google Shape;293;p12"/>
            <p:cNvCxnSpPr/>
            <p:nvPr/>
          </p:nvCxnSpPr>
          <p:spPr>
            <a:xfrm>
              <a:off x="0" y="3535006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AAEAEC"/>
                </a:gs>
                <a:gs pos="50000">
                  <a:srgbClr val="9BE5E7"/>
                </a:gs>
                <a:gs pos="100000">
                  <a:srgbClr val="89E5E7"/>
                </a:gs>
              </a:gsLst>
              <a:lin ang="5400000" scaled="0"/>
            </a:gradFill>
            <a:ln cap="flat" cmpd="sng" w="9525">
              <a:solidFill>
                <a:srgbClr val="4CD7D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4" name="Google Shape;294;p12"/>
            <p:cNvSpPr/>
            <p:nvPr/>
          </p:nvSpPr>
          <p:spPr>
            <a:xfrm>
              <a:off x="0" y="3535006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2"/>
            <p:cNvSpPr txBox="1"/>
            <p:nvPr/>
          </p:nvSpPr>
          <p:spPr>
            <a:xfrm>
              <a:off x="0" y="3535006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Membangun umat yang menjadi saksi atas kemanusiaan, memberi manfaat dan menjadi teladan yang baik; </a:t>
              </a:r>
              <a:endParaRPr/>
            </a:p>
          </p:txBody>
        </p:sp>
        <p:cxnSp>
          <p:nvCxnSpPr>
            <p:cNvPr id="296" name="Google Shape;296;p12"/>
            <p:cNvCxnSpPr/>
            <p:nvPr/>
          </p:nvCxnSpPr>
          <p:spPr>
            <a:xfrm>
              <a:off x="0" y="4241886"/>
              <a:ext cx="7620000" cy="0"/>
            </a:xfrm>
            <a:prstGeom prst="straightConnector1">
              <a:avLst/>
            </a:prstGeom>
            <a:gradFill>
              <a:gsLst>
                <a:gs pos="0">
                  <a:srgbClr val="AFC9E9"/>
                </a:gs>
                <a:gs pos="50000">
                  <a:srgbClr val="A0BFE4"/>
                </a:gs>
                <a:gs pos="100000">
                  <a:srgbClr val="8FB7E4"/>
                </a:gs>
              </a:gsLst>
              <a:lin ang="5400000" scaled="0"/>
            </a:gradFill>
            <a:ln cap="flat" cmpd="sng" w="9525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7" name="Google Shape;297;p12"/>
            <p:cNvSpPr/>
            <p:nvPr/>
          </p:nvSpPr>
          <p:spPr>
            <a:xfrm>
              <a:off x="0" y="4241886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2"/>
            <p:cNvSpPr txBox="1"/>
            <p:nvPr/>
          </p:nvSpPr>
          <p:spPr>
            <a:xfrm>
              <a:off x="0" y="4241886"/>
              <a:ext cx="7620000" cy="70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id-ID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Mengajak seluruh manusia untuk menegakkan keadilan, kesetaraan,  perdamaian, dan toleransi.  </a:t>
              </a:r>
              <a:endParaRPr/>
            </a:p>
          </p:txBody>
        </p:sp>
      </p:grpSp>
      <p:sp>
        <p:nvSpPr>
          <p:cNvPr id="299" name="Google Shape;299;p12"/>
          <p:cNvSpPr txBox="1"/>
          <p:nvPr/>
        </p:nvSpPr>
        <p:spPr>
          <a:xfrm>
            <a:off x="4038600" y="6228381"/>
            <a:ext cx="7239000" cy="3231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Yusuf al-Qaradawi, </a:t>
            </a:r>
            <a:r>
              <a:rPr i="1"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Kayfa Nata‘a&gt;mal Ma‘ al-Qur’an </a:t>
            </a: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Da&gt;r al-Shuru&gt;q, 2009), 71-123.</a:t>
            </a:r>
            <a:endParaRPr/>
          </a:p>
        </p:txBody>
      </p:sp>
      <p:pic>
        <p:nvPicPr>
          <p:cNvPr descr="A purple book with white writing&#10;&#10;Description automatically generated" id="300" name="Google Shape;3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3200400" cy="42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Kemukjizatan al-Qur’an</a:t>
            </a:r>
            <a:endParaRPr/>
          </a:p>
        </p:txBody>
      </p:sp>
      <p:grpSp>
        <p:nvGrpSpPr>
          <p:cNvPr id="306" name="Google Shape;306;p13"/>
          <p:cNvGrpSpPr/>
          <p:nvPr/>
        </p:nvGrpSpPr>
        <p:grpSpPr>
          <a:xfrm>
            <a:off x="841486" y="1693698"/>
            <a:ext cx="10509027" cy="3713490"/>
            <a:chOff x="3286" y="3010"/>
            <a:chExt cx="10509027" cy="3713490"/>
          </a:xfrm>
        </p:grpSpPr>
        <p:sp>
          <p:nvSpPr>
            <p:cNvPr id="307" name="Google Shape;307;p13"/>
            <p:cNvSpPr/>
            <p:nvPr/>
          </p:nvSpPr>
          <p:spPr>
            <a:xfrm>
              <a:off x="3286" y="3010"/>
              <a:ext cx="3203971" cy="633600"/>
            </a:xfrm>
            <a:prstGeom prst="rect">
              <a:avLst/>
            </a:prstGeom>
            <a:gradFill>
              <a:gsLst>
                <a:gs pos="0">
                  <a:srgbClr val="FFDC9B"/>
                </a:gs>
                <a:gs pos="50000">
                  <a:srgbClr val="FFD68D"/>
                </a:gs>
                <a:gs pos="100000">
                  <a:srgbClr val="FFD478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3"/>
            <p:cNvSpPr txBox="1"/>
            <p:nvPr/>
          </p:nvSpPr>
          <p:spPr>
            <a:xfrm>
              <a:off x="3286" y="3010"/>
              <a:ext cx="3203971" cy="6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400" lIns="156450" spcFirstLastPara="1" rIns="156450" wrap="square" tIns="89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1"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I‘jaz Lughawi</a:t>
              </a: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3286" y="636610"/>
              <a:ext cx="3203971" cy="3079890"/>
            </a:xfrm>
            <a:prstGeom prst="rect">
              <a:avLst/>
            </a:prstGeom>
            <a:solidFill>
              <a:srgbClr val="FFE8CA">
                <a:alpha val="89803"/>
              </a:srgbClr>
            </a:solidFill>
            <a:ln cap="flat" cmpd="sng" w="9525">
              <a:solidFill>
                <a:srgbClr val="FFE8C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3"/>
            <p:cNvSpPr txBox="1"/>
            <p:nvPr/>
          </p:nvSpPr>
          <p:spPr>
            <a:xfrm>
              <a:off x="3286" y="636610"/>
              <a:ext cx="3203971" cy="3079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6000" lIns="117325" spcFirstLastPara="1" rIns="156450" wrap="square" tIns="117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•"/>
              </a:pPr>
              <a:r>
                <a:rPr b="0" i="0" lang="id-ID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memiliki tingkat kesusastraan yang sangat tinggi, sampai-sampai tidak ada yang bisa menandinginya, walau dengan membuat satu surat pendek saja yang sebanding dengannya.</a:t>
              </a: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3655814" y="3010"/>
              <a:ext cx="3203971" cy="633600"/>
            </a:xfrm>
            <a:prstGeom prst="rect">
              <a:avLst/>
            </a:prstGeom>
            <a:gradFill>
              <a:gsLst>
                <a:gs pos="0">
                  <a:srgbClr val="A1F4A6"/>
                </a:gs>
                <a:gs pos="50000">
                  <a:srgbClr val="92F198"/>
                </a:gs>
                <a:gs pos="100000">
                  <a:srgbClr val="7EF386"/>
                </a:gs>
              </a:gsLst>
              <a:lin ang="5400000" scaled="0"/>
            </a:gradFill>
            <a:ln cap="flat" cmpd="sng" w="9525">
              <a:solidFill>
                <a:srgbClr val="2EE84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3"/>
            <p:cNvSpPr txBox="1"/>
            <p:nvPr/>
          </p:nvSpPr>
          <p:spPr>
            <a:xfrm>
              <a:off x="3655814" y="3010"/>
              <a:ext cx="3203971" cy="6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400" lIns="156450" spcFirstLastPara="1" rIns="156450" wrap="square" tIns="89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1"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I‘jaz ‘ilmi</a:t>
              </a: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3655814" y="636610"/>
              <a:ext cx="3203971" cy="3079890"/>
            </a:xfrm>
            <a:prstGeom prst="rect">
              <a:avLst/>
            </a:prstGeom>
            <a:solidFill>
              <a:srgbClr val="CBF7CF">
                <a:alpha val="89803"/>
              </a:srgbClr>
            </a:solidFill>
            <a:ln cap="flat" cmpd="sng" w="9525">
              <a:solidFill>
                <a:srgbClr val="CBF7C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3"/>
            <p:cNvSpPr txBox="1"/>
            <p:nvPr/>
          </p:nvSpPr>
          <p:spPr>
            <a:xfrm>
              <a:off x="3655814" y="636610"/>
              <a:ext cx="3203971" cy="3079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6000" lIns="117325" spcFirstLastPara="1" rIns="156450" wrap="square" tIns="117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•"/>
              </a:pPr>
              <a:r>
                <a:rPr b="0" i="0" lang="id-ID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mengisyaratkan dalam banyak tempat fenomena-fenomena alam tertentu yang baru bisa dibuktikan kebenarannya 14 abad setelah penurunannya (era modern).</a:t>
              </a: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7308342" y="3010"/>
              <a:ext cx="3203971" cy="633600"/>
            </a:xfrm>
            <a:prstGeom prst="rect">
              <a:avLst/>
            </a:prstGeom>
            <a:gradFill>
              <a:gsLst>
                <a:gs pos="0">
                  <a:srgbClr val="AFC9E9"/>
                </a:gs>
                <a:gs pos="50000">
                  <a:srgbClr val="A0BFE4"/>
                </a:gs>
                <a:gs pos="100000">
                  <a:srgbClr val="8FB7E4"/>
                </a:gs>
              </a:gsLst>
              <a:lin ang="5400000" scaled="0"/>
            </a:gradFill>
            <a:ln cap="flat" cmpd="sng" w="9525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3"/>
            <p:cNvSpPr txBox="1"/>
            <p:nvPr/>
          </p:nvSpPr>
          <p:spPr>
            <a:xfrm>
              <a:off x="7308342" y="3010"/>
              <a:ext cx="3203971" cy="6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400" lIns="156450" spcFirstLastPara="1" rIns="156450" wrap="square" tIns="89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1"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I‘jaz Tasyri‘i</a:t>
              </a: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7308342" y="636610"/>
              <a:ext cx="3203971" cy="3079890"/>
            </a:xfrm>
            <a:prstGeom prst="rect">
              <a:avLst/>
            </a:prstGeom>
            <a:solidFill>
              <a:srgbClr val="D0DCEE">
                <a:alpha val="89803"/>
              </a:srgbClr>
            </a:solidFill>
            <a:ln cap="flat" cmpd="sng" w="9525">
              <a:solidFill>
                <a:srgbClr val="D0DCE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 txBox="1"/>
            <p:nvPr/>
          </p:nvSpPr>
          <p:spPr>
            <a:xfrm>
              <a:off x="7308342" y="636610"/>
              <a:ext cx="3203971" cy="3079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6000" lIns="117325" spcFirstLastPara="1" rIns="156450" wrap="square" tIns="117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•"/>
              </a:pPr>
              <a:r>
                <a:rPr b="0" i="0" lang="id-ID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merupakan kitab suci yang mengandung ajaran secara komprehensif dan sistematis, mulai dari akidah, syariah, akhlak, sampai ke masalah sosial-politik.   </a:t>
              </a:r>
              <a:endParaRPr/>
            </a:p>
          </p:txBody>
        </p:sp>
      </p:grpSp>
      <p:sp>
        <p:nvSpPr>
          <p:cNvPr id="319" name="Google Shape;319;p13"/>
          <p:cNvSpPr txBox="1"/>
          <p:nvPr/>
        </p:nvSpPr>
        <p:spPr>
          <a:xfrm>
            <a:off x="838200" y="5791201"/>
            <a:ext cx="6781800" cy="3077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Manna‘ al-Qat}t{a&gt;n, </a:t>
            </a:r>
            <a:r>
              <a:rPr i="1"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Maba&gt;h}ith fi&gt;-’Ulu&gt;m al-Qur’a&gt;n </a:t>
            </a: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Maktabat Wahbab, t.t.), 257-273.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>
            <p:ph type="title"/>
          </p:nvPr>
        </p:nvSpPr>
        <p:spPr>
          <a:xfrm>
            <a:off x="643468" y="643467"/>
            <a:ext cx="4766732" cy="36999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Bagaimana Seharusnya Kita Berinteraksi dengan al-Quran?</a:t>
            </a:r>
            <a:endParaRPr/>
          </a:p>
        </p:txBody>
      </p:sp>
      <p:pic>
        <p:nvPicPr>
          <p:cNvPr descr="A cartoon of a child sitting on a chair&#10;&#10;Description automatically generated" id="326" name="Google Shape;326;p14"/>
          <p:cNvPicPr preferRelativeResize="0"/>
          <p:nvPr/>
        </p:nvPicPr>
        <p:blipFill rotWithShape="1">
          <a:blip r:embed="rId3">
            <a:alphaModFix/>
          </a:blip>
          <a:srcRect b="-1" l="0" r="-1" t="14957"/>
          <a:stretch/>
        </p:blipFill>
        <p:spPr>
          <a:xfrm>
            <a:off x="6229215" y="10"/>
            <a:ext cx="5962785" cy="685799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 txBox="1"/>
          <p:nvPr>
            <p:ph type="title"/>
          </p:nvPr>
        </p:nvSpPr>
        <p:spPr>
          <a:xfrm>
            <a:off x="838200" y="204186"/>
            <a:ext cx="8260672" cy="96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Tingkatan Interaksi dengan al-Qur’an</a:t>
            </a:r>
            <a:endParaRPr/>
          </a:p>
        </p:txBody>
      </p:sp>
      <p:grpSp>
        <p:nvGrpSpPr>
          <p:cNvPr id="332" name="Google Shape;332;p15"/>
          <p:cNvGrpSpPr/>
          <p:nvPr/>
        </p:nvGrpSpPr>
        <p:grpSpPr>
          <a:xfrm>
            <a:off x="1137753" y="1016767"/>
            <a:ext cx="9916493" cy="4890489"/>
            <a:chOff x="109053" y="-240533"/>
            <a:chExt cx="9916493" cy="4890489"/>
          </a:xfrm>
        </p:grpSpPr>
        <p:sp>
          <p:nvSpPr>
            <p:cNvPr id="333" name="Google Shape;333;p15"/>
            <p:cNvSpPr/>
            <p:nvPr/>
          </p:nvSpPr>
          <p:spPr>
            <a:xfrm>
              <a:off x="109053" y="1146429"/>
              <a:ext cx="2670909" cy="220294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 txBox="1"/>
            <p:nvPr/>
          </p:nvSpPr>
          <p:spPr>
            <a:xfrm>
              <a:off x="159749" y="1197125"/>
              <a:ext cx="2569517" cy="1629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425" lIns="51425" spcFirstLastPara="1" rIns="51425" wrap="square" tIns="514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Menghapal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Membaca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Mendengarkan</a:t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590587" y="1601252"/>
              <a:ext cx="3048704" cy="3048704"/>
            </a:xfrm>
            <a:custGeom>
              <a:rect b="b" l="l" r="r" t="t"/>
              <a:pathLst>
                <a:path extrusionOk="0" h="120000" w="120000">
                  <a:moveTo>
                    <a:pt x="10254" y="88250"/>
                  </a:moveTo>
                  <a:lnTo>
                    <a:pt x="13896" y="86182"/>
                  </a:lnTo>
                  <a:lnTo>
                    <a:pt x="13896" y="86182"/>
                  </a:lnTo>
                  <a:cubicBezTo>
                    <a:pt x="22706" y="101696"/>
                    <a:pt x="38728" y="111739"/>
                    <a:pt x="56531" y="112906"/>
                  </a:cubicBezTo>
                  <a:cubicBezTo>
                    <a:pt x="74334" y="114073"/>
                    <a:pt x="91530" y="106209"/>
                    <a:pt x="102290" y="91978"/>
                  </a:cubicBezTo>
                  <a:lnTo>
                    <a:pt x="99877" y="90608"/>
                  </a:lnTo>
                  <a:lnTo>
                    <a:pt x="107925" y="87216"/>
                  </a:lnTo>
                  <a:lnTo>
                    <a:pt x="108375" y="95434"/>
                  </a:lnTo>
                  <a:lnTo>
                    <a:pt x="105961" y="94063"/>
                  </a:lnTo>
                  <a:cubicBezTo>
                    <a:pt x="94441" y="109607"/>
                    <a:pt x="75844" y="118275"/>
                    <a:pt x="56532" y="117102"/>
                  </a:cubicBezTo>
                  <a:cubicBezTo>
                    <a:pt x="37220" y="115929"/>
                    <a:pt x="19809" y="105074"/>
                    <a:pt x="10254" y="882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02589" y="2877312"/>
              <a:ext cx="2374142" cy="944118"/>
            </a:xfrm>
            <a:prstGeom prst="roundRect">
              <a:avLst>
                <a:gd fmla="val 10000" name="adj"/>
              </a:avLst>
            </a:prstGeom>
            <a:solidFill>
              <a:srgbClr val="FFC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 txBox="1"/>
            <p:nvPr/>
          </p:nvSpPr>
          <p:spPr>
            <a:xfrm>
              <a:off x="730241" y="2904964"/>
              <a:ext cx="2318838" cy="888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825" lIns="55225" spcFirstLastPara="1" rIns="55225" wrap="square" tIns="36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lang="id-ID" sz="2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Tingkatan Pertama</a:t>
              </a:r>
              <a:endParaRPr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3583461" y="1146429"/>
              <a:ext cx="2670909" cy="220294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2EE84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 txBox="1"/>
            <p:nvPr/>
          </p:nvSpPr>
          <p:spPr>
            <a:xfrm>
              <a:off x="3634157" y="1669184"/>
              <a:ext cx="2569517" cy="1629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425" lIns="51425" spcFirstLastPara="1" rIns="51425" wrap="square" tIns="514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Memahami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Menafsirkan</a:t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5042737" y="-240533"/>
              <a:ext cx="3389987" cy="3389987"/>
            </a:xfrm>
            <a:custGeom>
              <a:rect b="b" l="l" r="r" t="t"/>
              <a:pathLst>
                <a:path extrusionOk="0" h="120000" w="120000">
                  <a:moveTo>
                    <a:pt x="10010" y="31611"/>
                  </a:moveTo>
                  <a:lnTo>
                    <a:pt x="10010" y="31611"/>
                  </a:lnTo>
                  <a:cubicBezTo>
                    <a:pt x="19675" y="14591"/>
                    <a:pt x="37335" y="3658"/>
                    <a:pt x="56879" y="2596"/>
                  </a:cubicBezTo>
                  <a:cubicBezTo>
                    <a:pt x="76423" y="1533"/>
                    <a:pt x="95164" y="10487"/>
                    <a:pt x="106618" y="26358"/>
                  </a:cubicBezTo>
                  <a:lnTo>
                    <a:pt x="108791" y="25124"/>
                  </a:lnTo>
                  <a:lnTo>
                    <a:pt x="108353" y="32541"/>
                  </a:lnTo>
                  <a:lnTo>
                    <a:pt x="101149" y="29464"/>
                  </a:lnTo>
                  <a:lnTo>
                    <a:pt x="103321" y="28230"/>
                  </a:lnTo>
                  <a:lnTo>
                    <a:pt x="103321" y="28230"/>
                  </a:lnTo>
                  <a:cubicBezTo>
                    <a:pt x="92548" y="13540"/>
                    <a:pt x="75065" y="5310"/>
                    <a:pt x="56878" y="6369"/>
                  </a:cubicBezTo>
                  <a:cubicBezTo>
                    <a:pt x="38692" y="7427"/>
                    <a:pt x="22281" y="17630"/>
                    <a:pt x="13285" y="33471"/>
                  </a:cubicBezTo>
                  <a:close/>
                </a:path>
              </a:pathLst>
            </a:custGeom>
            <a:solidFill>
              <a:srgbClr val="5999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4176996" y="674370"/>
              <a:ext cx="2374142" cy="944118"/>
            </a:xfrm>
            <a:prstGeom prst="roundRect">
              <a:avLst>
                <a:gd fmla="val 10000" name="adj"/>
              </a:avLst>
            </a:prstGeom>
            <a:solidFill>
              <a:srgbClr val="00B0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 txBox="1"/>
            <p:nvPr/>
          </p:nvSpPr>
          <p:spPr>
            <a:xfrm>
              <a:off x="4204648" y="702022"/>
              <a:ext cx="2318838" cy="888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825" lIns="55225" spcFirstLastPara="1" rIns="55225" wrap="square" tIns="36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lang="id-ID" sz="2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Tingkatan Kedua</a:t>
              </a:r>
              <a:endParaRPr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7057868" y="1146429"/>
              <a:ext cx="2670909" cy="220294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 txBox="1"/>
            <p:nvPr/>
          </p:nvSpPr>
          <p:spPr>
            <a:xfrm>
              <a:off x="7108564" y="1197125"/>
              <a:ext cx="2569517" cy="1629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425" lIns="51425" spcFirstLastPara="1" rIns="51425" wrap="square" tIns="514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Mengikuti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Mengamalkan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Char char="•"/>
              </a:pPr>
              <a:r>
                <a:rPr b="0" i="0" lang="id-ID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Mendakwahkan</a:t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7651404" y="2877312"/>
              <a:ext cx="2374142" cy="944118"/>
            </a:xfrm>
            <a:prstGeom prst="roundRect">
              <a:avLst>
                <a:gd fmla="val 10000" name="adj"/>
              </a:avLst>
            </a:prstGeom>
            <a:solidFill>
              <a:srgbClr val="0070C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 txBox="1"/>
            <p:nvPr/>
          </p:nvSpPr>
          <p:spPr>
            <a:xfrm>
              <a:off x="7679056" y="2904964"/>
              <a:ext cx="2318838" cy="888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825" lIns="55225" spcFirstLastPara="1" rIns="55225" wrap="square" tIns="36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lang="id-ID" sz="2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Tingkatan Ketiga</a:t>
              </a:r>
              <a:endParaRPr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15"/>
          <p:cNvSpPr txBox="1"/>
          <p:nvPr/>
        </p:nvSpPr>
        <p:spPr>
          <a:xfrm>
            <a:off x="3852041" y="6172200"/>
            <a:ext cx="7315200" cy="3231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Yusuf al-Qaradawi, </a:t>
            </a:r>
            <a:r>
              <a:rPr i="1"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Kayfa Nata‘a&gt;mal Ma‘ al-Qur’an </a:t>
            </a: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Da&gt;r al-Shuru&gt;q, 2009), 129-460.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 txBox="1"/>
          <p:nvPr>
            <p:ph type="title"/>
          </p:nvPr>
        </p:nvSpPr>
        <p:spPr>
          <a:xfrm>
            <a:off x="838201" y="365125"/>
            <a:ext cx="5251316" cy="1307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Apa itu Tafsir</a:t>
            </a:r>
            <a:br>
              <a:rPr b="1" lang="id-ID"/>
            </a:br>
            <a:r>
              <a:rPr b="1" lang="id-ID"/>
              <a:t>al-Qur’an?</a:t>
            </a:r>
            <a:endParaRPr/>
          </a:p>
        </p:txBody>
      </p:sp>
      <p:pic>
        <p:nvPicPr>
          <p:cNvPr descr="A row of books on a shelf&#10;&#10;Description automatically generated" id="354" name="Google Shape;354;p16"/>
          <p:cNvPicPr preferRelativeResize="0"/>
          <p:nvPr/>
        </p:nvPicPr>
        <p:blipFill rotWithShape="1">
          <a:blip r:embed="rId3">
            <a:alphaModFix/>
          </a:blip>
          <a:srcRect b="11941" l="0" r="0" t="1798"/>
          <a:stretch/>
        </p:blipFill>
        <p:spPr>
          <a:xfrm>
            <a:off x="6229215" y="10"/>
            <a:ext cx="5962785" cy="685799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55" name="Google Shape;355;p16"/>
          <p:cNvGrpSpPr/>
          <p:nvPr/>
        </p:nvGrpSpPr>
        <p:grpSpPr>
          <a:xfrm>
            <a:off x="804797" y="1963965"/>
            <a:ext cx="4619621" cy="3843666"/>
            <a:chOff x="0" y="0"/>
            <a:chExt cx="4619621" cy="3843666"/>
          </a:xfrm>
        </p:grpSpPr>
        <p:cxnSp>
          <p:nvCxnSpPr>
            <p:cNvPr id="356" name="Google Shape;356;p16"/>
            <p:cNvCxnSpPr/>
            <p:nvPr/>
          </p:nvCxnSpPr>
          <p:spPr>
            <a:xfrm>
              <a:off x="0" y="0"/>
              <a:ext cx="4619621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7" name="Google Shape;357;p16"/>
            <p:cNvSpPr/>
            <p:nvPr/>
          </p:nvSpPr>
          <p:spPr>
            <a:xfrm>
              <a:off x="0" y="0"/>
              <a:ext cx="4619621" cy="192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6"/>
            <p:cNvSpPr txBox="1"/>
            <p:nvPr/>
          </p:nvSpPr>
          <p:spPr>
            <a:xfrm>
              <a:off x="0" y="0"/>
              <a:ext cx="4619621" cy="192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Secara bahasa, tafsir semakna dengan kata </a:t>
              </a:r>
              <a:r>
                <a:rPr i="1"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al-ibanah</a:t>
              </a: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yang berarti menjelaskan, atau “menyingkap maksud dari kata yang sulit dimengerti.”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9" name="Google Shape;359;p16"/>
            <p:cNvCxnSpPr/>
            <p:nvPr/>
          </p:nvCxnSpPr>
          <p:spPr>
            <a:xfrm>
              <a:off x="0" y="1921833"/>
              <a:ext cx="4619621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0" name="Google Shape;360;p16"/>
            <p:cNvSpPr/>
            <p:nvPr/>
          </p:nvSpPr>
          <p:spPr>
            <a:xfrm>
              <a:off x="0" y="1921833"/>
              <a:ext cx="4619621" cy="192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6"/>
            <p:cNvSpPr txBox="1"/>
            <p:nvPr/>
          </p:nvSpPr>
          <p:spPr>
            <a:xfrm>
              <a:off x="0" y="1921833"/>
              <a:ext cx="4619621" cy="192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Secara istilah, tafsir adalah “disiplin ilmu yang bertujuan untuk memahami al-Qur’an, menjelaskan maknanya, dan mengemukakan berbagai hukum dan hikmah yang dikandungnya.”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16"/>
          <p:cNvSpPr txBox="1"/>
          <p:nvPr/>
        </p:nvSpPr>
        <p:spPr>
          <a:xfrm>
            <a:off x="804797" y="5827514"/>
            <a:ext cx="5291203" cy="7386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Fad}l H{asan ‘Abba&gt;s</a:t>
            </a:r>
            <a:r>
              <a:rPr i="1"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al-Tafsi&gt;r wa-al-Mufassiru&gt;n: Asa&gt;siyya&gt;tuh wa-Ittija&gt;h&gt;tuh wa-Mana&gt;hijuh fi&gt;-al-‘Ard al-H{adi&gt;th</a:t>
            </a: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(Oman: Da&gt;r al-Nafa&gt;’is, 2016), Vol. 1, 109-110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 txBox="1"/>
          <p:nvPr>
            <p:ph type="title"/>
          </p:nvPr>
        </p:nvSpPr>
        <p:spPr>
          <a:xfrm>
            <a:off x="6116569" y="365125"/>
            <a:ext cx="5521248" cy="8540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/>
              <a:t>Pentingnya Ilmu Tafsir</a:t>
            </a:r>
            <a:endParaRPr/>
          </a:p>
        </p:txBody>
      </p:sp>
      <p:pic>
        <p:nvPicPr>
          <p:cNvPr descr="A person sitting in the snow reading a book&#10;&#10;Description automatically generated with medium confidence" id="368" name="Google Shape;368;p17"/>
          <p:cNvPicPr preferRelativeResize="0"/>
          <p:nvPr/>
        </p:nvPicPr>
        <p:blipFill rotWithShape="1">
          <a:blip r:embed="rId3">
            <a:alphaModFix/>
          </a:blip>
          <a:srcRect b="0" l="20433" r="29175" t="0"/>
          <a:stretch/>
        </p:blipFill>
        <p:spPr>
          <a:xfrm>
            <a:off x="20" y="10"/>
            <a:ext cx="6116549" cy="685799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69" name="Google Shape;369;p17"/>
          <p:cNvGrpSpPr/>
          <p:nvPr/>
        </p:nvGrpSpPr>
        <p:grpSpPr>
          <a:xfrm>
            <a:off x="6096000" y="1806650"/>
            <a:ext cx="5521248" cy="3270150"/>
            <a:chOff x="0" y="291377"/>
            <a:chExt cx="5521248" cy="3270150"/>
          </a:xfrm>
        </p:grpSpPr>
        <p:sp>
          <p:nvSpPr>
            <p:cNvPr id="370" name="Google Shape;370;p17"/>
            <p:cNvSpPr/>
            <p:nvPr/>
          </p:nvSpPr>
          <p:spPr>
            <a:xfrm>
              <a:off x="0" y="291377"/>
              <a:ext cx="5521248" cy="32701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3A66B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 txBox="1"/>
            <p:nvPr/>
          </p:nvSpPr>
          <p:spPr>
            <a:xfrm>
              <a:off x="159636" y="451013"/>
              <a:ext cx="5201976" cy="2950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“Tafsir tidak bisa dipisahkan dari al-Qur’an, karena tafsir merupakan disiplin ilmu yang memungkinkan seseorang mampu menyingkap berbagai petunjuk, tuntunan, dan ajaran yang dikandungnya. Tanpa usaha </a:t>
              </a: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menafsirkan </a:t>
              </a:r>
              <a:r>
                <a:rPr lang="id-ID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secara metodis, tidak mungkin kita sampai pada kandungan maknanya, meskipun beribu-ribu kali kita membaca ataupun mendengarkannya.”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17"/>
          <p:cNvSpPr txBox="1"/>
          <p:nvPr/>
        </p:nvSpPr>
        <p:spPr>
          <a:xfrm>
            <a:off x="6116569" y="5684922"/>
            <a:ext cx="5659369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Muh}ammad Sayyid T}ant}a&gt;wi&gt;, </a:t>
            </a:r>
            <a:r>
              <a:rPr i="1"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al-Tafsi&gt;r al-Wasi&gt;t} </a:t>
            </a: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Da&gt;r al-Sa‘a&gt;dah, t.t.), Vol. 1, 8.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0" y="1"/>
            <a:ext cx="10915134" cy="2251389"/>
          </a:xfrm>
          <a:custGeom>
            <a:rect b="b" l="l" r="r" t="t"/>
            <a:pathLst>
              <a:path extrusionOk="0" h="2251389" w="10915134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 txBox="1"/>
          <p:nvPr>
            <p:ph type="title"/>
          </p:nvPr>
        </p:nvSpPr>
        <p:spPr>
          <a:xfrm>
            <a:off x="1137037" y="609600"/>
            <a:ext cx="5915197" cy="133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/>
              <a:t>Kualifikasi Mufassir</a:t>
            </a:r>
            <a:endParaRPr/>
          </a:p>
        </p:txBody>
      </p:sp>
      <p:sp>
        <p:nvSpPr>
          <p:cNvPr id="380" name="Google Shape;380;p18"/>
          <p:cNvSpPr txBox="1"/>
          <p:nvPr>
            <p:ph idx="1" type="body"/>
          </p:nvPr>
        </p:nvSpPr>
        <p:spPr>
          <a:xfrm>
            <a:off x="1137037" y="2362200"/>
            <a:ext cx="5747857" cy="3552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id-ID" sz="2200"/>
              <a:t>Secara umum, Muhammad ‘Abd al-Adzim az-Zarqani</a:t>
            </a:r>
            <a:r>
              <a:rPr i="1" lang="id-ID" sz="2200"/>
              <a:t> </a:t>
            </a:r>
            <a:r>
              <a:rPr lang="id-ID" sz="2200"/>
              <a:t>menyebutkan bahwa berbagai disiplin ilmu yang harus dikuasai oleh seorang mufassir itu adalah bahasa, nahwu, saraf, ilmu-ilmu balaghah, ilmu usul fikih, ilmu tauhid, ilmu </a:t>
            </a:r>
            <a:r>
              <a:rPr i="1" lang="id-ID" sz="2200"/>
              <a:t>asbab al-nuzul</a:t>
            </a:r>
            <a:r>
              <a:rPr lang="id-ID" sz="2200"/>
              <a:t>, kisah-kisah al-Qur’an, ilmu </a:t>
            </a:r>
            <a:r>
              <a:rPr i="1" lang="id-ID" sz="2200"/>
              <a:t>al-nasikh wa-al-mansukh</a:t>
            </a:r>
            <a:r>
              <a:rPr lang="id-ID" sz="2200"/>
              <a:t>, hadis-hadis yang menjelaskan teks yang </a:t>
            </a:r>
            <a:r>
              <a:rPr i="1" lang="id-ID" sz="2200"/>
              <a:t>mujmal</a:t>
            </a:r>
            <a:r>
              <a:rPr lang="id-ID" sz="2200"/>
              <a:t> dan </a:t>
            </a:r>
            <a:r>
              <a:rPr i="1" lang="id-ID" sz="2200"/>
              <a:t>mubham</a:t>
            </a:r>
            <a:r>
              <a:rPr lang="id-ID" sz="2200"/>
              <a:t>, dan ilmu limpahan Allah (</a:t>
            </a:r>
            <a:r>
              <a:rPr i="1" lang="id-ID" sz="2200"/>
              <a:t>‘ilm al-mawhibah</a:t>
            </a:r>
            <a:r>
              <a:rPr lang="id-ID" sz="2200"/>
              <a:t>). </a:t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7595584" y="610517"/>
            <a:ext cx="4010943" cy="5636963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rotWithShape="0" algn="tl" dir="3000000" dist="12700">
              <a:srgbClr val="000000">
                <a:alpha val="2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book cover&#10;&#10;Description automatically generated" id="382" name="Google Shape;382;p18"/>
          <p:cNvPicPr preferRelativeResize="0"/>
          <p:nvPr/>
        </p:nvPicPr>
        <p:blipFill rotWithShape="1">
          <a:blip r:embed="rId3">
            <a:alphaModFix/>
          </a:blip>
          <a:srcRect b="2690" l="0" r="3" t="0"/>
          <a:stretch/>
        </p:blipFill>
        <p:spPr>
          <a:xfrm>
            <a:off x="7761092" y="771383"/>
            <a:ext cx="3684567" cy="531192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8"/>
          <p:cNvSpPr/>
          <p:nvPr/>
        </p:nvSpPr>
        <p:spPr>
          <a:xfrm>
            <a:off x="6455391" y="5800300"/>
            <a:ext cx="5736610" cy="1057702"/>
          </a:xfrm>
          <a:custGeom>
            <a:rect b="b" l="l" r="r" t="t"/>
            <a:pathLst>
              <a:path extrusionOk="0" h="955271" w="5741575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9082623" y="6128773"/>
            <a:ext cx="1201506" cy="365125"/>
          </a:xfrm>
          <a:custGeom>
            <a:rect b="b" l="l" r="r" t="t"/>
            <a:pathLst>
              <a:path extrusionOk="0" h="594531" w="2201784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1162330" y="5775153"/>
            <a:ext cx="5847781" cy="55399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"/>
              <a:buNone/>
            </a:pP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‘Abd al-’Az}i&gt;m al-Zarqa&gt;ni&gt;,  </a:t>
            </a:r>
            <a:r>
              <a:rPr i="1"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Mana&gt;hil al-’Irfa&gt;n fi&gt;-’Ulu&gt;m al-Qur’a&gt;n,</a:t>
            </a: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vol. 2 (Beirut: Da&gt;r al-Kita&gt;b al-’Arabi, 1995).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"/>
          <p:cNvSpPr txBox="1"/>
          <p:nvPr>
            <p:ph type="title"/>
          </p:nvPr>
        </p:nvSpPr>
        <p:spPr>
          <a:xfrm>
            <a:off x="653106" y="383024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d-ID" sz="4000"/>
              <a:t>Metodologi Tafsir (</a:t>
            </a:r>
            <a:r>
              <a:rPr i="1" lang="id-ID" sz="4000"/>
              <a:t>Manahij al-Tafsir</a:t>
            </a:r>
            <a:r>
              <a:rPr lang="id-ID" sz="4000"/>
              <a:t>)</a:t>
            </a:r>
            <a:endParaRPr/>
          </a:p>
        </p:txBody>
      </p:sp>
      <p:grpSp>
        <p:nvGrpSpPr>
          <p:cNvPr id="391" name="Google Shape;391;p19"/>
          <p:cNvGrpSpPr/>
          <p:nvPr/>
        </p:nvGrpSpPr>
        <p:grpSpPr>
          <a:xfrm>
            <a:off x="636193" y="1623153"/>
            <a:ext cx="10919611" cy="3799080"/>
            <a:chOff x="4108" y="362400"/>
            <a:chExt cx="10919611" cy="3799080"/>
          </a:xfrm>
        </p:grpSpPr>
        <p:sp>
          <p:nvSpPr>
            <p:cNvPr id="392" name="Google Shape;392;p19"/>
            <p:cNvSpPr/>
            <p:nvPr/>
          </p:nvSpPr>
          <p:spPr>
            <a:xfrm>
              <a:off x="4108" y="362400"/>
              <a:ext cx="2470500" cy="988200"/>
            </a:xfrm>
            <a:prstGeom prst="rect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 cap="flat" cmpd="sng" w="952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9"/>
            <p:cNvSpPr txBox="1"/>
            <p:nvPr/>
          </p:nvSpPr>
          <p:spPr>
            <a:xfrm>
              <a:off x="4108" y="362400"/>
              <a:ext cx="2470500" cy="9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325" lIns="149350" spcFirstLastPara="1" rIns="149350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Sumber Penafsiran (</a:t>
              </a:r>
              <a:r>
                <a:rPr i="1"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al-Mashadir</a:t>
              </a: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4108" y="1350600"/>
              <a:ext cx="2470500" cy="2810880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9"/>
            <p:cNvSpPr txBox="1"/>
            <p:nvPr/>
          </p:nvSpPr>
          <p:spPr>
            <a:xfrm>
              <a:off x="4108" y="1350600"/>
              <a:ext cx="2470500" cy="2810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8000" lIns="112000" spcFirstLastPara="1" rIns="149350" wrap="square" tIns="112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Al-Tafsir bi-al-Riwayah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Al-Tafsir bi-al-Ra’yi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Al-Tafsir bi-al-Isyarah</a:t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2820479" y="362400"/>
              <a:ext cx="2470500" cy="988200"/>
            </a:xfrm>
            <a:prstGeom prst="rect">
              <a:avLst/>
            </a:prstGeom>
            <a:solidFill>
              <a:srgbClr val="548135"/>
            </a:soli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9"/>
            <p:cNvSpPr txBox="1"/>
            <p:nvPr/>
          </p:nvSpPr>
          <p:spPr>
            <a:xfrm>
              <a:off x="2820479" y="362400"/>
              <a:ext cx="2470500" cy="9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325" lIns="149350" spcFirstLastPara="1" rIns="149350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Kecenderungan Tafsir (</a:t>
              </a:r>
              <a:r>
                <a:rPr i="1"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al-Ittijah</a:t>
              </a: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2820479" y="1350600"/>
              <a:ext cx="2470500" cy="2810880"/>
            </a:xfrm>
            <a:prstGeom prst="rect">
              <a:avLst/>
            </a:prstGeom>
            <a:solidFill>
              <a:srgbClr val="C4E0B2">
                <a:alpha val="89803"/>
              </a:srgbClr>
            </a:solidFill>
            <a:ln cap="flat" cmpd="sng" w="9525">
              <a:solidFill>
                <a:srgbClr val="E0E0E0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9"/>
            <p:cNvSpPr txBox="1"/>
            <p:nvPr/>
          </p:nvSpPr>
          <p:spPr>
            <a:xfrm>
              <a:off x="2820479" y="1350600"/>
              <a:ext cx="2470500" cy="2810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8000" lIns="112000" spcFirstLastPara="1" rIns="149350" wrap="square" tIns="112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Tafsir Teologis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Tafsir Hukum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Tafsir Sufi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Tafsir ilmiah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Tafsir Sastra-Kemasyarakatan</a:t>
              </a: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5636849" y="362400"/>
              <a:ext cx="2470500" cy="988200"/>
            </a:xfrm>
            <a:prstGeom prst="rect">
              <a:avLst/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 txBox="1"/>
            <p:nvPr/>
          </p:nvSpPr>
          <p:spPr>
            <a:xfrm>
              <a:off x="5636849" y="362400"/>
              <a:ext cx="2470500" cy="9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325" lIns="149350" spcFirstLastPara="1" rIns="149350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Metode Pendekatan (</a:t>
              </a:r>
              <a:r>
                <a:rPr i="1"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al-Manhaj</a:t>
              </a: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5636849" y="1350600"/>
              <a:ext cx="2470500" cy="2810880"/>
            </a:xfrm>
            <a:prstGeom prst="rect">
              <a:avLst/>
            </a:prstGeom>
            <a:solidFill>
              <a:srgbClr val="FFE8CA">
                <a:alpha val="89803"/>
              </a:srgbClr>
            </a:solidFill>
            <a:ln cap="flat" cmpd="sng" w="9525">
              <a:solidFill>
                <a:srgbClr val="FFE8C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9"/>
            <p:cNvSpPr txBox="1"/>
            <p:nvPr/>
          </p:nvSpPr>
          <p:spPr>
            <a:xfrm>
              <a:off x="5636849" y="1350600"/>
              <a:ext cx="2470500" cy="2810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8000" lIns="112000" spcFirstLastPara="1" rIns="149350" wrap="square" tIns="112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Ilmu Akidah Ahlu Sunnah/Syiah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Ilmu Tasawuf Falsafi/’Amali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Sains dan Teknologi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Ilmu Sosial-Humaniora</a:t>
              </a: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8453219" y="362400"/>
              <a:ext cx="2470500" cy="988200"/>
            </a:xfrm>
            <a:prstGeom prst="rect">
              <a:avLst/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 txBox="1"/>
            <p:nvPr/>
          </p:nvSpPr>
          <p:spPr>
            <a:xfrm>
              <a:off x="8453219" y="362400"/>
              <a:ext cx="2470500" cy="9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325" lIns="149350" spcFirstLastPara="1" rIns="149350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Teknik Penyajian (</a:t>
              </a:r>
              <a:r>
                <a:rPr i="1"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al-Uslub</a:t>
              </a:r>
              <a:r>
                <a:rPr lang="id-ID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8453219" y="1350600"/>
              <a:ext cx="2470500" cy="2810880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9525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 txBox="1"/>
            <p:nvPr/>
          </p:nvSpPr>
          <p:spPr>
            <a:xfrm>
              <a:off x="8453219" y="1350600"/>
              <a:ext cx="2470500" cy="2810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8000" lIns="112000" spcFirstLastPara="1" rIns="149350" wrap="square" tIns="112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Ijmali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Tahlili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Muqaran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id-ID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Maudhu’i</a:t>
              </a:r>
              <a:endParaRPr/>
            </a:p>
          </p:txBody>
        </p:sp>
      </p:grpSp>
      <p:sp>
        <p:nvSpPr>
          <p:cNvPr id="408" name="Google Shape;408;p19"/>
          <p:cNvSpPr txBox="1"/>
          <p:nvPr/>
        </p:nvSpPr>
        <p:spPr>
          <a:xfrm>
            <a:off x="632084" y="5784634"/>
            <a:ext cx="6987915" cy="3077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Fahd al-Ru&gt;mi&gt;, </a:t>
            </a:r>
            <a:r>
              <a:rPr i="1"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Buh}u&gt;th fi&gt;-U}su&gt;l al-Tafsi&gt;r wa-Mana&gt;hijih</a:t>
            </a: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(Riyad: Maktabat al-Tawbah, 1416 H.)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>
            <p:ph type="title"/>
          </p:nvPr>
        </p:nvSpPr>
        <p:spPr>
          <a:xfrm>
            <a:off x="389916" y="444464"/>
            <a:ext cx="3391023" cy="2222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id-ID" sz="4000"/>
              <a:t>Prinsip-Prinsip Menafsirkan </a:t>
            </a:r>
            <a:br>
              <a:rPr b="1" lang="id-ID" sz="4000"/>
            </a:br>
            <a:r>
              <a:rPr b="1" lang="id-ID" sz="4000"/>
              <a:t>al-Qur’an</a:t>
            </a:r>
            <a:endParaRPr/>
          </a:p>
        </p:txBody>
      </p:sp>
      <p:pic>
        <p:nvPicPr>
          <p:cNvPr id="415" name="Google Shape;415;p20"/>
          <p:cNvPicPr preferRelativeResize="0"/>
          <p:nvPr/>
        </p:nvPicPr>
        <p:blipFill rotWithShape="1">
          <a:blip r:embed="rId3">
            <a:alphaModFix/>
          </a:blip>
          <a:srcRect b="1" l="0" r="21533" t="0"/>
          <a:stretch/>
        </p:blipFill>
        <p:spPr>
          <a:xfrm>
            <a:off x="20" y="2768743"/>
            <a:ext cx="4278264" cy="408925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0"/>
          <p:cNvSpPr/>
          <p:nvPr/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5431646" y="6017462"/>
            <a:ext cx="5586448" cy="55399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Yusuf al-Qaradawi, </a:t>
            </a:r>
            <a:r>
              <a:rPr i="1"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Kayfa Nata‘a&gt;mal Ma‘ al-Qur’an </a:t>
            </a:r>
            <a:r>
              <a:rPr lang="id-ID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Da&gt;r al-Shuru&gt;q, 2009), 217-263.</a:t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20"/>
          <p:cNvGrpSpPr/>
          <p:nvPr/>
        </p:nvGrpSpPr>
        <p:grpSpPr>
          <a:xfrm>
            <a:off x="5431646" y="444464"/>
            <a:ext cx="5586447" cy="5409742"/>
            <a:chOff x="0" y="0"/>
            <a:chExt cx="5586447" cy="5409742"/>
          </a:xfrm>
        </p:grpSpPr>
        <p:cxnSp>
          <p:nvCxnSpPr>
            <p:cNvPr id="420" name="Google Shape;420;p20"/>
            <p:cNvCxnSpPr/>
            <p:nvPr/>
          </p:nvCxnSpPr>
          <p:spPr>
            <a:xfrm>
              <a:off x="0" y="0"/>
              <a:ext cx="5586447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1" name="Google Shape;421;p20"/>
            <p:cNvSpPr/>
            <p:nvPr/>
          </p:nvSpPr>
          <p:spPr>
            <a:xfrm>
              <a:off x="0" y="0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0"/>
            <p:cNvSpPr txBox="1"/>
            <p:nvPr/>
          </p:nvSpPr>
          <p:spPr>
            <a:xfrm>
              <a:off x="0" y="0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Memadukan antara Tafsir Riwayat dan Tafsir Rasional</a:t>
              </a:r>
              <a:endParaRPr/>
            </a:p>
          </p:txBody>
        </p:sp>
        <p:cxnSp>
          <p:nvCxnSpPr>
            <p:cNvPr id="423" name="Google Shape;423;p20"/>
            <p:cNvCxnSpPr/>
            <p:nvPr/>
          </p:nvCxnSpPr>
          <p:spPr>
            <a:xfrm>
              <a:off x="0" y="676217"/>
              <a:ext cx="5586447" cy="0"/>
            </a:xfrm>
            <a:prstGeom prst="straightConnector1">
              <a:avLst/>
            </a:prstGeom>
            <a:solidFill>
              <a:srgbClr val="DF7943"/>
            </a:solidFill>
            <a:ln cap="flat" cmpd="sng" w="12700">
              <a:solidFill>
                <a:srgbClr val="DF794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4" name="Google Shape;424;p20"/>
            <p:cNvSpPr/>
            <p:nvPr/>
          </p:nvSpPr>
          <p:spPr>
            <a:xfrm>
              <a:off x="0" y="676217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0"/>
            <p:cNvSpPr txBox="1"/>
            <p:nvPr/>
          </p:nvSpPr>
          <p:spPr>
            <a:xfrm>
              <a:off x="0" y="676217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Menafsirkan al-Qur’an dengan al-Qur’an</a:t>
              </a:r>
              <a:endParaRPr/>
            </a:p>
          </p:txBody>
        </p:sp>
        <p:cxnSp>
          <p:nvCxnSpPr>
            <p:cNvPr id="426" name="Google Shape;426;p20"/>
            <p:cNvCxnSpPr/>
            <p:nvPr/>
          </p:nvCxnSpPr>
          <p:spPr>
            <a:xfrm>
              <a:off x="0" y="1352435"/>
              <a:ext cx="5586447" cy="0"/>
            </a:xfrm>
            <a:prstGeom prst="straightConnector1">
              <a:avLst/>
            </a:prstGeom>
            <a:solidFill>
              <a:srgbClr val="D47955"/>
            </a:solidFill>
            <a:ln cap="flat" cmpd="sng" w="12700">
              <a:solidFill>
                <a:srgbClr val="D4795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7" name="Google Shape;427;p20"/>
            <p:cNvSpPr/>
            <p:nvPr/>
          </p:nvSpPr>
          <p:spPr>
            <a:xfrm>
              <a:off x="0" y="1352435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0"/>
            <p:cNvSpPr txBox="1"/>
            <p:nvPr/>
          </p:nvSpPr>
          <p:spPr>
            <a:xfrm>
              <a:off x="0" y="1352435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Menafsirkan al-Qur’an dengan Sunnah</a:t>
              </a:r>
              <a:endParaRPr/>
            </a:p>
          </p:txBody>
        </p:sp>
        <p:cxnSp>
          <p:nvCxnSpPr>
            <p:cNvPr id="429" name="Google Shape;429;p20"/>
            <p:cNvCxnSpPr/>
            <p:nvPr/>
          </p:nvCxnSpPr>
          <p:spPr>
            <a:xfrm>
              <a:off x="0" y="2028653"/>
              <a:ext cx="5586447" cy="0"/>
            </a:xfrm>
            <a:prstGeom prst="straightConnector1">
              <a:avLst/>
            </a:prstGeom>
            <a:solidFill>
              <a:srgbClr val="C87C66"/>
            </a:solidFill>
            <a:ln cap="flat" cmpd="sng" w="12700">
              <a:solidFill>
                <a:srgbClr val="C87C6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0" name="Google Shape;430;p20"/>
            <p:cNvSpPr/>
            <p:nvPr/>
          </p:nvSpPr>
          <p:spPr>
            <a:xfrm>
              <a:off x="0" y="2028653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0"/>
            <p:cNvSpPr txBox="1"/>
            <p:nvPr/>
          </p:nvSpPr>
          <p:spPr>
            <a:xfrm>
              <a:off x="0" y="2028653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Mempertimbangkan tafsir sahabat dan tabiin</a:t>
              </a:r>
              <a:endParaRPr/>
            </a:p>
          </p:txBody>
        </p:sp>
        <p:cxnSp>
          <p:nvCxnSpPr>
            <p:cNvPr id="432" name="Google Shape;432;p20"/>
            <p:cNvCxnSpPr/>
            <p:nvPr/>
          </p:nvCxnSpPr>
          <p:spPr>
            <a:xfrm>
              <a:off x="0" y="2704871"/>
              <a:ext cx="5586447" cy="0"/>
            </a:xfrm>
            <a:prstGeom prst="straightConnector1">
              <a:avLst/>
            </a:prstGeom>
            <a:solidFill>
              <a:srgbClr val="BF8377"/>
            </a:solidFill>
            <a:ln cap="flat" cmpd="sng" w="12700">
              <a:solidFill>
                <a:srgbClr val="BF8377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3" name="Google Shape;433;p20"/>
            <p:cNvSpPr/>
            <p:nvPr/>
          </p:nvSpPr>
          <p:spPr>
            <a:xfrm>
              <a:off x="0" y="2704871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0"/>
            <p:cNvSpPr txBox="1"/>
            <p:nvPr/>
          </p:nvSpPr>
          <p:spPr>
            <a:xfrm>
              <a:off x="0" y="2704871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Menggunakan analisis bahasa</a:t>
              </a:r>
              <a:endParaRPr/>
            </a:p>
          </p:txBody>
        </p:sp>
        <p:cxnSp>
          <p:nvCxnSpPr>
            <p:cNvPr id="435" name="Google Shape;435;p20"/>
            <p:cNvCxnSpPr/>
            <p:nvPr/>
          </p:nvCxnSpPr>
          <p:spPr>
            <a:xfrm>
              <a:off x="0" y="3381089"/>
              <a:ext cx="5586447" cy="0"/>
            </a:xfrm>
            <a:prstGeom prst="straightConnector1">
              <a:avLst/>
            </a:prstGeom>
            <a:solidFill>
              <a:srgbClr val="B58C87"/>
            </a:solidFill>
            <a:ln cap="flat" cmpd="sng" w="12700">
              <a:solidFill>
                <a:srgbClr val="B58C87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6" name="Google Shape;436;p20"/>
            <p:cNvSpPr/>
            <p:nvPr/>
          </p:nvSpPr>
          <p:spPr>
            <a:xfrm>
              <a:off x="0" y="3381089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0"/>
            <p:cNvSpPr txBox="1"/>
            <p:nvPr/>
          </p:nvSpPr>
          <p:spPr>
            <a:xfrm>
              <a:off x="0" y="3381089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Memperhatikan konteks ayat</a:t>
              </a:r>
              <a:endParaRPr/>
            </a:p>
          </p:txBody>
        </p:sp>
        <p:cxnSp>
          <p:nvCxnSpPr>
            <p:cNvPr id="438" name="Google Shape;438;p20"/>
            <p:cNvCxnSpPr/>
            <p:nvPr/>
          </p:nvCxnSpPr>
          <p:spPr>
            <a:xfrm>
              <a:off x="0" y="4057307"/>
              <a:ext cx="5586447" cy="0"/>
            </a:xfrm>
            <a:prstGeom prst="straightConnector1">
              <a:avLst/>
            </a:prstGeom>
            <a:solidFill>
              <a:srgbClr val="AC9696"/>
            </a:solidFill>
            <a:ln cap="flat" cmpd="sng" w="12700">
              <a:solidFill>
                <a:srgbClr val="AC969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9" name="Google Shape;439;p20"/>
            <p:cNvSpPr/>
            <p:nvPr/>
          </p:nvSpPr>
          <p:spPr>
            <a:xfrm>
              <a:off x="0" y="4057307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0"/>
            <p:cNvSpPr txBox="1"/>
            <p:nvPr/>
          </p:nvSpPr>
          <p:spPr>
            <a:xfrm>
              <a:off x="0" y="4057307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Memperhatikan Asbab al-Nuzul ayat</a:t>
              </a:r>
              <a:endParaRPr/>
            </a:p>
          </p:txBody>
        </p:sp>
        <p:cxnSp>
          <p:nvCxnSpPr>
            <p:cNvPr id="441" name="Google Shape;441;p20"/>
            <p:cNvCxnSpPr/>
            <p:nvPr/>
          </p:nvCxnSpPr>
          <p:spPr>
            <a:xfrm>
              <a:off x="0" y="4733525"/>
              <a:ext cx="5586447" cy="0"/>
            </a:xfrm>
            <a:prstGeom prst="straightConnector1">
              <a:avLst/>
            </a:prstGeom>
            <a:solidFill>
              <a:srgbClr val="A4A4A4"/>
            </a:solidFill>
            <a:ln cap="flat" cmpd="sng" w="12700">
              <a:solidFill>
                <a:srgbClr val="A4A4A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2" name="Google Shape;442;p20"/>
            <p:cNvSpPr/>
            <p:nvPr/>
          </p:nvSpPr>
          <p:spPr>
            <a:xfrm>
              <a:off x="0" y="4733525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0"/>
            <p:cNvSpPr txBox="1"/>
            <p:nvPr/>
          </p:nvSpPr>
          <p:spPr>
            <a:xfrm>
              <a:off x="0" y="4733525"/>
              <a:ext cx="5586447" cy="676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 Menjadikan al-Qur’an sebagai pokok rujukan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0" y="1"/>
            <a:ext cx="10915134" cy="2251389"/>
          </a:xfrm>
          <a:custGeom>
            <a:rect b="b" l="l" r="r" t="t"/>
            <a:pathLst>
              <a:path extrusionOk="0" h="2251389" w="10915134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>
            <p:ph type="title"/>
          </p:nvPr>
        </p:nvSpPr>
        <p:spPr>
          <a:xfrm>
            <a:off x="1137037" y="609600"/>
            <a:ext cx="5915197" cy="133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</a:pPr>
            <a:r>
              <a:rPr b="1" lang="id-ID" sz="4100"/>
              <a:t>Kecenderungan Menyimpang dalam Tafsir</a:t>
            </a: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7595584" y="610517"/>
            <a:ext cx="4010943" cy="5636963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rotWithShape="0" algn="tl" dir="3000000" dist="12700">
              <a:srgbClr val="000000">
                <a:alpha val="2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omputer with a flame coming out of it&#10;&#10;Description automatically generated" id="452" name="Google Shape;452;p21"/>
          <p:cNvPicPr preferRelativeResize="0"/>
          <p:nvPr/>
        </p:nvPicPr>
        <p:blipFill rotWithShape="1">
          <a:blip r:embed="rId3">
            <a:alphaModFix/>
          </a:blip>
          <a:srcRect b="1" l="0" r="3996" t="0"/>
          <a:stretch/>
        </p:blipFill>
        <p:spPr>
          <a:xfrm>
            <a:off x="7761092" y="771383"/>
            <a:ext cx="3684567" cy="531192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1"/>
          <p:cNvSpPr/>
          <p:nvPr/>
        </p:nvSpPr>
        <p:spPr>
          <a:xfrm>
            <a:off x="6455391" y="5800300"/>
            <a:ext cx="5736610" cy="1057702"/>
          </a:xfrm>
          <a:custGeom>
            <a:rect b="b" l="l" r="r" t="t"/>
            <a:pathLst>
              <a:path extrusionOk="0" h="955271" w="5741575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9082623" y="6128773"/>
            <a:ext cx="1201506" cy="365125"/>
          </a:xfrm>
          <a:custGeom>
            <a:rect b="b" l="l" r="r" t="t"/>
            <a:pathLst>
              <a:path extrusionOk="0" h="594531" w="2201784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5" name="Google Shape;455;p21"/>
          <p:cNvGrpSpPr/>
          <p:nvPr/>
        </p:nvGrpSpPr>
        <p:grpSpPr>
          <a:xfrm>
            <a:off x="1137037" y="2330092"/>
            <a:ext cx="5747857" cy="3549499"/>
            <a:chOff x="0" y="1734"/>
            <a:chExt cx="5747857" cy="3549499"/>
          </a:xfrm>
        </p:grpSpPr>
        <p:cxnSp>
          <p:nvCxnSpPr>
            <p:cNvPr id="456" name="Google Shape;456;p21"/>
            <p:cNvCxnSpPr/>
            <p:nvPr/>
          </p:nvCxnSpPr>
          <p:spPr>
            <a:xfrm>
              <a:off x="0" y="1734"/>
              <a:ext cx="5747857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7" name="Google Shape;457;p21"/>
            <p:cNvSpPr/>
            <p:nvPr/>
          </p:nvSpPr>
          <p:spPr>
            <a:xfrm>
              <a:off x="0" y="1734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1"/>
            <p:cNvSpPr txBox="1"/>
            <p:nvPr/>
          </p:nvSpPr>
          <p:spPr>
            <a:xfrm>
              <a:off x="0" y="1734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Tafsir bi-al-israiliyyat</a:t>
              </a:r>
              <a:endParaRPr/>
            </a:p>
          </p:txBody>
        </p:sp>
        <p:cxnSp>
          <p:nvCxnSpPr>
            <p:cNvPr id="459" name="Google Shape;459;p21"/>
            <p:cNvCxnSpPr/>
            <p:nvPr/>
          </p:nvCxnSpPr>
          <p:spPr>
            <a:xfrm>
              <a:off x="0" y="593318"/>
              <a:ext cx="5747857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0" name="Google Shape;460;p21"/>
            <p:cNvSpPr/>
            <p:nvPr/>
          </p:nvSpPr>
          <p:spPr>
            <a:xfrm>
              <a:off x="0" y="593318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1"/>
            <p:cNvSpPr txBox="1"/>
            <p:nvPr/>
          </p:nvSpPr>
          <p:spPr>
            <a:xfrm>
              <a:off x="0" y="593318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Tafsir bi-al-Ra’yi al-Mujarrad</a:t>
              </a:r>
              <a:endParaRPr/>
            </a:p>
          </p:txBody>
        </p:sp>
        <p:cxnSp>
          <p:nvCxnSpPr>
            <p:cNvPr id="462" name="Google Shape;462;p21"/>
            <p:cNvCxnSpPr/>
            <p:nvPr/>
          </p:nvCxnSpPr>
          <p:spPr>
            <a:xfrm>
              <a:off x="0" y="1184901"/>
              <a:ext cx="5747857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3" name="Google Shape;463;p21"/>
            <p:cNvSpPr/>
            <p:nvPr/>
          </p:nvSpPr>
          <p:spPr>
            <a:xfrm>
              <a:off x="0" y="1184901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 txBox="1"/>
            <p:nvPr/>
          </p:nvSpPr>
          <p:spPr>
            <a:xfrm>
              <a:off x="0" y="1184901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Tafsir Batini/ Isyari Falsafi</a:t>
              </a:r>
              <a:endParaRPr/>
            </a:p>
          </p:txBody>
        </p:sp>
        <p:cxnSp>
          <p:nvCxnSpPr>
            <p:cNvPr id="465" name="Google Shape;465;p21"/>
            <p:cNvCxnSpPr/>
            <p:nvPr/>
          </p:nvCxnSpPr>
          <p:spPr>
            <a:xfrm>
              <a:off x="0" y="1776484"/>
              <a:ext cx="5747857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6" name="Google Shape;466;p21"/>
            <p:cNvSpPr/>
            <p:nvPr/>
          </p:nvSpPr>
          <p:spPr>
            <a:xfrm>
              <a:off x="0" y="1776484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1"/>
            <p:cNvSpPr txBox="1"/>
            <p:nvPr/>
          </p:nvSpPr>
          <p:spPr>
            <a:xfrm>
              <a:off x="0" y="1776484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Tafsir al-Ilmi</a:t>
              </a:r>
              <a:endParaRPr/>
            </a:p>
          </p:txBody>
        </p:sp>
        <p:cxnSp>
          <p:nvCxnSpPr>
            <p:cNvPr id="468" name="Google Shape;468;p21"/>
            <p:cNvCxnSpPr/>
            <p:nvPr/>
          </p:nvCxnSpPr>
          <p:spPr>
            <a:xfrm>
              <a:off x="0" y="2368067"/>
              <a:ext cx="5747857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9" name="Google Shape;469;p21"/>
            <p:cNvSpPr/>
            <p:nvPr/>
          </p:nvSpPr>
          <p:spPr>
            <a:xfrm>
              <a:off x="0" y="2368067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1"/>
            <p:cNvSpPr txBox="1"/>
            <p:nvPr/>
          </p:nvSpPr>
          <p:spPr>
            <a:xfrm>
              <a:off x="0" y="2368067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Tafsir Modern </a:t>
              </a:r>
              <a:endParaRPr/>
            </a:p>
          </p:txBody>
        </p:sp>
        <p:cxnSp>
          <p:nvCxnSpPr>
            <p:cNvPr id="471" name="Google Shape;471;p21"/>
            <p:cNvCxnSpPr/>
            <p:nvPr/>
          </p:nvCxnSpPr>
          <p:spPr>
            <a:xfrm>
              <a:off x="0" y="2959650"/>
              <a:ext cx="5747857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72" name="Google Shape;472;p21"/>
            <p:cNvSpPr/>
            <p:nvPr/>
          </p:nvSpPr>
          <p:spPr>
            <a:xfrm>
              <a:off x="0" y="2959650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1"/>
            <p:cNvSpPr txBox="1"/>
            <p:nvPr/>
          </p:nvSpPr>
          <p:spPr>
            <a:xfrm>
              <a:off x="0" y="2959650"/>
              <a:ext cx="5747857" cy="59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Tafsir Liberal-Kontekstual</a:t>
              </a:r>
              <a:endParaRPr/>
            </a:p>
          </p:txBody>
        </p:sp>
      </p:grpSp>
      <p:sp>
        <p:nvSpPr>
          <p:cNvPr id="474" name="Google Shape;474;p21"/>
          <p:cNvSpPr txBox="1"/>
          <p:nvPr/>
        </p:nvSpPr>
        <p:spPr>
          <a:xfrm>
            <a:off x="1137037" y="6107020"/>
            <a:ext cx="6254363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Muh}ammad H{usein al-Dhahabi&gt;, </a:t>
            </a:r>
            <a:r>
              <a:rPr i="1"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al-Ittija&gt;ha&gt;t al-Munh}arifah fi&gt;-Tafsi&gt;r  al-Qur’a&gt;n al-Kari&gt;m </a:t>
            </a:r>
            <a:r>
              <a:rPr lang="id-ID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(Kairo: Maktabat Wahbah, 1986).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1768100" y="-1"/>
            <a:ext cx="10423900" cy="5920155"/>
          </a:xfrm>
          <a:custGeom>
            <a:rect b="b" l="l" r="r" t="t"/>
            <a:pathLst>
              <a:path extrusionOk="0" h="5491534" w="1042390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 rot="10250098">
            <a:off x="-160709" y="3977842"/>
            <a:ext cx="7507400" cy="3166385"/>
          </a:xfrm>
          <a:custGeom>
            <a:rect b="b" l="l" r="r" t="t"/>
            <a:pathLst>
              <a:path extrusionOk="0" h="3166385" w="7507400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 txBox="1"/>
          <p:nvPr>
            <p:ph type="title"/>
          </p:nvPr>
        </p:nvSpPr>
        <p:spPr>
          <a:xfrm>
            <a:off x="5751094" y="1058780"/>
            <a:ext cx="5602705" cy="3092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b="1" lang="id-ID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QW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2023-09-16T16:19:56Z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eb2ffddc-06aa-4016-acd9-8f2fd914ad75</vt:lpwstr>
  </property>
  <property fmtid="{D5CDD505-2E9C-101B-9397-08002B2CF9AE}" pid="8" name="MSIP_Label_38b525e5-f3da-4501-8f1e-526b6769fc56_ContentBits">
    <vt:lpwstr>0</vt:lpwstr>
  </property>
</Properties>
</file>