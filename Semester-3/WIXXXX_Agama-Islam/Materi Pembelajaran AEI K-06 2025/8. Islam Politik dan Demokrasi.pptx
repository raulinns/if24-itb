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6858000" cx="12192000"/>
  <p:notesSz cx="6858000" cy="9144000"/>
  <p:embeddedFontLst>
    <p:embeddedFont>
      <p:font typeface="Arial Black"/>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9" roundtripDataSignature="AMtx7miwPV8dBsaQMetaEe8lJ6pv7hgF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2CF0A5-B5C4-41BD-8737-B4C226D8AAD5}">
  <a:tblStyle styleId="{952CF0A5-B5C4-41BD-8737-B4C226D8AAD5}"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A"/>
          </a:solidFill>
        </a:fill>
      </a:tcStyle>
    </a:wholeTbl>
    <a:band1H>
      <a:tcTxStyle/>
      <a:tcStyle>
        <a:fill>
          <a:solidFill>
            <a:srgbClr val="CBE2F5"/>
          </a:solidFill>
        </a:fill>
      </a:tcStyle>
    </a:band1H>
    <a:band2H>
      <a:tcTxStyle/>
    </a:band2H>
    <a:band1V>
      <a:tcTxStyle/>
      <a:tcStyle>
        <a:fill>
          <a:solidFill>
            <a:srgbClr val="CBE2F5"/>
          </a:solidFill>
        </a:fill>
      </a:tcStyle>
    </a:band1V>
    <a:band2V>
      <a:tcTxStyle/>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ArialBlack-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customschemas.google.com/relationships/presentationmetadata" Target="meta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1" name="Google Shape;29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a:p>
            <a:pPr indent="-152400" lvl="0" marL="22860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t/>
            </a:r>
            <a:endParaRPr/>
          </a:p>
        </p:txBody>
      </p:sp>
      <p:sp>
        <p:nvSpPr>
          <p:cNvPr id="349" name="Google Shape;34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9" name="Google Shape;19;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7" name="Shape 27"/>
        <p:cNvGrpSpPr/>
        <p:nvPr/>
      </p:nvGrpSpPr>
      <p:grpSpPr>
        <a:xfrm>
          <a:off x="0" y="0"/>
          <a:ext cx="0" cy="0"/>
          <a:chOff x="0" y="0"/>
          <a:chExt cx="0" cy="0"/>
        </a:xfrm>
      </p:grpSpPr>
      <p:sp>
        <p:nvSpPr>
          <p:cNvPr id="28" name="Google Shape;28;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 name="Shape 31"/>
        <p:cNvGrpSpPr/>
        <p:nvPr/>
      </p:nvGrpSpPr>
      <p:grpSpPr>
        <a:xfrm>
          <a:off x="0" y="0"/>
          <a:ext cx="0" cy="0"/>
          <a:chOff x="0" y="0"/>
          <a:chExt cx="0" cy="0"/>
        </a:xfrm>
      </p:grpSpPr>
      <p:sp>
        <p:nvSpPr>
          <p:cNvPr id="32" name="Google Shape;32;p2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5"/>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4" name="Google Shape;34;p25"/>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5" name="Google Shape;35;p25"/>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6" name="Google Shape;36;p25"/>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7" name="Google Shape;37;p2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0" name="Shape 40"/>
        <p:cNvGrpSpPr/>
        <p:nvPr/>
      </p:nvGrpSpPr>
      <p:grpSpPr>
        <a:xfrm>
          <a:off x="0" y="0"/>
          <a:ext cx="0" cy="0"/>
          <a:chOff x="0" y="0"/>
          <a:chExt cx="0" cy="0"/>
        </a:xfrm>
      </p:grpSpPr>
      <p:sp>
        <p:nvSpPr>
          <p:cNvPr id="41" name="Google Shape;41;p28"/>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8"/>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8"/>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45" name="Google Shape;45;p2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48" name="Google Shape;48;p2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9" name="Shape 49"/>
        <p:cNvGrpSpPr/>
        <p:nvPr/>
      </p:nvGrpSpPr>
      <p:grpSpPr>
        <a:xfrm>
          <a:off x="0" y="0"/>
          <a:ext cx="0" cy="0"/>
          <a:chOff x="0" y="0"/>
          <a:chExt cx="0" cy="0"/>
        </a:xfrm>
      </p:grpSpPr>
      <p:sp>
        <p:nvSpPr>
          <p:cNvPr id="50" name="Google Shape;50;p29"/>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9"/>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9"/>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9"/>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4" name="Google Shape;54;p2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57" name="Google Shape;57;p29"/>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3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0"/>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30"/>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3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1"/>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31"/>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3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32"/>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2"/>
          <p:cNvSpPr/>
          <p:nvPr>
            <p:ph idx="2" type="pic"/>
          </p:nvPr>
        </p:nvSpPr>
        <p:spPr>
          <a:xfrm>
            <a:off x="0" y="-1"/>
            <a:ext cx="12188952" cy="4572000"/>
          </a:xfrm>
          <a:prstGeom prst="rect">
            <a:avLst/>
          </a:prstGeom>
          <a:solidFill>
            <a:srgbClr val="76CEEF"/>
          </a:solidFill>
          <a:ln>
            <a:noFill/>
          </a:ln>
        </p:spPr>
      </p:sp>
      <p:sp>
        <p:nvSpPr>
          <p:cNvPr id="75" name="Google Shape;75;p32"/>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3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9" name="Google Shape;79;p32"/>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3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3"/>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3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6" name="Shape 86"/>
        <p:cNvGrpSpPr/>
        <p:nvPr/>
      </p:nvGrpSpPr>
      <p:grpSpPr>
        <a:xfrm>
          <a:off x="0" y="0"/>
          <a:ext cx="0" cy="0"/>
          <a:chOff x="0" y="0"/>
          <a:chExt cx="0" cy="0"/>
        </a:xfrm>
      </p:grpSpPr>
      <p:sp>
        <p:nvSpPr>
          <p:cNvPr id="87" name="Google Shape;87;p34"/>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34"/>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3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92" name="Google Shape;92;p34"/>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FEFEF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21"/>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2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FEFEFE"/>
              </a:buClr>
              <a:buSzPts val="5000"/>
              <a:buFont typeface="Twentieth Century"/>
              <a:buNone/>
              <a:defRPr b="0" i="0" sz="5000" u="none" cap="none" strike="noStrike">
                <a:solidFill>
                  <a:srgbClr val="FEFEFE"/>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5" name="Google Shape;95;p2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lt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9pPr>
          </a:lstStyle>
          <a:p/>
        </p:txBody>
      </p:sp>
      <p:sp>
        <p:nvSpPr>
          <p:cNvPr id="96" name="Google Shape;96;p2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rgbClr val="FEFEFE"/>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97" name="Google Shape;97;p2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cap="none">
                <a:solidFill>
                  <a:srgbClr val="FEFEFE"/>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98" name="Google Shape;98;p2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sz="1000" u="none">
                <a:solidFill>
                  <a:srgbClr val="FEFEFE"/>
                </a:solidFill>
                <a:latin typeface="Twentieth Century"/>
                <a:ea typeface="Twentieth Century"/>
                <a:cs typeface="Twentieth Century"/>
                <a:sym typeface="Twentieth Century"/>
              </a:defRPr>
            </a:lvl1pPr>
            <a:lvl2pPr indent="0" lvl="1" marL="0" marR="0" rtl="0" algn="l">
              <a:spcBef>
                <a:spcPts val="0"/>
              </a:spcBef>
              <a:buNone/>
              <a:defRPr b="0" sz="1000" u="none">
                <a:solidFill>
                  <a:srgbClr val="FEFEFE"/>
                </a:solidFill>
                <a:latin typeface="Twentieth Century"/>
                <a:ea typeface="Twentieth Century"/>
                <a:cs typeface="Twentieth Century"/>
                <a:sym typeface="Twentieth Century"/>
              </a:defRPr>
            </a:lvl2pPr>
            <a:lvl3pPr indent="0" lvl="2" marL="0" marR="0" rtl="0" algn="l">
              <a:spcBef>
                <a:spcPts val="0"/>
              </a:spcBef>
              <a:buNone/>
              <a:defRPr b="0" sz="1000" u="none">
                <a:solidFill>
                  <a:srgbClr val="FEFEFE"/>
                </a:solidFill>
                <a:latin typeface="Twentieth Century"/>
                <a:ea typeface="Twentieth Century"/>
                <a:cs typeface="Twentieth Century"/>
                <a:sym typeface="Twentieth Century"/>
              </a:defRPr>
            </a:lvl3pPr>
            <a:lvl4pPr indent="0" lvl="3" marL="0" marR="0" rtl="0" algn="l">
              <a:spcBef>
                <a:spcPts val="0"/>
              </a:spcBef>
              <a:buNone/>
              <a:defRPr b="0" sz="1000" u="none">
                <a:solidFill>
                  <a:srgbClr val="FEFEFE"/>
                </a:solidFill>
                <a:latin typeface="Twentieth Century"/>
                <a:ea typeface="Twentieth Century"/>
                <a:cs typeface="Twentieth Century"/>
                <a:sym typeface="Twentieth Century"/>
              </a:defRPr>
            </a:lvl4pPr>
            <a:lvl5pPr indent="0" lvl="4" marL="0" marR="0" rtl="0" algn="l">
              <a:spcBef>
                <a:spcPts val="0"/>
              </a:spcBef>
              <a:buNone/>
              <a:defRPr b="0" sz="1000" u="none">
                <a:solidFill>
                  <a:srgbClr val="FEFEFE"/>
                </a:solidFill>
                <a:latin typeface="Twentieth Century"/>
                <a:ea typeface="Twentieth Century"/>
                <a:cs typeface="Twentieth Century"/>
                <a:sym typeface="Twentieth Century"/>
              </a:defRPr>
            </a:lvl5pPr>
            <a:lvl6pPr indent="0" lvl="5" marL="0" marR="0" rtl="0" algn="l">
              <a:spcBef>
                <a:spcPts val="0"/>
              </a:spcBef>
              <a:buNone/>
              <a:defRPr b="0" sz="1000" u="none">
                <a:solidFill>
                  <a:srgbClr val="FEFEFE"/>
                </a:solidFill>
                <a:latin typeface="Twentieth Century"/>
                <a:ea typeface="Twentieth Century"/>
                <a:cs typeface="Twentieth Century"/>
                <a:sym typeface="Twentieth Century"/>
              </a:defRPr>
            </a:lvl6pPr>
            <a:lvl7pPr indent="0" lvl="6" marL="0" marR="0" rtl="0" algn="l">
              <a:spcBef>
                <a:spcPts val="0"/>
              </a:spcBef>
              <a:buNone/>
              <a:defRPr b="0" sz="1000" u="none">
                <a:solidFill>
                  <a:srgbClr val="FEFEFE"/>
                </a:solidFill>
                <a:latin typeface="Twentieth Century"/>
                <a:ea typeface="Twentieth Century"/>
                <a:cs typeface="Twentieth Century"/>
                <a:sym typeface="Twentieth Century"/>
              </a:defRPr>
            </a:lvl7pPr>
            <a:lvl8pPr indent="0" lvl="7" marL="0" marR="0" rtl="0" algn="l">
              <a:spcBef>
                <a:spcPts val="0"/>
              </a:spcBef>
              <a:buNone/>
              <a:defRPr b="0" sz="1000" u="none">
                <a:solidFill>
                  <a:srgbClr val="FEFEFE"/>
                </a:solidFill>
                <a:latin typeface="Twentieth Century"/>
                <a:ea typeface="Twentieth Century"/>
                <a:cs typeface="Twentieth Century"/>
                <a:sym typeface="Twentieth Century"/>
              </a:defRPr>
            </a:lvl8pPr>
            <a:lvl9pPr indent="0" lvl="8" marL="0" marR="0" rtl="0" algn="l">
              <a:spcBef>
                <a:spcPts val="0"/>
              </a:spcBef>
              <a:buNone/>
              <a:defRPr b="0" sz="1000" u="none">
                <a:solidFill>
                  <a:srgbClr val="FEFEFE"/>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99" name="Google Shape;99;p26"/>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image" Target="../media/image14.jpg"/><Relationship Id="rId6" Type="http://schemas.openxmlformats.org/officeDocument/2006/relationships/image" Target="../media/image11.jpg"/><Relationship Id="rId7"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
          <p:cNvPicPr preferRelativeResize="0"/>
          <p:nvPr>
            <p:ph idx="1" type="body"/>
          </p:nvPr>
        </p:nvPicPr>
        <p:blipFill rotWithShape="1">
          <a:blip r:embed="rId3">
            <a:alphaModFix/>
          </a:blip>
          <a:srcRect b="0" l="0" r="0" t="0"/>
          <a:stretch/>
        </p:blipFill>
        <p:spPr>
          <a:xfrm>
            <a:off x="0" y="152400"/>
            <a:ext cx="12192000" cy="68580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10" name="Google Shape;110;p1"/>
          <p:cNvSpPr txBox="1"/>
          <p:nvPr>
            <p:ph type="title"/>
          </p:nvPr>
        </p:nvSpPr>
        <p:spPr>
          <a:xfrm>
            <a:off x="601980" y="1600200"/>
            <a:ext cx="6713220" cy="2209800"/>
          </a:xfrm>
          <a:prstGeom prst="rect">
            <a:avLst/>
          </a:prstGeom>
          <a:solidFill>
            <a:srgbClr val="BFBFBF"/>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2E663E"/>
              </a:buClr>
              <a:buSzPts val="7000"/>
              <a:buFont typeface="Arial Black"/>
              <a:buNone/>
            </a:pPr>
            <a:r>
              <a:rPr b="1" lang="en-US" sz="7000">
                <a:solidFill>
                  <a:srgbClr val="2E663E"/>
                </a:solidFill>
                <a:latin typeface="Arial Black"/>
                <a:ea typeface="Arial Black"/>
                <a:cs typeface="Arial Black"/>
                <a:sym typeface="Arial Black"/>
              </a:rPr>
              <a:t>ISLAM</a:t>
            </a:r>
            <a:r>
              <a:rPr b="1" lang="en-US" sz="6500">
                <a:solidFill>
                  <a:schemeClr val="dk1"/>
                </a:solidFill>
              </a:rPr>
              <a:t>,</a:t>
            </a:r>
            <a:r>
              <a:rPr b="1" lang="en-US" sz="6500">
                <a:solidFill>
                  <a:srgbClr val="002060"/>
                </a:solidFill>
              </a:rPr>
              <a:t> </a:t>
            </a:r>
            <a:r>
              <a:rPr b="1" lang="en-US" sz="7000">
                <a:solidFill>
                  <a:srgbClr val="002060"/>
                </a:solidFill>
              </a:rPr>
              <a:t>POLITIK</a:t>
            </a:r>
            <a:r>
              <a:rPr b="1" lang="en-US" sz="7000">
                <a:solidFill>
                  <a:schemeClr val="dk1"/>
                </a:solidFill>
              </a:rPr>
              <a:t>,</a:t>
            </a:r>
            <a:r>
              <a:rPr b="1" lang="en-US" sz="7000">
                <a:solidFill>
                  <a:srgbClr val="002060"/>
                </a:solidFill>
              </a:rPr>
              <a:t> </a:t>
            </a:r>
            <a:r>
              <a:rPr b="1" lang="en-US" sz="7000">
                <a:solidFill>
                  <a:schemeClr val="dk1"/>
                </a:solidFill>
              </a:rPr>
              <a:t>DAN</a:t>
            </a:r>
            <a:r>
              <a:rPr b="1" lang="en-US" sz="7000">
                <a:solidFill>
                  <a:srgbClr val="002060"/>
                </a:solidFill>
              </a:rPr>
              <a:t> </a:t>
            </a:r>
            <a:r>
              <a:rPr b="1" lang="en-US" sz="7000">
                <a:solidFill>
                  <a:srgbClr val="C00000"/>
                </a:solidFill>
              </a:rPr>
              <a:t>DEMOKRASI</a:t>
            </a:r>
            <a:endParaRPr/>
          </a:p>
        </p:txBody>
      </p:sp>
      <p:sp>
        <p:nvSpPr>
          <p:cNvPr id="111" name="Google Shape;111;p1"/>
          <p:cNvSpPr txBox="1"/>
          <p:nvPr/>
        </p:nvSpPr>
        <p:spPr>
          <a:xfrm>
            <a:off x="601980" y="4191000"/>
            <a:ext cx="2895600" cy="518160"/>
          </a:xfrm>
          <a:prstGeom prst="rect">
            <a:avLst/>
          </a:prstGeom>
          <a:noFill/>
          <a:ln>
            <a:noFill/>
          </a:ln>
        </p:spPr>
        <p:txBody>
          <a:bodyPr anchorCtr="0" anchor="t" bIns="45700" lIns="45700" spcFirstLastPara="1" rIns="45700" wrap="square" tIns="45700">
            <a:noAutofit/>
          </a:bodyPr>
          <a:lstStyle/>
          <a:p>
            <a:pPr indent="-158750" lvl="0" marL="91440" marR="0" rtl="0" algn="l">
              <a:lnSpc>
                <a:spcPct val="90000"/>
              </a:lnSpc>
              <a:spcBef>
                <a:spcPts val="0"/>
              </a:spcBef>
              <a:spcAft>
                <a:spcPts val="0"/>
              </a:spcAft>
              <a:buClr>
                <a:schemeClr val="accent1"/>
              </a:buClr>
              <a:buSzPts val="2500"/>
              <a:buFont typeface="Twentieth Century"/>
              <a:buChar char=" "/>
            </a:pPr>
            <a:r>
              <a:rPr b="0" i="0" lang="en-US" sz="2500" u="none" cap="none" strike="noStrike">
                <a:solidFill>
                  <a:srgbClr val="F2F2F2"/>
                </a:solidFill>
                <a:latin typeface="Twentieth Century"/>
                <a:ea typeface="Twentieth Century"/>
                <a:cs typeface="Twentieth Century"/>
                <a:sym typeface="Twentieth Century"/>
              </a:rPr>
              <a:t>Tim Dosen AEI</a:t>
            </a:r>
            <a:endParaRPr b="0" i="0" sz="2500" u="none" cap="none" strike="noStrike">
              <a:solidFill>
                <a:srgbClr val="F2F2F2"/>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2"/>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7" name="Google Shape;117;p2"/>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118" name="Google Shape;118;p2"/>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119" name="Google Shape;119;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20" name="Google Shape;120;p2"/>
          <p:cNvSpPr/>
          <p:nvPr/>
        </p:nvSpPr>
        <p:spPr>
          <a:xfrm>
            <a:off x="0" y="4559968"/>
            <a:ext cx="12192000" cy="22980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Twentieth Century"/>
              <a:buNone/>
            </a:pPr>
            <a:r>
              <a:t/>
            </a:r>
            <a:endParaRPr b="0" i="0" sz="1800" u="none" cap="none" strike="noStrike">
              <a:solidFill>
                <a:srgbClr val="FFFFFF"/>
              </a:solidFill>
              <a:latin typeface="Twentieth Century"/>
              <a:ea typeface="Twentieth Century"/>
              <a:cs typeface="Twentieth Century"/>
              <a:sym typeface="Twentieth Century"/>
            </a:endParaRPr>
          </a:p>
        </p:txBody>
      </p:sp>
      <p:sp>
        <p:nvSpPr>
          <p:cNvPr id="121" name="Google Shape;121;p2"/>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chemeClr val="dk1"/>
              </a:buClr>
              <a:buSzPts val="5000"/>
              <a:buFont typeface="Twentieth Century"/>
              <a:buNone/>
            </a:pPr>
            <a:r>
              <a:rPr lang="en-US">
                <a:solidFill>
                  <a:schemeClr val="dk1"/>
                </a:solidFill>
              </a:rPr>
              <a:t>PENTINGKAH POLITK?</a:t>
            </a:r>
            <a:endParaRPr/>
          </a:p>
        </p:txBody>
      </p:sp>
      <p:pic>
        <p:nvPicPr>
          <p:cNvPr descr="A cartoon character with a question mark&#10;&#10;Description automatically generated" id="122" name="Google Shape;122;p2"/>
          <p:cNvPicPr preferRelativeResize="0"/>
          <p:nvPr/>
        </p:nvPicPr>
        <p:blipFill rotWithShape="1">
          <a:blip r:embed="rId3">
            <a:alphaModFix/>
          </a:blip>
          <a:srcRect b="5695" l="0" r="-3" t="0"/>
          <a:stretch/>
        </p:blipFill>
        <p:spPr>
          <a:xfrm>
            <a:off x="20" y="10"/>
            <a:ext cx="4664922" cy="4399090"/>
          </a:xfrm>
          <a:prstGeom prst="rect">
            <a:avLst/>
          </a:prstGeom>
          <a:noFill/>
          <a:ln>
            <a:noFill/>
          </a:ln>
        </p:spPr>
      </p:pic>
      <p:pic>
        <p:nvPicPr>
          <p:cNvPr id="123" name="Google Shape;123;p2"/>
          <p:cNvPicPr preferRelativeResize="0"/>
          <p:nvPr/>
        </p:nvPicPr>
        <p:blipFill rotWithShape="1">
          <a:blip r:embed="rId4">
            <a:alphaModFix/>
          </a:blip>
          <a:srcRect b="20086" l="0" r="0" t="20085"/>
          <a:stretch/>
        </p:blipFill>
        <p:spPr>
          <a:xfrm>
            <a:off x="4800601" y="9"/>
            <a:ext cx="7395198" cy="4551357"/>
          </a:xfrm>
          <a:prstGeom prst="rect">
            <a:avLst/>
          </a:prstGeom>
          <a:noFill/>
          <a:ln>
            <a:noFill/>
          </a:ln>
        </p:spPr>
      </p:pic>
      <p:cxnSp>
        <p:nvCxnSpPr>
          <p:cNvPr id="124" name="Google Shape;124;p2"/>
          <p:cNvCxnSpPr/>
          <p:nvPr/>
        </p:nvCxnSpPr>
        <p:spPr>
          <a:xfrm rot="10800000">
            <a:off x="8386843" y="5264106"/>
            <a:ext cx="0" cy="9144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21"/>
                                        </p:tgtEl>
                                        <p:attrNameLst>
                                          <p:attrName>style.visibility</p:attrName>
                                        </p:attrNameLst>
                                      </p:cBhvr>
                                      <p:to>
                                        <p:strVal val="visible"/>
                                      </p:to>
                                    </p:set>
                                    <p:animEffect filter="fade" transition="in">
                                      <p:cBhvr>
                                        <p:cTn dur="4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PENGERTIAN POLITIK</a:t>
            </a:r>
            <a:endParaRPr/>
          </a:p>
        </p:txBody>
      </p:sp>
      <p:grpSp>
        <p:nvGrpSpPr>
          <p:cNvPr id="130" name="Google Shape;130;p3"/>
          <p:cNvGrpSpPr/>
          <p:nvPr/>
        </p:nvGrpSpPr>
        <p:grpSpPr>
          <a:xfrm>
            <a:off x="1278624" y="1524000"/>
            <a:ext cx="9227468" cy="4485440"/>
            <a:chOff x="254686" y="0"/>
            <a:chExt cx="9227468" cy="4485440"/>
          </a:xfrm>
        </p:grpSpPr>
        <p:sp>
          <p:nvSpPr>
            <p:cNvPr id="131" name="Google Shape;131;p3"/>
            <p:cNvSpPr/>
            <p:nvPr/>
          </p:nvSpPr>
          <p:spPr>
            <a:xfrm>
              <a:off x="271265" y="0"/>
              <a:ext cx="9210889" cy="1341456"/>
            </a:xfrm>
            <a:prstGeom prst="rightArrow">
              <a:avLst>
                <a:gd fmla="val 50000" name="adj1"/>
                <a:gd fmla="val 50000" name="adj2"/>
              </a:avLst>
            </a:prstGeom>
            <a:solidFill>
              <a:srgbClr val="0070C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txBox="1"/>
            <p:nvPr/>
          </p:nvSpPr>
          <p:spPr>
            <a:xfrm>
              <a:off x="271265" y="335364"/>
              <a:ext cx="8875525" cy="670728"/>
            </a:xfrm>
            <a:prstGeom prst="rect">
              <a:avLst/>
            </a:prstGeom>
            <a:noFill/>
            <a:ln>
              <a:noFill/>
            </a:ln>
          </p:spPr>
          <p:txBody>
            <a:bodyPr anchorCtr="0" anchor="ctr" bIns="212950" lIns="87625" spcFirstLastPara="1" rIns="254000" wrap="square" tIns="87625">
              <a:noAutofit/>
            </a:bodyPr>
            <a:lstStyle/>
            <a:p>
              <a:pPr indent="0" lvl="0" marL="0" marR="0" rtl="0" algn="l">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Akar kata</a:t>
              </a:r>
              <a:endParaRPr/>
            </a:p>
          </p:txBody>
        </p:sp>
        <p:sp>
          <p:nvSpPr>
            <p:cNvPr id="133" name="Google Shape;133;p3"/>
            <p:cNvSpPr/>
            <p:nvPr/>
          </p:nvSpPr>
          <p:spPr>
            <a:xfrm>
              <a:off x="254686" y="1044816"/>
              <a:ext cx="2836953" cy="2584138"/>
            </a:xfrm>
            <a:prstGeom prst="rect">
              <a:avLst/>
            </a:prstGeom>
            <a:solidFill>
              <a:schemeClr val="lt1"/>
            </a:solidFill>
            <a:ln cap="flat" cmpd="sng" w="15875">
              <a:solidFill>
                <a:srgbClr val="2383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txBox="1"/>
            <p:nvPr/>
          </p:nvSpPr>
          <p:spPr>
            <a:xfrm>
              <a:off x="254686" y="1044816"/>
              <a:ext cx="2836953" cy="2584138"/>
            </a:xfrm>
            <a:prstGeom prst="rect">
              <a:avLst/>
            </a:prstGeom>
            <a:noFill/>
            <a:ln>
              <a:noFill/>
            </a:ln>
          </p:spPr>
          <p:txBody>
            <a:bodyPr anchorCtr="0" anchor="t" bIns="87625" lIns="87625" spcFirstLastPara="1" rIns="87625" wrap="square" tIns="87625">
              <a:noAutofit/>
            </a:bodyPr>
            <a:lstStyle/>
            <a:p>
              <a:pPr indent="0" lvl="0" marL="0" marR="0" rtl="0" algn="l">
                <a:lnSpc>
                  <a:spcPct val="90000"/>
                </a:lnSpc>
                <a:spcBef>
                  <a:spcPts val="0"/>
                </a:spcBef>
                <a:spcAft>
                  <a:spcPts val="0"/>
                </a:spcAft>
                <a:buClr>
                  <a:schemeClr val="dk1"/>
                </a:buClr>
                <a:buSzPts val="2300"/>
                <a:buFont typeface="Twentieth Century"/>
                <a:buNone/>
              </a:pPr>
              <a:r>
                <a:rPr lang="en-US" sz="2300">
                  <a:solidFill>
                    <a:schemeClr val="dk1"/>
                  </a:solidFill>
                  <a:latin typeface="Twentieth Century"/>
                  <a:ea typeface="Twentieth Century"/>
                  <a:cs typeface="Twentieth Century"/>
                  <a:sym typeface="Twentieth Century"/>
                </a:rPr>
                <a:t>Politik berasal dari bahasa Yunani, ‘politikos’, yang berarti yang “berkaitan dengan warga negara.” </a:t>
              </a:r>
              <a:endParaRPr/>
            </a:p>
          </p:txBody>
        </p:sp>
        <p:sp>
          <p:nvSpPr>
            <p:cNvPr id="135" name="Google Shape;135;p3"/>
            <p:cNvSpPr/>
            <p:nvPr/>
          </p:nvSpPr>
          <p:spPr>
            <a:xfrm>
              <a:off x="3091640" y="457511"/>
              <a:ext cx="6373935" cy="1341456"/>
            </a:xfrm>
            <a:prstGeom prst="rightArrow">
              <a:avLst>
                <a:gd fmla="val 50000" name="adj1"/>
                <a:gd fmla="val 50000" name="adj2"/>
              </a:avLst>
            </a:prstGeom>
            <a:solidFill>
              <a:srgbClr val="00B05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txBox="1"/>
            <p:nvPr/>
          </p:nvSpPr>
          <p:spPr>
            <a:xfrm>
              <a:off x="3091640" y="792875"/>
              <a:ext cx="6038571" cy="670728"/>
            </a:xfrm>
            <a:prstGeom prst="rect">
              <a:avLst/>
            </a:prstGeom>
            <a:noFill/>
            <a:ln>
              <a:noFill/>
            </a:ln>
          </p:spPr>
          <p:txBody>
            <a:bodyPr anchorCtr="0" anchor="ctr" bIns="212950" lIns="87625" spcFirstLastPara="1" rIns="254000" wrap="square" tIns="87625">
              <a:noAutofit/>
            </a:bodyPr>
            <a:lstStyle/>
            <a:p>
              <a:pPr indent="0" lvl="0" marL="0" marR="0" rtl="0" algn="l">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 Bahasa Arab:</a:t>
              </a:r>
              <a:endParaRPr/>
            </a:p>
          </p:txBody>
        </p:sp>
        <p:sp>
          <p:nvSpPr>
            <p:cNvPr id="137" name="Google Shape;137;p3"/>
            <p:cNvSpPr/>
            <p:nvPr/>
          </p:nvSpPr>
          <p:spPr>
            <a:xfrm>
              <a:off x="3091640" y="1491968"/>
              <a:ext cx="2836953" cy="2584138"/>
            </a:xfrm>
            <a:prstGeom prst="rect">
              <a:avLst/>
            </a:prstGeom>
            <a:solidFill>
              <a:schemeClr val="lt1"/>
            </a:solidFill>
            <a:ln cap="flat" cmpd="sng" w="15875">
              <a:solidFill>
                <a:srgbClr val="25A6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txBox="1"/>
            <p:nvPr/>
          </p:nvSpPr>
          <p:spPr>
            <a:xfrm>
              <a:off x="3091640" y="1491968"/>
              <a:ext cx="2836953" cy="2584138"/>
            </a:xfrm>
            <a:prstGeom prst="rect">
              <a:avLst/>
            </a:prstGeom>
            <a:noFill/>
            <a:ln>
              <a:noFill/>
            </a:ln>
          </p:spPr>
          <p:txBody>
            <a:bodyPr anchorCtr="0" anchor="t" bIns="87625" lIns="87625" spcFirstLastPara="1" rIns="87625" wrap="square" tIns="87625">
              <a:noAutofit/>
            </a:bodyPr>
            <a:lstStyle/>
            <a:p>
              <a:pPr indent="0" lvl="0" marL="0" marR="0" rtl="0" algn="l">
                <a:lnSpc>
                  <a:spcPct val="90000"/>
                </a:lnSpc>
                <a:spcBef>
                  <a:spcPts val="0"/>
                </a:spcBef>
                <a:spcAft>
                  <a:spcPts val="0"/>
                </a:spcAft>
                <a:buClr>
                  <a:schemeClr val="dk1"/>
                </a:buClr>
                <a:buSzPts val="2300"/>
                <a:buFont typeface="Twentieth Century"/>
                <a:buNone/>
              </a:pPr>
              <a:r>
                <a:rPr lang="en-US" sz="2300">
                  <a:solidFill>
                    <a:schemeClr val="dk1"/>
                  </a:solidFill>
                  <a:latin typeface="Twentieth Century"/>
                  <a:ea typeface="Twentieth Century"/>
                  <a:cs typeface="Twentieth Century"/>
                  <a:sym typeface="Twentieth Century"/>
                </a:rPr>
                <a:t>Politik berarti s</a:t>
              </a:r>
              <a:r>
                <a:rPr i="1" lang="en-US" sz="2300">
                  <a:solidFill>
                    <a:schemeClr val="dk1"/>
                  </a:solidFill>
                  <a:latin typeface="Twentieth Century"/>
                  <a:ea typeface="Twentieth Century"/>
                  <a:cs typeface="Twentieth Century"/>
                  <a:sym typeface="Twentieth Century"/>
                </a:rPr>
                <a:t>iyasah</a:t>
              </a:r>
              <a:r>
                <a:rPr lang="en-US" sz="2300">
                  <a:solidFill>
                    <a:schemeClr val="dk1"/>
                  </a:solidFill>
                  <a:latin typeface="Twentieth Century"/>
                  <a:ea typeface="Twentieth Century"/>
                  <a:cs typeface="Twentieth Century"/>
                  <a:sym typeface="Twentieth Century"/>
                </a:rPr>
                <a:t> yang secara bahasa berarti “mengurus sesuatu dengan baik.”</a:t>
              </a:r>
              <a:endParaRPr/>
            </a:p>
          </p:txBody>
        </p:sp>
        <p:sp>
          <p:nvSpPr>
            <p:cNvPr id="139" name="Google Shape;139;p3"/>
            <p:cNvSpPr/>
            <p:nvPr/>
          </p:nvSpPr>
          <p:spPr>
            <a:xfrm>
              <a:off x="5928594" y="904663"/>
              <a:ext cx="3536981" cy="1341456"/>
            </a:xfrm>
            <a:prstGeom prst="rightArrow">
              <a:avLst>
                <a:gd fmla="val 50000" name="adj1"/>
                <a:gd fmla="val 50000" name="adj2"/>
              </a:avLst>
            </a:prstGeom>
            <a:solidFill>
              <a:srgbClr val="FF00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txBox="1"/>
            <p:nvPr/>
          </p:nvSpPr>
          <p:spPr>
            <a:xfrm>
              <a:off x="5928594" y="1240027"/>
              <a:ext cx="3201617" cy="670728"/>
            </a:xfrm>
            <a:prstGeom prst="rect">
              <a:avLst/>
            </a:prstGeom>
            <a:noFill/>
            <a:ln>
              <a:noFill/>
            </a:ln>
          </p:spPr>
          <p:txBody>
            <a:bodyPr anchorCtr="0" anchor="ctr" bIns="212950" lIns="87625" spcFirstLastPara="1" rIns="254000" wrap="square" tIns="87625">
              <a:noAutofit/>
            </a:bodyPr>
            <a:lstStyle/>
            <a:p>
              <a:pPr indent="0" lvl="0" marL="0" marR="0" rtl="0" algn="l">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KBBI</a:t>
              </a:r>
              <a:endParaRPr/>
            </a:p>
          </p:txBody>
        </p:sp>
        <p:sp>
          <p:nvSpPr>
            <p:cNvPr id="141" name="Google Shape;141;p3"/>
            <p:cNvSpPr/>
            <p:nvPr/>
          </p:nvSpPr>
          <p:spPr>
            <a:xfrm>
              <a:off x="5928594" y="1939120"/>
              <a:ext cx="2836953" cy="2546320"/>
            </a:xfrm>
            <a:prstGeom prst="rect">
              <a:avLst/>
            </a:prstGeom>
            <a:solidFill>
              <a:schemeClr val="lt1"/>
            </a:solidFill>
            <a:ln cap="flat" cmpd="sng" w="15875">
              <a:solidFill>
                <a:srgbClr val="25CC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txBox="1"/>
            <p:nvPr/>
          </p:nvSpPr>
          <p:spPr>
            <a:xfrm>
              <a:off x="5928594" y="1939120"/>
              <a:ext cx="2836953" cy="2546320"/>
            </a:xfrm>
            <a:prstGeom prst="rect">
              <a:avLst/>
            </a:prstGeom>
            <a:noFill/>
            <a:ln>
              <a:noFill/>
            </a:ln>
          </p:spPr>
          <p:txBody>
            <a:bodyPr anchorCtr="0" anchor="t" bIns="87625" lIns="87625" spcFirstLastPara="1" rIns="87625" wrap="square" tIns="87625">
              <a:noAutofit/>
            </a:bodyPr>
            <a:lstStyle/>
            <a:p>
              <a:pPr indent="0" lvl="0" marL="0" marR="0" rtl="0" algn="l">
                <a:lnSpc>
                  <a:spcPct val="90000"/>
                </a:lnSpc>
                <a:spcBef>
                  <a:spcPts val="0"/>
                </a:spcBef>
                <a:spcAft>
                  <a:spcPts val="0"/>
                </a:spcAft>
                <a:buClr>
                  <a:schemeClr val="dk1"/>
                </a:buClr>
                <a:buSzPts val="2300"/>
                <a:buFont typeface="Twentieth Century"/>
                <a:buNone/>
              </a:pPr>
              <a:r>
                <a:rPr lang="en-US" sz="2300">
                  <a:solidFill>
                    <a:schemeClr val="dk1"/>
                  </a:solidFill>
                  <a:latin typeface="Twentieth Century"/>
                  <a:ea typeface="Twentieth Century"/>
                  <a:cs typeface="Twentieth Century"/>
                  <a:sym typeface="Twentieth Century"/>
                </a:rPr>
                <a:t>Politik diartikan sebagai “segala urusan dan tindakan (kebijakan, siasat, dan sebagainya) mengenai pemerintahan negara atau terhadap negara lain.”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MENGAPA POLITIK ISLAM?</a:t>
            </a:r>
            <a:endParaRPr/>
          </a:p>
        </p:txBody>
      </p:sp>
      <p:grpSp>
        <p:nvGrpSpPr>
          <p:cNvPr id="148" name="Google Shape;148;p4"/>
          <p:cNvGrpSpPr/>
          <p:nvPr/>
        </p:nvGrpSpPr>
        <p:grpSpPr>
          <a:xfrm>
            <a:off x="2551234" y="2085470"/>
            <a:ext cx="6698312" cy="4314690"/>
            <a:chOff x="1527296" y="638"/>
            <a:chExt cx="6698312" cy="4314690"/>
          </a:xfrm>
        </p:grpSpPr>
        <p:sp>
          <p:nvSpPr>
            <p:cNvPr id="149" name="Google Shape;149;p4"/>
            <p:cNvSpPr/>
            <p:nvPr/>
          </p:nvSpPr>
          <p:spPr>
            <a:xfrm>
              <a:off x="3886444" y="2346975"/>
              <a:ext cx="1968353" cy="1968353"/>
            </a:xfrm>
            <a:prstGeom prst="ellipse">
              <a:avLst/>
            </a:prstGeom>
            <a:solidFill>
              <a:srgbClr val="C000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txBox="1"/>
            <p:nvPr/>
          </p:nvSpPr>
          <p:spPr>
            <a:xfrm>
              <a:off x="4174703" y="2635234"/>
              <a:ext cx="1391835" cy="1391835"/>
            </a:xfrm>
            <a:prstGeom prst="rect">
              <a:avLst/>
            </a:prstGeom>
            <a:noFill/>
            <a:ln>
              <a:noFill/>
            </a:ln>
          </p:spPr>
          <p:txBody>
            <a:bodyPr anchorCtr="0" anchor="ctr" bIns="28575" lIns="28575" spcFirstLastPara="1" rIns="28575" wrap="square" tIns="28575">
              <a:noAutofit/>
            </a:bodyPr>
            <a:lstStyle/>
            <a:p>
              <a:pPr indent="0" lvl="0" marL="0" marR="0" rtl="0" algn="ctr">
                <a:lnSpc>
                  <a:spcPct val="90000"/>
                </a:lnSpc>
                <a:spcBef>
                  <a:spcPts val="0"/>
                </a:spcBef>
                <a:spcAft>
                  <a:spcPts val="0"/>
                </a:spcAft>
                <a:buClr>
                  <a:schemeClr val="lt1"/>
                </a:buClr>
                <a:buSzPts val="4500"/>
                <a:buFont typeface="Twentieth Century"/>
                <a:buNone/>
              </a:pPr>
              <a:r>
                <a:rPr lang="en-US" sz="4500">
                  <a:solidFill>
                    <a:schemeClr val="lt1"/>
                  </a:solidFill>
                  <a:latin typeface="Twentieth Century"/>
                  <a:ea typeface="Twentieth Century"/>
                  <a:cs typeface="Twentieth Century"/>
                  <a:sym typeface="Twentieth Century"/>
                </a:rPr>
                <a:t>Politik Islam</a:t>
              </a:r>
              <a:endParaRPr sz="4500">
                <a:solidFill>
                  <a:schemeClr val="lt1"/>
                </a:solidFill>
                <a:latin typeface="Twentieth Century"/>
                <a:ea typeface="Twentieth Century"/>
                <a:cs typeface="Twentieth Century"/>
                <a:sym typeface="Twentieth Century"/>
              </a:endParaRPr>
            </a:p>
          </p:txBody>
        </p:sp>
        <p:sp>
          <p:nvSpPr>
            <p:cNvPr id="151" name="Google Shape;151;p4"/>
            <p:cNvSpPr/>
            <p:nvPr/>
          </p:nvSpPr>
          <p:spPr>
            <a:xfrm rot="-8728908">
              <a:off x="2381162" y="1939846"/>
              <a:ext cx="1748621" cy="560980"/>
            </a:xfrm>
            <a:prstGeom prst="leftArrow">
              <a:avLst>
                <a:gd fmla="val 60000" name="adj1"/>
                <a:gd fmla="val 50000" name="adj2"/>
              </a:avLst>
            </a:prstGeom>
            <a:solidFill>
              <a:srgbClr val="2383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1527296" y="976918"/>
              <a:ext cx="2015584" cy="1495948"/>
            </a:xfrm>
            <a:prstGeom prst="roundRect">
              <a:avLst>
                <a:gd fmla="val 10000" name="adj"/>
              </a:avLst>
            </a:pr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txBox="1"/>
            <p:nvPr/>
          </p:nvSpPr>
          <p:spPr>
            <a:xfrm>
              <a:off x="1571111" y="1020733"/>
              <a:ext cx="1927954" cy="1408318"/>
            </a:xfrm>
            <a:prstGeom prst="rect">
              <a:avLst/>
            </a:prstGeom>
            <a:noFill/>
            <a:ln>
              <a:noFill/>
            </a:ln>
          </p:spPr>
          <p:txBody>
            <a:bodyPr anchorCtr="0" anchor="ctr" bIns="47625" lIns="47625" spcFirstLastPara="1" rIns="47625" wrap="square" tIns="47625">
              <a:noAutofit/>
            </a:bodyPr>
            <a:lstStyle/>
            <a:p>
              <a:pPr indent="0" lvl="0" marL="0" marR="0" rtl="0" algn="ctr">
                <a:lnSpc>
                  <a:spcPct val="90000"/>
                </a:lnSpc>
                <a:spcBef>
                  <a:spcPts val="0"/>
                </a:spcBef>
                <a:spcAft>
                  <a:spcPts val="0"/>
                </a:spcAft>
                <a:buClr>
                  <a:schemeClr val="lt1"/>
                </a:buClr>
                <a:buSzPts val="2500"/>
                <a:buFont typeface="Twentieth Century"/>
                <a:buNone/>
              </a:pPr>
              <a:r>
                <a:rPr lang="en-US" sz="2500">
                  <a:solidFill>
                    <a:schemeClr val="lt1"/>
                  </a:solidFill>
                  <a:latin typeface="Twentieth Century"/>
                  <a:ea typeface="Twentieth Century"/>
                  <a:cs typeface="Twentieth Century"/>
                  <a:sym typeface="Twentieth Century"/>
                </a:rPr>
                <a:t>Visi Kemaslahatan Umat</a:t>
              </a:r>
              <a:endParaRPr sz="2500">
                <a:solidFill>
                  <a:schemeClr val="lt1"/>
                </a:solidFill>
                <a:latin typeface="Twentieth Century"/>
                <a:ea typeface="Twentieth Century"/>
                <a:cs typeface="Twentieth Century"/>
                <a:sym typeface="Twentieth Century"/>
              </a:endParaRPr>
            </a:p>
          </p:txBody>
        </p:sp>
        <p:sp>
          <p:nvSpPr>
            <p:cNvPr id="154" name="Google Shape;154;p4"/>
            <p:cNvSpPr/>
            <p:nvPr/>
          </p:nvSpPr>
          <p:spPr>
            <a:xfrm rot="-5400000">
              <a:off x="4115394" y="1223349"/>
              <a:ext cx="1510452" cy="560980"/>
            </a:xfrm>
            <a:prstGeom prst="leftArrow">
              <a:avLst>
                <a:gd fmla="val 60000" name="adj1"/>
                <a:gd fmla="val 50000" name="adj2"/>
              </a:avLst>
            </a:prstGeom>
            <a:solidFill>
              <a:srgbClr val="24CE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3815323" y="638"/>
              <a:ext cx="2110596" cy="1495948"/>
            </a:xfrm>
            <a:prstGeom prst="roundRect">
              <a:avLst>
                <a:gd fmla="val 10000" name="adj"/>
              </a:avLst>
            </a:prstGeom>
            <a:solidFill>
              <a:srgbClr val="00B05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txBox="1"/>
            <p:nvPr/>
          </p:nvSpPr>
          <p:spPr>
            <a:xfrm>
              <a:off x="3859138" y="44453"/>
              <a:ext cx="2022966" cy="1408318"/>
            </a:xfrm>
            <a:prstGeom prst="rect">
              <a:avLst/>
            </a:prstGeom>
            <a:noFill/>
            <a:ln>
              <a:noFill/>
            </a:ln>
          </p:spPr>
          <p:txBody>
            <a:bodyPr anchorCtr="0" anchor="ctr" bIns="47625" lIns="47625" spcFirstLastPara="1" rIns="47625" wrap="square" tIns="47625">
              <a:noAutofit/>
            </a:bodyPr>
            <a:lstStyle/>
            <a:p>
              <a:pPr indent="0" lvl="0" marL="0" marR="0" rtl="0" algn="ctr">
                <a:lnSpc>
                  <a:spcPct val="90000"/>
                </a:lnSpc>
                <a:spcBef>
                  <a:spcPts val="0"/>
                </a:spcBef>
                <a:spcAft>
                  <a:spcPts val="0"/>
                </a:spcAft>
                <a:buClr>
                  <a:schemeClr val="lt1"/>
                </a:buClr>
                <a:buSzPts val="2500"/>
                <a:buFont typeface="Twentieth Century"/>
                <a:buNone/>
              </a:pPr>
              <a:r>
                <a:rPr lang="en-US" sz="2500">
                  <a:solidFill>
                    <a:schemeClr val="lt1"/>
                  </a:solidFill>
                  <a:latin typeface="Twentieth Century"/>
                  <a:ea typeface="Twentieth Century"/>
                  <a:cs typeface="Twentieth Century"/>
                  <a:sym typeface="Twentieth Century"/>
                </a:rPr>
                <a:t>Kemencakupan Islam</a:t>
              </a:r>
              <a:endParaRPr sz="2500">
                <a:solidFill>
                  <a:schemeClr val="lt1"/>
                </a:solidFill>
                <a:latin typeface="Twentieth Century"/>
                <a:ea typeface="Twentieth Century"/>
                <a:cs typeface="Twentieth Century"/>
                <a:sym typeface="Twentieth Century"/>
              </a:endParaRPr>
            </a:p>
          </p:txBody>
        </p:sp>
        <p:sp>
          <p:nvSpPr>
            <p:cNvPr id="157" name="Google Shape;157;p4"/>
            <p:cNvSpPr/>
            <p:nvPr/>
          </p:nvSpPr>
          <p:spPr>
            <a:xfrm rot="-2048880">
              <a:off x="5617632" y="1942321"/>
              <a:ext cx="1774100" cy="560980"/>
            </a:xfrm>
            <a:prstGeom prst="leftArrow">
              <a:avLst>
                <a:gd fmla="val 6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6251985" y="976907"/>
              <a:ext cx="1973623" cy="1495948"/>
            </a:xfrm>
            <a:prstGeom prst="roundRect">
              <a:avLst>
                <a:gd fmla="val 10000" name="adj"/>
              </a:avLst>
            </a:prstGeom>
            <a:solidFill>
              <a:schemeClr val="accent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txBox="1"/>
            <p:nvPr/>
          </p:nvSpPr>
          <p:spPr>
            <a:xfrm>
              <a:off x="6295800" y="1020722"/>
              <a:ext cx="1885993" cy="1408318"/>
            </a:xfrm>
            <a:prstGeom prst="rect">
              <a:avLst/>
            </a:prstGeom>
            <a:noFill/>
            <a:ln>
              <a:noFill/>
            </a:ln>
          </p:spPr>
          <p:txBody>
            <a:bodyPr anchorCtr="0" anchor="ctr" bIns="47625" lIns="47625" spcFirstLastPara="1" rIns="47625" wrap="square" tIns="47625">
              <a:noAutofit/>
            </a:bodyPr>
            <a:lstStyle/>
            <a:p>
              <a:pPr indent="0" lvl="0" marL="0" marR="0" rtl="0" algn="ctr">
                <a:lnSpc>
                  <a:spcPct val="90000"/>
                </a:lnSpc>
                <a:spcBef>
                  <a:spcPts val="0"/>
                </a:spcBef>
                <a:spcAft>
                  <a:spcPts val="0"/>
                </a:spcAft>
                <a:buClr>
                  <a:schemeClr val="lt1"/>
                </a:buClr>
                <a:buSzPts val="2500"/>
                <a:buFont typeface="Twentieth Century"/>
                <a:buNone/>
              </a:pPr>
              <a:r>
                <a:rPr lang="en-US" sz="2500">
                  <a:solidFill>
                    <a:schemeClr val="lt1"/>
                  </a:solidFill>
                  <a:latin typeface="Twentieth Century"/>
                  <a:ea typeface="Twentieth Century"/>
                  <a:cs typeface="Twentieth Century"/>
                  <a:sym typeface="Twentieth Century"/>
                </a:rPr>
                <a:t>Visi Keadilan dan Kebaikan</a:t>
              </a:r>
              <a:endParaRPr sz="2500">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5"/>
          <p:cNvSpPr txBox="1"/>
          <p:nvPr>
            <p:ph type="title"/>
          </p:nvPr>
        </p:nvSpPr>
        <p:spPr>
          <a:xfrm>
            <a:off x="1024128" y="585216"/>
            <a:ext cx="5757671"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PENGERTIAN POLITIK ISLAM</a:t>
            </a:r>
            <a:endParaRPr/>
          </a:p>
        </p:txBody>
      </p:sp>
      <p:sp>
        <p:nvSpPr>
          <p:cNvPr id="165" name="Google Shape;165;p5"/>
          <p:cNvSpPr txBox="1"/>
          <p:nvPr>
            <p:ph idx="1" type="body"/>
          </p:nvPr>
        </p:nvSpPr>
        <p:spPr>
          <a:xfrm>
            <a:off x="1024129" y="2084832"/>
            <a:ext cx="6367272" cy="3733800"/>
          </a:xfrm>
          <a:prstGeom prst="rect">
            <a:avLst/>
          </a:prstGeom>
          <a:noFill/>
          <a:ln>
            <a:noFill/>
          </a:ln>
        </p:spPr>
        <p:txBody>
          <a:bodyPr anchorCtr="0" anchor="t" bIns="45700" lIns="45700" spcFirstLastPara="1" rIns="45700" wrap="square" tIns="45700">
            <a:normAutofit fontScale="70000" lnSpcReduction="20000"/>
          </a:bodyPr>
          <a:lstStyle/>
          <a:p>
            <a:pPr indent="-137795" lvl="0" marL="91440" rtl="0" algn="l">
              <a:lnSpc>
                <a:spcPct val="90000"/>
              </a:lnSpc>
              <a:spcBef>
                <a:spcPts val="0"/>
              </a:spcBef>
              <a:spcAft>
                <a:spcPts val="0"/>
              </a:spcAft>
              <a:buSzPct val="100000"/>
              <a:buChar char=" "/>
            </a:pPr>
            <a:r>
              <a:rPr lang="en-US" sz="3100"/>
              <a:t>Sebagai sebuah disiplin Ilmu, politik Islam (</a:t>
            </a:r>
            <a:r>
              <a:rPr i="1" lang="en-US" sz="3100"/>
              <a:t>al-siyasah al-syar‘iyyah</a:t>
            </a:r>
            <a:r>
              <a:rPr lang="en-US" sz="3100"/>
              <a:t>) adalah Ilmu yang membahas tentang prinsip, perundang-undangan, dan aturan dalam mengelola negara yang berkesesuaian dengan prinsip-prinsip agama Islam, meskipun tidak terdapat dalil spesifik yang membahas tata pengelolaan tersebut.</a:t>
            </a:r>
            <a:endParaRPr/>
          </a:p>
          <a:p>
            <a:pPr indent="-137795" lvl="0" marL="91440" rtl="0" algn="l">
              <a:lnSpc>
                <a:spcPct val="90000"/>
              </a:lnSpc>
              <a:spcBef>
                <a:spcPts val="1400"/>
              </a:spcBef>
              <a:spcAft>
                <a:spcPts val="0"/>
              </a:spcAft>
              <a:buSzPct val="100000"/>
              <a:buChar char=" "/>
            </a:pPr>
            <a:r>
              <a:rPr lang="en-US" sz="3100"/>
              <a:t>Objek kajiannya adalah aturan dan perundang-ungangan yang dibutuhkan dalam seluk beluk pengelolaan negara, ditinjau dari sisi kesesuaiannya dengan prinsip-prinsip agama dan sejauh mana dapat merealisasikan kemaslahatan dan kepentingan rakyat.</a:t>
            </a:r>
            <a:endParaRPr/>
          </a:p>
          <a:p>
            <a:pPr indent="-24764" lvl="0" marL="91440" rtl="0" algn="l">
              <a:lnSpc>
                <a:spcPct val="90000"/>
              </a:lnSpc>
              <a:spcBef>
                <a:spcPts val="1400"/>
              </a:spcBef>
              <a:spcAft>
                <a:spcPts val="0"/>
              </a:spcAft>
              <a:buSzPct val="100000"/>
              <a:buNone/>
            </a:pPr>
            <a:r>
              <a:t/>
            </a:r>
            <a:endParaRPr sz="1500"/>
          </a:p>
          <a:p>
            <a:pPr indent="-91440" lvl="0" marL="91440" rtl="0" algn="l">
              <a:lnSpc>
                <a:spcPct val="90000"/>
              </a:lnSpc>
              <a:spcBef>
                <a:spcPts val="1400"/>
              </a:spcBef>
              <a:spcAft>
                <a:spcPts val="0"/>
              </a:spcAft>
              <a:buSzPct val="100000"/>
              <a:buChar char=" "/>
            </a:pPr>
            <a:r>
              <a:rPr lang="en-US" sz="1500"/>
              <a:t>  </a:t>
            </a:r>
            <a:endParaRPr/>
          </a:p>
        </p:txBody>
      </p:sp>
      <p:pic>
        <p:nvPicPr>
          <p:cNvPr descr="A book cover with a building in a bubble&#10;&#10;Description automatically generated" id="166" name="Google Shape;166;p5"/>
          <p:cNvPicPr preferRelativeResize="0"/>
          <p:nvPr/>
        </p:nvPicPr>
        <p:blipFill rotWithShape="1">
          <a:blip r:embed="rId3">
            <a:alphaModFix/>
          </a:blip>
          <a:srcRect b="0" l="0" r="0" t="0"/>
          <a:stretch/>
        </p:blipFill>
        <p:spPr>
          <a:xfrm>
            <a:off x="7863001" y="914400"/>
            <a:ext cx="3304870" cy="49530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167" name="Google Shape;167;p5"/>
          <p:cNvSpPr txBox="1"/>
          <p:nvPr/>
        </p:nvSpPr>
        <p:spPr>
          <a:xfrm>
            <a:off x="1143001" y="5295412"/>
            <a:ext cx="4953000" cy="523220"/>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‘Abd al-Wahab Khalaf, </a:t>
            </a:r>
            <a:r>
              <a:rPr i="1" lang="en-US" sz="1400">
                <a:solidFill>
                  <a:schemeClr val="dk1"/>
                </a:solidFill>
                <a:latin typeface="Twentieth Century"/>
                <a:ea typeface="Twentieth Century"/>
                <a:cs typeface="Twentieth Century"/>
                <a:sym typeface="Twentieth Century"/>
              </a:rPr>
              <a:t>al-Siyasah al-Syar’iyyah</a:t>
            </a:r>
            <a:r>
              <a:rPr lang="en-US" sz="1400">
                <a:solidFill>
                  <a:schemeClr val="dk1"/>
                </a:solidFill>
                <a:latin typeface="Twentieth Century"/>
                <a:ea typeface="Twentieth Century"/>
                <a:cs typeface="Twentieth Century"/>
                <a:sym typeface="Twentieth Century"/>
              </a:rPr>
              <a:t> (Kairo: al-Matba’ah al-Salafiyyah, 1350 H.), 4-5.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6"/>
          <p:cNvSpPr txBox="1"/>
          <p:nvPr>
            <p:ph type="title"/>
          </p:nvPr>
        </p:nvSpPr>
        <p:spPr>
          <a:xfrm>
            <a:off x="1024128" y="585216"/>
            <a:ext cx="65196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URGENSI POLITIK ISLAM</a:t>
            </a:r>
            <a:endParaRPr/>
          </a:p>
        </p:txBody>
      </p:sp>
      <p:sp>
        <p:nvSpPr>
          <p:cNvPr id="173" name="Google Shape;173;p6"/>
          <p:cNvSpPr txBox="1"/>
          <p:nvPr>
            <p:ph idx="1" type="body"/>
          </p:nvPr>
        </p:nvSpPr>
        <p:spPr>
          <a:xfrm>
            <a:off x="1024128" y="2286000"/>
            <a:ext cx="5376671" cy="1981200"/>
          </a:xfrm>
          <a:prstGeom prst="rect">
            <a:avLst/>
          </a:prstGeom>
          <a:noFill/>
          <a:ln>
            <a:noFill/>
          </a:ln>
        </p:spPr>
        <p:txBody>
          <a:bodyPr anchorCtr="0" anchor="t" bIns="45700" lIns="45700" spcFirstLastPara="1" rIns="45700" wrap="square" tIns="45700">
            <a:noAutofit/>
          </a:bodyPr>
          <a:lstStyle/>
          <a:p>
            <a:pPr indent="-146050" lvl="0" marL="91440" rtl="0" algn="l">
              <a:lnSpc>
                <a:spcPct val="90000"/>
              </a:lnSpc>
              <a:spcBef>
                <a:spcPts val="0"/>
              </a:spcBef>
              <a:spcAft>
                <a:spcPts val="0"/>
              </a:spcAft>
              <a:buSzPts val="2300"/>
              <a:buChar char=" "/>
            </a:pPr>
            <a:r>
              <a:rPr b="0" i="1" lang="en-US" sz="2300"/>
              <a:t>“Agama dan kekuasaan </a:t>
            </a:r>
            <a:r>
              <a:rPr i="1" lang="en-US" sz="2300"/>
              <a:t>bagaikan</a:t>
            </a:r>
            <a:r>
              <a:rPr b="0" i="1" lang="en-US" sz="2300"/>
              <a:t> dua saudara kembar. Agama merupakan fondasi, sedangkan kekuasaan negara adalah pen</a:t>
            </a:r>
            <a:r>
              <a:rPr i="1" lang="en-US" sz="2300"/>
              <a:t>jaga</a:t>
            </a:r>
            <a:r>
              <a:rPr b="0" i="1" lang="en-US" sz="2300"/>
              <a:t>nya. Sesuatu yang tidak memiliki fondasi, akan runtuh, sedangkan sesuatu yang tidak memiliki penjaga akan </a:t>
            </a:r>
            <a:r>
              <a:rPr i="1" lang="en-US" sz="2300"/>
              <a:t>hilang</a:t>
            </a:r>
            <a:r>
              <a:rPr b="0" i="1" lang="en-US" sz="2300"/>
              <a:t>.”</a:t>
            </a:r>
            <a:endParaRPr sz="2300"/>
          </a:p>
        </p:txBody>
      </p:sp>
      <p:pic>
        <p:nvPicPr>
          <p:cNvPr descr="A person with a beard and turban&#10;&#10;Description automatically generated" id="174" name="Google Shape;174;p6"/>
          <p:cNvPicPr preferRelativeResize="0"/>
          <p:nvPr/>
        </p:nvPicPr>
        <p:blipFill rotWithShape="1">
          <a:blip r:embed="rId3">
            <a:alphaModFix/>
          </a:blip>
          <a:srcRect b="0" l="0" r="5046" t="0"/>
          <a:stretch/>
        </p:blipFill>
        <p:spPr>
          <a:xfrm>
            <a:off x="7394242" y="762000"/>
            <a:ext cx="3773632" cy="5577840"/>
          </a:xfrm>
          <a:prstGeom prst="rect">
            <a:avLst/>
          </a:prstGeom>
          <a:noFill/>
          <a:ln>
            <a:noFill/>
          </a:ln>
        </p:spPr>
      </p:pic>
      <p:sp>
        <p:nvSpPr>
          <p:cNvPr id="175" name="Google Shape;175;p6"/>
          <p:cNvSpPr txBox="1"/>
          <p:nvPr/>
        </p:nvSpPr>
        <p:spPr>
          <a:xfrm>
            <a:off x="1024128" y="4648200"/>
            <a:ext cx="3773632" cy="553998"/>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Twentieth Century"/>
                <a:ea typeface="Twentieth Century"/>
                <a:cs typeface="Twentieth Century"/>
                <a:sym typeface="Twentieth Century"/>
              </a:rPr>
              <a:t>Abu Hamid al-Ghazali, </a:t>
            </a:r>
            <a:r>
              <a:rPr i="1" lang="en-US" sz="1500">
                <a:solidFill>
                  <a:schemeClr val="dk1"/>
                </a:solidFill>
                <a:latin typeface="Twentieth Century"/>
                <a:ea typeface="Twentieth Century"/>
                <a:cs typeface="Twentieth Century"/>
                <a:sym typeface="Twentieth Century"/>
              </a:rPr>
              <a:t>Ihya ‘Ulum al-Din </a:t>
            </a:r>
            <a:r>
              <a:rPr lang="en-US" sz="1500">
                <a:solidFill>
                  <a:schemeClr val="dk1"/>
                </a:solidFill>
                <a:latin typeface="Twentieth Century"/>
                <a:ea typeface="Twentieth Century"/>
                <a:cs typeface="Twentieth Century"/>
                <a:sym typeface="Twentieth Century"/>
              </a:rPr>
              <a:t>(Beirut: Dar Ibn Hazm, 2005).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cxnSp>
        <p:nvCxnSpPr>
          <p:cNvPr id="180" name="Google Shape;180;p7"/>
          <p:cNvCxnSpPr/>
          <p:nvPr/>
        </p:nvCxnSpPr>
        <p:spPr>
          <a:xfrm rot="10800000">
            <a:off x="762000" y="822960"/>
            <a:ext cx="0" cy="5212080"/>
          </a:xfrm>
          <a:prstGeom prst="straightConnector1">
            <a:avLst/>
          </a:prstGeom>
          <a:noFill/>
          <a:ln cap="flat" cmpd="sng" w="19050">
            <a:solidFill>
              <a:srgbClr val="FFF179"/>
            </a:solidFill>
            <a:prstDash val="solid"/>
            <a:round/>
            <a:headEnd len="sm" w="sm" type="none"/>
            <a:tailEnd len="sm" w="sm" type="none"/>
          </a:ln>
        </p:spPr>
      </p:cxnSp>
      <p:pic>
        <p:nvPicPr>
          <p:cNvPr descr="A blue person with one hand raised in front of a group of people&#10;&#10;Description automatically generated" id="181" name="Google Shape;181;p7"/>
          <p:cNvPicPr preferRelativeResize="0"/>
          <p:nvPr/>
        </p:nvPicPr>
        <p:blipFill rotWithShape="1">
          <a:blip r:embed="rId3">
            <a:alphaModFix/>
          </a:blip>
          <a:srcRect b="-1" l="22454" r="22694" t="0"/>
          <a:stretch/>
        </p:blipFill>
        <p:spPr>
          <a:xfrm>
            <a:off x="1024130" y="1600200"/>
            <a:ext cx="3972794" cy="4056040"/>
          </a:xfrm>
          <a:prstGeom prst="rect">
            <a:avLst/>
          </a:prstGeom>
          <a:noFill/>
          <a:ln>
            <a:noFill/>
          </a:ln>
        </p:spPr>
      </p:pic>
      <p:pic>
        <p:nvPicPr>
          <p:cNvPr descr="A gavel and scales of justice&#10;&#10;Description automatically generated" id="182" name="Google Shape;182;p7"/>
          <p:cNvPicPr preferRelativeResize="0"/>
          <p:nvPr/>
        </p:nvPicPr>
        <p:blipFill rotWithShape="1">
          <a:blip r:embed="rId4">
            <a:alphaModFix/>
          </a:blip>
          <a:srcRect b="2" l="2052" r="1" t="0"/>
          <a:stretch/>
        </p:blipFill>
        <p:spPr>
          <a:xfrm>
            <a:off x="4800604" y="0"/>
            <a:ext cx="7391396"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8"/>
          <p:cNvSpPr/>
          <p:nvPr/>
        </p:nvSpPr>
        <p:spPr>
          <a:xfrm>
            <a:off x="-10001" y="-2"/>
            <a:ext cx="4069936" cy="685800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8" name="Google Shape;188;p8"/>
          <p:cNvSpPr txBox="1"/>
          <p:nvPr>
            <p:ph type="title"/>
          </p:nvPr>
        </p:nvSpPr>
        <p:spPr>
          <a:xfrm>
            <a:off x="310039" y="640080"/>
            <a:ext cx="3429855" cy="561323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dk1"/>
              </a:buClr>
              <a:buSzPts val="5000"/>
              <a:buFont typeface="Twentieth Century"/>
              <a:buNone/>
            </a:pPr>
            <a:r>
              <a:rPr lang="en-US">
                <a:solidFill>
                  <a:schemeClr val="dk1"/>
                </a:solidFill>
              </a:rPr>
              <a:t>RUANG LINGKUP POLITIK ISLAM</a:t>
            </a:r>
            <a:endParaRPr>
              <a:solidFill>
                <a:schemeClr val="dk1"/>
              </a:solidFill>
            </a:endParaRPr>
          </a:p>
        </p:txBody>
      </p:sp>
      <p:sp>
        <p:nvSpPr>
          <p:cNvPr id="189" name="Google Shape;189;p8"/>
          <p:cNvSpPr txBox="1"/>
          <p:nvPr/>
        </p:nvSpPr>
        <p:spPr>
          <a:xfrm>
            <a:off x="228600" y="6040056"/>
            <a:ext cx="3563146" cy="738664"/>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‘Abd al-Wahab Khalaf, </a:t>
            </a:r>
            <a:r>
              <a:rPr i="1" lang="en-US" sz="1400">
                <a:solidFill>
                  <a:schemeClr val="dk1"/>
                </a:solidFill>
                <a:latin typeface="Twentieth Century"/>
                <a:ea typeface="Twentieth Century"/>
                <a:cs typeface="Twentieth Century"/>
                <a:sym typeface="Twentieth Century"/>
              </a:rPr>
              <a:t>al-Siyasah al-Syar’iyyah</a:t>
            </a:r>
            <a:r>
              <a:rPr lang="en-US" sz="1400">
                <a:solidFill>
                  <a:schemeClr val="dk1"/>
                </a:solidFill>
                <a:latin typeface="Twentieth Century"/>
                <a:ea typeface="Twentieth Century"/>
                <a:cs typeface="Twentieth Century"/>
                <a:sym typeface="Twentieth Century"/>
              </a:rPr>
              <a:t> (Kairo: al-Matba’ah al-Salafiyyah, 1350 H.), 25-141. </a:t>
            </a:r>
            <a:endParaRPr/>
          </a:p>
        </p:txBody>
      </p:sp>
      <p:grpSp>
        <p:nvGrpSpPr>
          <p:cNvPr id="190" name="Google Shape;190;p8"/>
          <p:cNvGrpSpPr/>
          <p:nvPr/>
        </p:nvGrpSpPr>
        <p:grpSpPr>
          <a:xfrm>
            <a:off x="4838130" y="381814"/>
            <a:ext cx="6782939" cy="6173029"/>
            <a:chOff x="342329" y="814"/>
            <a:chExt cx="6782939" cy="6173029"/>
          </a:xfrm>
        </p:grpSpPr>
        <p:sp>
          <p:nvSpPr>
            <p:cNvPr id="191" name="Google Shape;191;p8"/>
            <p:cNvSpPr/>
            <p:nvPr/>
          </p:nvSpPr>
          <p:spPr>
            <a:xfrm>
              <a:off x="4999825" y="2237151"/>
              <a:ext cx="277231" cy="2162408"/>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192" name="Google Shape;192;p8"/>
            <p:cNvSpPr/>
            <p:nvPr/>
          </p:nvSpPr>
          <p:spPr>
            <a:xfrm>
              <a:off x="4999825" y="2237151"/>
              <a:ext cx="277231" cy="850177"/>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193" name="Google Shape;193;p8"/>
            <p:cNvSpPr/>
            <p:nvPr/>
          </p:nvSpPr>
          <p:spPr>
            <a:xfrm>
              <a:off x="3502772" y="924920"/>
              <a:ext cx="2236337" cy="388124"/>
            </a:xfrm>
            <a:custGeom>
              <a:rect b="b" l="l" r="r" t="t"/>
              <a:pathLst>
                <a:path extrusionOk="0" h="120000" w="120000">
                  <a:moveTo>
                    <a:pt x="0" y="0"/>
                  </a:moveTo>
                  <a:lnTo>
                    <a:pt x="0" y="60000"/>
                  </a:lnTo>
                  <a:lnTo>
                    <a:pt x="120000" y="60000"/>
                  </a:lnTo>
                  <a:lnTo>
                    <a:pt x="120000" y="120000"/>
                  </a:lnTo>
                </a:path>
              </a:pathLst>
            </a:custGeom>
            <a:noFill/>
            <a:ln cap="flat" cmpd="sng" w="15875">
              <a:solidFill>
                <a:srgbClr val="3B8850"/>
              </a:solidFill>
              <a:prstDash val="solid"/>
              <a:round/>
              <a:headEnd len="sm" w="sm" type="none"/>
              <a:tailEnd len="sm" w="sm" type="none"/>
            </a:ln>
          </p:spPr>
        </p:sp>
        <p:sp>
          <p:nvSpPr>
            <p:cNvPr id="194" name="Google Shape;194;p8"/>
            <p:cNvSpPr/>
            <p:nvPr/>
          </p:nvSpPr>
          <p:spPr>
            <a:xfrm>
              <a:off x="2763487" y="2237151"/>
              <a:ext cx="277231" cy="3474639"/>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195" name="Google Shape;195;p8"/>
            <p:cNvSpPr/>
            <p:nvPr/>
          </p:nvSpPr>
          <p:spPr>
            <a:xfrm>
              <a:off x="2763487" y="2237151"/>
              <a:ext cx="277231" cy="2162408"/>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196" name="Google Shape;196;p8"/>
            <p:cNvSpPr/>
            <p:nvPr/>
          </p:nvSpPr>
          <p:spPr>
            <a:xfrm>
              <a:off x="2763487" y="2237151"/>
              <a:ext cx="277231" cy="850177"/>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197" name="Google Shape;197;p8"/>
            <p:cNvSpPr/>
            <p:nvPr/>
          </p:nvSpPr>
          <p:spPr>
            <a:xfrm>
              <a:off x="3457052" y="924920"/>
              <a:ext cx="91440" cy="388124"/>
            </a:xfrm>
            <a:custGeom>
              <a:rect b="b" l="l" r="r" t="t"/>
              <a:pathLst>
                <a:path extrusionOk="0" h="120000" w="120000">
                  <a:moveTo>
                    <a:pt x="60000" y="0"/>
                  </a:moveTo>
                  <a:lnTo>
                    <a:pt x="60000" y="120000"/>
                  </a:lnTo>
                </a:path>
              </a:pathLst>
            </a:custGeom>
            <a:noFill/>
            <a:ln cap="flat" cmpd="sng" w="15875">
              <a:solidFill>
                <a:srgbClr val="3B8850"/>
              </a:solidFill>
              <a:prstDash val="solid"/>
              <a:round/>
              <a:headEnd len="sm" w="sm" type="none"/>
              <a:tailEnd len="sm" w="sm" type="none"/>
            </a:ln>
          </p:spPr>
        </p:sp>
        <p:sp>
          <p:nvSpPr>
            <p:cNvPr id="198" name="Google Shape;198;p8"/>
            <p:cNvSpPr/>
            <p:nvPr/>
          </p:nvSpPr>
          <p:spPr>
            <a:xfrm>
              <a:off x="527150" y="2237151"/>
              <a:ext cx="277231" cy="3474639"/>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199" name="Google Shape;199;p8"/>
            <p:cNvSpPr/>
            <p:nvPr/>
          </p:nvSpPr>
          <p:spPr>
            <a:xfrm>
              <a:off x="527150" y="2237151"/>
              <a:ext cx="277231" cy="2162408"/>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200" name="Google Shape;200;p8"/>
            <p:cNvSpPr/>
            <p:nvPr/>
          </p:nvSpPr>
          <p:spPr>
            <a:xfrm>
              <a:off x="527150" y="2237151"/>
              <a:ext cx="277231" cy="850177"/>
            </a:xfrm>
            <a:custGeom>
              <a:rect b="b" l="l" r="r" t="t"/>
              <a:pathLst>
                <a:path extrusionOk="0" h="120000" w="120000">
                  <a:moveTo>
                    <a:pt x="0" y="0"/>
                  </a:moveTo>
                  <a:lnTo>
                    <a:pt x="0" y="120000"/>
                  </a:lnTo>
                  <a:lnTo>
                    <a:pt x="120000" y="120000"/>
                  </a:lnTo>
                </a:path>
              </a:pathLst>
            </a:custGeom>
            <a:noFill/>
            <a:ln cap="flat" cmpd="sng" w="15875">
              <a:solidFill>
                <a:srgbClr val="61A39F"/>
              </a:solidFill>
              <a:prstDash val="solid"/>
              <a:round/>
              <a:headEnd len="sm" w="sm" type="none"/>
              <a:tailEnd len="sm" w="sm" type="none"/>
            </a:ln>
          </p:spPr>
        </p:sp>
        <p:sp>
          <p:nvSpPr>
            <p:cNvPr id="201" name="Google Shape;201;p8"/>
            <p:cNvSpPr/>
            <p:nvPr/>
          </p:nvSpPr>
          <p:spPr>
            <a:xfrm>
              <a:off x="1266435" y="924920"/>
              <a:ext cx="2236337" cy="388124"/>
            </a:xfrm>
            <a:custGeom>
              <a:rect b="b" l="l" r="r" t="t"/>
              <a:pathLst>
                <a:path extrusionOk="0" h="120000" w="120000">
                  <a:moveTo>
                    <a:pt x="120000" y="0"/>
                  </a:moveTo>
                  <a:lnTo>
                    <a:pt x="120000" y="60000"/>
                  </a:lnTo>
                  <a:lnTo>
                    <a:pt x="0" y="60000"/>
                  </a:lnTo>
                  <a:lnTo>
                    <a:pt x="0" y="120000"/>
                  </a:lnTo>
                </a:path>
              </a:pathLst>
            </a:custGeom>
            <a:noFill/>
            <a:ln cap="flat" cmpd="sng" w="15875">
              <a:solidFill>
                <a:srgbClr val="3B8850"/>
              </a:solidFill>
              <a:prstDash val="solid"/>
              <a:round/>
              <a:headEnd len="sm" w="sm" type="none"/>
              <a:tailEnd len="sm" w="sm" type="none"/>
            </a:ln>
          </p:spPr>
        </p:sp>
        <p:sp>
          <p:nvSpPr>
            <p:cNvPr id="202" name="Google Shape;202;p8"/>
            <p:cNvSpPr/>
            <p:nvPr/>
          </p:nvSpPr>
          <p:spPr>
            <a:xfrm>
              <a:off x="2578666" y="814"/>
              <a:ext cx="1848212" cy="924106"/>
            </a:xfrm>
            <a:prstGeom prst="rect">
              <a:avLst/>
            </a:prstGeom>
            <a:solidFill>
              <a:srgbClr val="FF000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txBox="1"/>
            <p:nvPr/>
          </p:nvSpPr>
          <p:spPr>
            <a:xfrm>
              <a:off x="2578666" y="814"/>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Siyasah</a:t>
              </a:r>
              <a:endParaRPr sz="2300">
                <a:solidFill>
                  <a:schemeClr val="lt1"/>
                </a:solidFill>
                <a:latin typeface="Twentieth Century"/>
                <a:ea typeface="Twentieth Century"/>
                <a:cs typeface="Twentieth Century"/>
                <a:sym typeface="Twentieth Century"/>
              </a:endParaRPr>
            </a:p>
          </p:txBody>
        </p:sp>
        <p:sp>
          <p:nvSpPr>
            <p:cNvPr id="204" name="Google Shape;204;p8"/>
            <p:cNvSpPr/>
            <p:nvPr/>
          </p:nvSpPr>
          <p:spPr>
            <a:xfrm>
              <a:off x="342329" y="1313044"/>
              <a:ext cx="1848212" cy="924106"/>
            </a:xfrm>
            <a:prstGeom prst="rect">
              <a:avLst/>
            </a:prstGeom>
            <a:solidFill>
              <a:srgbClr val="92D05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txBox="1"/>
            <p:nvPr/>
          </p:nvSpPr>
          <p:spPr>
            <a:xfrm>
              <a:off x="342329" y="1313044"/>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i="1" lang="en-US" sz="2300">
                  <a:solidFill>
                    <a:schemeClr val="lt1"/>
                  </a:solidFill>
                  <a:latin typeface="Twentieth Century"/>
                  <a:ea typeface="Twentieth Century"/>
                  <a:cs typeface="Twentieth Century"/>
                  <a:sym typeface="Twentieth Century"/>
                </a:rPr>
                <a:t>Dusturiyyah</a:t>
              </a:r>
              <a:endParaRPr i="1" sz="2300">
                <a:solidFill>
                  <a:schemeClr val="lt1"/>
                </a:solidFill>
                <a:latin typeface="Twentieth Century"/>
                <a:ea typeface="Twentieth Century"/>
                <a:cs typeface="Twentieth Century"/>
                <a:sym typeface="Twentieth Century"/>
              </a:endParaRPr>
            </a:p>
          </p:txBody>
        </p:sp>
        <p:sp>
          <p:nvSpPr>
            <p:cNvPr id="206" name="Google Shape;206;p8"/>
            <p:cNvSpPr/>
            <p:nvPr/>
          </p:nvSpPr>
          <p:spPr>
            <a:xfrm>
              <a:off x="804382" y="2625275"/>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804382" y="2625275"/>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Prinsip-prinsip Pemerintahan</a:t>
              </a:r>
              <a:endParaRPr sz="2300">
                <a:solidFill>
                  <a:schemeClr val="lt1"/>
                </a:solidFill>
                <a:latin typeface="Twentieth Century"/>
                <a:ea typeface="Twentieth Century"/>
                <a:cs typeface="Twentieth Century"/>
                <a:sym typeface="Twentieth Century"/>
              </a:endParaRPr>
            </a:p>
          </p:txBody>
        </p:sp>
        <p:sp>
          <p:nvSpPr>
            <p:cNvPr id="208" name="Google Shape;208;p8"/>
            <p:cNvSpPr/>
            <p:nvPr/>
          </p:nvSpPr>
          <p:spPr>
            <a:xfrm>
              <a:off x="804382" y="3937506"/>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txBox="1"/>
            <p:nvPr/>
          </p:nvSpPr>
          <p:spPr>
            <a:xfrm>
              <a:off x="804382" y="3937506"/>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Hak-hak rakyat</a:t>
              </a:r>
              <a:endParaRPr sz="2300">
                <a:solidFill>
                  <a:schemeClr val="lt1"/>
                </a:solidFill>
                <a:latin typeface="Twentieth Century"/>
                <a:ea typeface="Twentieth Century"/>
                <a:cs typeface="Twentieth Century"/>
                <a:sym typeface="Twentieth Century"/>
              </a:endParaRPr>
            </a:p>
          </p:txBody>
        </p:sp>
        <p:sp>
          <p:nvSpPr>
            <p:cNvPr id="210" name="Google Shape;210;p8"/>
            <p:cNvSpPr/>
            <p:nvPr/>
          </p:nvSpPr>
          <p:spPr>
            <a:xfrm>
              <a:off x="804382" y="5249737"/>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txBox="1"/>
            <p:nvPr/>
          </p:nvSpPr>
          <p:spPr>
            <a:xfrm>
              <a:off x="804382" y="5249737"/>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Pembangian Kekuasaan</a:t>
              </a:r>
              <a:endParaRPr sz="2300">
                <a:solidFill>
                  <a:schemeClr val="lt1"/>
                </a:solidFill>
                <a:latin typeface="Twentieth Century"/>
                <a:ea typeface="Twentieth Century"/>
                <a:cs typeface="Twentieth Century"/>
                <a:sym typeface="Twentieth Century"/>
              </a:endParaRPr>
            </a:p>
          </p:txBody>
        </p:sp>
        <p:sp>
          <p:nvSpPr>
            <p:cNvPr id="212" name="Google Shape;212;p8"/>
            <p:cNvSpPr/>
            <p:nvPr/>
          </p:nvSpPr>
          <p:spPr>
            <a:xfrm>
              <a:off x="2578666" y="1313044"/>
              <a:ext cx="1848212" cy="924106"/>
            </a:xfrm>
            <a:prstGeom prst="rect">
              <a:avLst/>
            </a:prstGeom>
            <a:solidFill>
              <a:srgbClr val="92D05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txBox="1"/>
            <p:nvPr/>
          </p:nvSpPr>
          <p:spPr>
            <a:xfrm>
              <a:off x="2578666" y="1313044"/>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i="1" lang="en-US" sz="2300">
                  <a:solidFill>
                    <a:schemeClr val="lt1"/>
                  </a:solidFill>
                  <a:latin typeface="Twentieth Century"/>
                  <a:ea typeface="Twentieth Century"/>
                  <a:cs typeface="Twentieth Century"/>
                  <a:sym typeface="Twentieth Century"/>
                </a:rPr>
                <a:t>Kharijiyyah</a:t>
              </a:r>
              <a:endParaRPr i="1" sz="2300">
                <a:solidFill>
                  <a:schemeClr val="lt1"/>
                </a:solidFill>
                <a:latin typeface="Twentieth Century"/>
                <a:ea typeface="Twentieth Century"/>
                <a:cs typeface="Twentieth Century"/>
                <a:sym typeface="Twentieth Century"/>
              </a:endParaRPr>
            </a:p>
          </p:txBody>
        </p:sp>
        <p:sp>
          <p:nvSpPr>
            <p:cNvPr id="214" name="Google Shape;214;p8"/>
            <p:cNvSpPr/>
            <p:nvPr/>
          </p:nvSpPr>
          <p:spPr>
            <a:xfrm>
              <a:off x="3040719" y="2625275"/>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txBox="1"/>
            <p:nvPr/>
          </p:nvSpPr>
          <p:spPr>
            <a:xfrm>
              <a:off x="3040719" y="2625275"/>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Hubungan bilateral dan multilateral</a:t>
              </a:r>
              <a:endParaRPr sz="2300">
                <a:solidFill>
                  <a:schemeClr val="lt1"/>
                </a:solidFill>
                <a:latin typeface="Twentieth Century"/>
                <a:ea typeface="Twentieth Century"/>
                <a:cs typeface="Twentieth Century"/>
                <a:sym typeface="Twentieth Century"/>
              </a:endParaRPr>
            </a:p>
          </p:txBody>
        </p:sp>
        <p:sp>
          <p:nvSpPr>
            <p:cNvPr id="216" name="Google Shape;216;p8"/>
            <p:cNvSpPr/>
            <p:nvPr/>
          </p:nvSpPr>
          <p:spPr>
            <a:xfrm>
              <a:off x="3040719" y="3937506"/>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txBox="1"/>
            <p:nvPr/>
          </p:nvSpPr>
          <p:spPr>
            <a:xfrm>
              <a:off x="3040719" y="3937506"/>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Prinsip-Prinsip Pertahanan</a:t>
              </a:r>
              <a:endParaRPr sz="2300">
                <a:solidFill>
                  <a:schemeClr val="lt1"/>
                </a:solidFill>
                <a:latin typeface="Twentieth Century"/>
                <a:ea typeface="Twentieth Century"/>
                <a:cs typeface="Twentieth Century"/>
                <a:sym typeface="Twentieth Century"/>
              </a:endParaRPr>
            </a:p>
          </p:txBody>
        </p:sp>
        <p:sp>
          <p:nvSpPr>
            <p:cNvPr id="218" name="Google Shape;218;p8"/>
            <p:cNvSpPr/>
            <p:nvPr/>
          </p:nvSpPr>
          <p:spPr>
            <a:xfrm>
              <a:off x="3040719" y="5249737"/>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txBox="1"/>
            <p:nvPr/>
          </p:nvSpPr>
          <p:spPr>
            <a:xfrm>
              <a:off x="3040719" y="5249737"/>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Prinsip-Prinsip Perdamaian</a:t>
              </a:r>
              <a:endParaRPr sz="2300">
                <a:solidFill>
                  <a:schemeClr val="lt1"/>
                </a:solidFill>
                <a:latin typeface="Twentieth Century"/>
                <a:ea typeface="Twentieth Century"/>
                <a:cs typeface="Twentieth Century"/>
                <a:sym typeface="Twentieth Century"/>
              </a:endParaRPr>
            </a:p>
          </p:txBody>
        </p:sp>
        <p:sp>
          <p:nvSpPr>
            <p:cNvPr id="220" name="Google Shape;220;p8"/>
            <p:cNvSpPr/>
            <p:nvPr/>
          </p:nvSpPr>
          <p:spPr>
            <a:xfrm>
              <a:off x="4815003" y="1313044"/>
              <a:ext cx="1848212" cy="924106"/>
            </a:xfrm>
            <a:prstGeom prst="rect">
              <a:avLst/>
            </a:prstGeom>
            <a:solidFill>
              <a:srgbClr val="92D05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txBox="1"/>
            <p:nvPr/>
          </p:nvSpPr>
          <p:spPr>
            <a:xfrm>
              <a:off x="4815003" y="1313044"/>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i="1" lang="en-US" sz="2300">
                  <a:solidFill>
                    <a:schemeClr val="lt1"/>
                  </a:solidFill>
                  <a:latin typeface="Twentieth Century"/>
                  <a:ea typeface="Twentieth Century"/>
                  <a:cs typeface="Twentieth Century"/>
                  <a:sym typeface="Twentieth Century"/>
                </a:rPr>
                <a:t>Maliyyah</a:t>
              </a:r>
              <a:endParaRPr i="1" sz="2300">
                <a:solidFill>
                  <a:schemeClr val="lt1"/>
                </a:solidFill>
                <a:latin typeface="Twentieth Century"/>
                <a:ea typeface="Twentieth Century"/>
                <a:cs typeface="Twentieth Century"/>
                <a:sym typeface="Twentieth Century"/>
              </a:endParaRPr>
            </a:p>
          </p:txBody>
        </p:sp>
        <p:sp>
          <p:nvSpPr>
            <p:cNvPr id="222" name="Google Shape;222;p8"/>
            <p:cNvSpPr/>
            <p:nvPr/>
          </p:nvSpPr>
          <p:spPr>
            <a:xfrm>
              <a:off x="5277056" y="2625275"/>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txBox="1"/>
            <p:nvPr/>
          </p:nvSpPr>
          <p:spPr>
            <a:xfrm>
              <a:off x="5277056" y="2625275"/>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Sumber devisa</a:t>
              </a:r>
              <a:endParaRPr sz="2300">
                <a:solidFill>
                  <a:schemeClr val="lt1"/>
                </a:solidFill>
                <a:latin typeface="Twentieth Century"/>
                <a:ea typeface="Twentieth Century"/>
                <a:cs typeface="Twentieth Century"/>
                <a:sym typeface="Twentieth Century"/>
              </a:endParaRPr>
            </a:p>
          </p:txBody>
        </p:sp>
        <p:sp>
          <p:nvSpPr>
            <p:cNvPr id="224" name="Google Shape;224;p8"/>
            <p:cNvSpPr/>
            <p:nvPr/>
          </p:nvSpPr>
          <p:spPr>
            <a:xfrm>
              <a:off x="5277056" y="3937506"/>
              <a:ext cx="1848212" cy="924106"/>
            </a:xfrm>
            <a:prstGeom prst="rect">
              <a:avLst/>
            </a:prstGeom>
            <a:solidFill>
              <a:srgbClr val="7F7F7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txBox="1"/>
            <p:nvPr/>
          </p:nvSpPr>
          <p:spPr>
            <a:xfrm>
              <a:off x="5277056" y="3937506"/>
              <a:ext cx="1848212" cy="924106"/>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Twentieth Century"/>
                <a:buNone/>
              </a:pPr>
              <a:r>
                <a:rPr lang="en-US" sz="2300">
                  <a:solidFill>
                    <a:schemeClr val="lt1"/>
                  </a:solidFill>
                  <a:latin typeface="Twentieth Century"/>
                  <a:ea typeface="Twentieth Century"/>
                  <a:cs typeface="Twentieth Century"/>
                  <a:sym typeface="Twentieth Century"/>
                </a:rPr>
                <a:t>Sasaran Belanja</a:t>
              </a:r>
              <a:endParaRPr sz="2300">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9"/>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31" name="Google Shape;231;p9"/>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32" name="Google Shape;232;p9"/>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33" name="Google Shape;233;p9"/>
          <p:cNvSpPr/>
          <p:nvPr/>
        </p:nvSpPr>
        <p:spPr>
          <a:xfrm flipH="1">
            <a:off x="3274"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34" name="Google Shape;234;p9"/>
          <p:cNvSpPr txBox="1"/>
          <p:nvPr>
            <p:ph type="title"/>
          </p:nvPr>
        </p:nvSpPr>
        <p:spPr>
          <a:xfrm>
            <a:off x="5258134" y="640080"/>
            <a:ext cx="6293689" cy="3652405"/>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rgbClr val="262626"/>
              </a:buClr>
              <a:buSzPts val="5000"/>
              <a:buFont typeface="Twentieth Century"/>
              <a:buNone/>
            </a:pPr>
            <a:r>
              <a:rPr lang="en-US" cap="none">
                <a:solidFill>
                  <a:srgbClr val="262626"/>
                </a:solidFill>
                <a:latin typeface="Twentieth Century"/>
                <a:ea typeface="Twentieth Century"/>
                <a:cs typeface="Twentieth Century"/>
                <a:sym typeface="Twentieth Century"/>
              </a:rPr>
              <a:t>ISLAM </a:t>
            </a:r>
            <a:br>
              <a:rPr lang="en-US" cap="none">
                <a:solidFill>
                  <a:srgbClr val="262626"/>
                </a:solidFill>
                <a:latin typeface="Twentieth Century"/>
                <a:ea typeface="Twentieth Century"/>
                <a:cs typeface="Twentieth Century"/>
                <a:sym typeface="Twentieth Century"/>
              </a:rPr>
            </a:br>
            <a:r>
              <a:rPr lang="en-US" cap="none">
                <a:solidFill>
                  <a:srgbClr val="262626"/>
                </a:solidFill>
                <a:latin typeface="Twentieth Century"/>
                <a:ea typeface="Twentieth Century"/>
                <a:cs typeface="Twentieth Century"/>
                <a:sym typeface="Twentieth Century"/>
              </a:rPr>
              <a:t>DAN ISU-ISU </a:t>
            </a:r>
            <a:r>
              <a:rPr lang="en-US">
                <a:solidFill>
                  <a:srgbClr val="262626"/>
                </a:solidFill>
              </a:rPr>
              <a:t>POLITIK </a:t>
            </a:r>
            <a:r>
              <a:rPr lang="en-US" cap="none">
                <a:solidFill>
                  <a:srgbClr val="262626"/>
                </a:solidFill>
                <a:latin typeface="Twentieth Century"/>
                <a:ea typeface="Twentieth Century"/>
                <a:cs typeface="Twentieth Century"/>
                <a:sym typeface="Twentieth Century"/>
              </a:rPr>
              <a:t>KONTEMPORER</a:t>
            </a:r>
            <a:endParaRPr cap="none">
              <a:solidFill>
                <a:srgbClr val="262626"/>
              </a:solidFill>
              <a:latin typeface="Twentieth Century"/>
              <a:ea typeface="Twentieth Century"/>
              <a:cs typeface="Twentieth Century"/>
              <a:sym typeface="Twentieth Century"/>
            </a:endParaRPr>
          </a:p>
        </p:txBody>
      </p:sp>
      <p:pic>
        <p:nvPicPr>
          <p:cNvPr descr="A group of people sitting in a room&#10;&#10;Description automatically generated" id="235" name="Google Shape;235;p9"/>
          <p:cNvPicPr preferRelativeResize="0"/>
          <p:nvPr/>
        </p:nvPicPr>
        <p:blipFill rotWithShape="1">
          <a:blip r:embed="rId3">
            <a:alphaModFix/>
          </a:blip>
          <a:srcRect b="-1" l="21470" r="13407" t="0"/>
          <a:stretch/>
        </p:blipFill>
        <p:spPr>
          <a:xfrm>
            <a:off x="633999" y="1378946"/>
            <a:ext cx="3993942" cy="4081281"/>
          </a:xfrm>
          <a:prstGeom prst="rect">
            <a:avLst/>
          </a:prstGeom>
          <a:noFill/>
          <a:ln>
            <a:noFill/>
          </a:ln>
        </p:spPr>
      </p:pic>
      <p:cxnSp>
        <p:nvCxnSpPr>
          <p:cNvPr id="236" name="Google Shape;236;p9"/>
          <p:cNvCxnSpPr/>
          <p:nvPr/>
        </p:nvCxnSpPr>
        <p:spPr>
          <a:xfrm>
            <a:off x="5309640" y="4388141"/>
            <a:ext cx="5852160" cy="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1"/>
          <p:cNvSpPr txBox="1"/>
          <p:nvPr>
            <p:ph type="title"/>
          </p:nvPr>
        </p:nvSpPr>
        <p:spPr>
          <a:xfrm>
            <a:off x="914400" y="585216"/>
            <a:ext cx="8667750" cy="149296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KONSEP NEGARA MENURUT ISLAM</a:t>
            </a:r>
            <a:endParaRPr/>
          </a:p>
        </p:txBody>
      </p:sp>
      <p:sp>
        <p:nvSpPr>
          <p:cNvPr id="242" name="Google Shape;242;p11"/>
          <p:cNvSpPr txBox="1"/>
          <p:nvPr>
            <p:ph idx="1" type="body"/>
          </p:nvPr>
        </p:nvSpPr>
        <p:spPr>
          <a:xfrm>
            <a:off x="914400" y="4191000"/>
            <a:ext cx="10287000" cy="198120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Char char=" "/>
            </a:pPr>
            <a:r>
              <a:rPr lang="en-US"/>
              <a:t>Negara dalam Islam bersifat </a:t>
            </a:r>
            <a:r>
              <a:rPr b="1" lang="en-US">
                <a:solidFill>
                  <a:srgbClr val="FF0000"/>
                </a:solidFill>
              </a:rPr>
              <a:t>kerakyatan</a:t>
            </a:r>
            <a:r>
              <a:rPr lang="en-US"/>
              <a:t> yang berlandaskan </a:t>
            </a:r>
            <a:r>
              <a:rPr b="1" lang="en-US">
                <a:solidFill>
                  <a:srgbClr val="00B050"/>
                </a:solidFill>
              </a:rPr>
              <a:t>syariat Islam</a:t>
            </a:r>
            <a:r>
              <a:rPr lang="en-US"/>
              <a:t>. Negara ini berdiri di atas prinsip musyawarah, </a:t>
            </a:r>
            <a:r>
              <a:rPr i="1" lang="en-US"/>
              <a:t>bai’at</a:t>
            </a:r>
            <a:r>
              <a:rPr lang="en-US"/>
              <a:t> (pelantikan oleh rakyat), memilih pemimpin oleh rakyat secara bebas, nasehat dan kontrol terhadap pemerintah, membantu pemerintah dalam kebaikan, menolak taat kepada pemerintah jika memerintah maksiat, meluruskan pemerintah dengan jalan yang paling baik, serta hak rakyat untuk menurunkan pemerintah jika menyimpang. </a:t>
            </a:r>
            <a:endParaRPr/>
          </a:p>
        </p:txBody>
      </p:sp>
      <p:pic>
        <p:nvPicPr>
          <p:cNvPr id="243" name="Google Shape;243;p11"/>
          <p:cNvPicPr preferRelativeResize="0"/>
          <p:nvPr/>
        </p:nvPicPr>
        <p:blipFill rotWithShape="1">
          <a:blip r:embed="rId3">
            <a:alphaModFix/>
          </a:blip>
          <a:srcRect b="0" l="0" r="0" t="0"/>
          <a:stretch/>
        </p:blipFill>
        <p:spPr>
          <a:xfrm>
            <a:off x="914400" y="1676400"/>
            <a:ext cx="10287000" cy="2514600"/>
          </a:xfrm>
          <a:prstGeom prst="rect">
            <a:avLst/>
          </a:prstGeom>
          <a:noFill/>
          <a:ln>
            <a:noFill/>
          </a:ln>
        </p:spPr>
      </p:pic>
      <p:sp>
        <p:nvSpPr>
          <p:cNvPr id="244" name="Google Shape;244;p11"/>
          <p:cNvSpPr txBox="1"/>
          <p:nvPr/>
        </p:nvSpPr>
        <p:spPr>
          <a:xfrm>
            <a:off x="5867400" y="6142703"/>
            <a:ext cx="5331542" cy="307777"/>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Yusuf al-Qaradhawi, </a:t>
            </a:r>
            <a:r>
              <a:rPr i="1" lang="en-US" sz="1400">
                <a:solidFill>
                  <a:schemeClr val="dk1"/>
                </a:solidFill>
                <a:latin typeface="Twentieth Century"/>
                <a:ea typeface="Twentieth Century"/>
                <a:cs typeface="Twentieth Century"/>
                <a:sym typeface="Twentieth Century"/>
              </a:rPr>
              <a:t>al-Din wa al-Siyasah </a:t>
            </a:r>
            <a:r>
              <a:rPr lang="en-US" sz="1400">
                <a:solidFill>
                  <a:schemeClr val="dk1"/>
                </a:solidFill>
                <a:latin typeface="Twentieth Century"/>
                <a:ea typeface="Twentieth Century"/>
                <a:cs typeface="Twentieth Century"/>
                <a:sym typeface="Twentieth Century"/>
              </a:rPr>
              <a:t>(Kairo: Dar al-Syuruq, 2006).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dk1"/>
              </a:buClr>
              <a:buSzPts val="5000"/>
              <a:buFont typeface="Twentieth Century"/>
              <a:buNone/>
            </a:pPr>
            <a:r>
              <a:rPr lang="en-US">
                <a:solidFill>
                  <a:schemeClr val="dk1"/>
                </a:solidFill>
              </a:rPr>
              <a:t>1. DISKURSUS ISLAM DAN BENTUK NEGARA</a:t>
            </a:r>
            <a:endParaRPr/>
          </a:p>
        </p:txBody>
      </p:sp>
      <p:grpSp>
        <p:nvGrpSpPr>
          <p:cNvPr id="250" name="Google Shape;250;p10"/>
          <p:cNvGrpSpPr/>
          <p:nvPr/>
        </p:nvGrpSpPr>
        <p:grpSpPr>
          <a:xfrm>
            <a:off x="767208" y="2023756"/>
            <a:ext cx="10657582" cy="3877287"/>
            <a:chOff x="5208" y="118756"/>
            <a:chExt cx="10657582" cy="3877287"/>
          </a:xfrm>
        </p:grpSpPr>
        <p:sp>
          <p:nvSpPr>
            <p:cNvPr id="251" name="Google Shape;251;p10"/>
            <p:cNvSpPr/>
            <p:nvPr/>
          </p:nvSpPr>
          <p:spPr>
            <a:xfrm>
              <a:off x="5208" y="293088"/>
              <a:ext cx="2664395" cy="6973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txBox="1"/>
            <p:nvPr/>
          </p:nvSpPr>
          <p:spPr>
            <a:xfrm>
              <a:off x="5208" y="293088"/>
              <a:ext cx="2664395" cy="697331"/>
            </a:xfrm>
            <a:prstGeom prst="rect">
              <a:avLst/>
            </a:prstGeom>
            <a:noFill/>
            <a:ln>
              <a:noFill/>
            </a:ln>
          </p:spPr>
          <p:txBody>
            <a:bodyPr anchorCtr="0" anchor="ctr" bIns="58400" lIns="163575" spcFirstLastPara="1" rIns="163575" wrap="square" tIns="58400">
              <a:noAutofit/>
            </a:bodyPr>
            <a:lstStyle/>
            <a:p>
              <a:pPr indent="0" lvl="0" marL="0" marR="0" rtl="0" algn="r">
                <a:lnSpc>
                  <a:spcPct val="90000"/>
                </a:lnSpc>
                <a:spcBef>
                  <a:spcPts val="0"/>
                </a:spcBef>
                <a:spcAft>
                  <a:spcPts val="0"/>
                </a:spcAft>
                <a:buClr>
                  <a:schemeClr val="dk1"/>
                </a:buClr>
                <a:buSzPts val="2300"/>
                <a:buFont typeface="Twentieth Century"/>
                <a:buNone/>
              </a:pPr>
              <a:r>
                <a:rPr lang="en-US" sz="2300">
                  <a:solidFill>
                    <a:schemeClr val="dk1"/>
                  </a:solidFill>
                  <a:latin typeface="Twentieth Century"/>
                  <a:ea typeface="Twentieth Century"/>
                  <a:cs typeface="Twentieth Century"/>
                  <a:sym typeface="Twentieth Century"/>
                </a:rPr>
                <a:t>Pandangan Fundamentalis</a:t>
              </a:r>
              <a:endParaRPr sz="2300">
                <a:solidFill>
                  <a:schemeClr val="dk1"/>
                </a:solidFill>
                <a:latin typeface="Twentieth Century"/>
                <a:ea typeface="Twentieth Century"/>
                <a:cs typeface="Twentieth Century"/>
                <a:sym typeface="Twentieth Century"/>
              </a:endParaRPr>
            </a:p>
          </p:txBody>
        </p:sp>
        <p:sp>
          <p:nvSpPr>
            <p:cNvPr id="253" name="Google Shape;253;p10"/>
            <p:cNvSpPr/>
            <p:nvPr/>
          </p:nvSpPr>
          <p:spPr>
            <a:xfrm>
              <a:off x="2669604" y="118756"/>
              <a:ext cx="532879" cy="1045996"/>
            </a:xfrm>
            <a:prstGeom prst="leftBrace">
              <a:avLst>
                <a:gd fmla="val 35000" name="adj1"/>
                <a:gd fmla="val 50000" name="adj2"/>
              </a:avLst>
            </a:prstGeom>
            <a:noFill/>
            <a:ln cap="flat" cmpd="sng" w="15875">
              <a:solidFill>
                <a:srgbClr val="19A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3415635" y="118756"/>
              <a:ext cx="7247155" cy="1045996"/>
            </a:xfrm>
            <a:prstGeom prst="rect">
              <a:avLst/>
            </a:prstGeom>
            <a:solidFill>
              <a:srgbClr val="7F7F7F"/>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txBox="1"/>
            <p:nvPr/>
          </p:nvSpPr>
          <p:spPr>
            <a:xfrm>
              <a:off x="3415635" y="118756"/>
              <a:ext cx="7247155" cy="1045996"/>
            </a:xfrm>
            <a:prstGeom prst="rect">
              <a:avLst/>
            </a:prstGeom>
            <a:noFill/>
            <a:ln>
              <a:noFill/>
            </a:ln>
          </p:spPr>
          <p:txBody>
            <a:bodyPr anchorCtr="0" anchor="ctr" bIns="87625" lIns="87625" spcFirstLastPara="1" rIns="87625" wrap="square" tIns="87625">
              <a:noAutofit/>
            </a:bodyPr>
            <a:lstStyle/>
            <a:p>
              <a:pPr indent="-228600" lvl="1" marL="228600" marR="0" rtl="0" algn="l">
                <a:lnSpc>
                  <a:spcPct val="90000"/>
                </a:lnSpc>
                <a:spcBef>
                  <a:spcPts val="0"/>
                </a:spcBef>
                <a:spcAft>
                  <a:spcPts val="0"/>
                </a:spcAft>
                <a:buClr>
                  <a:schemeClr val="lt1"/>
                </a:buClr>
                <a:buSzPts val="2300"/>
                <a:buFont typeface="Twentieth Century"/>
                <a:buChar char="•"/>
              </a:pPr>
              <a:r>
                <a:rPr b="0" i="0" lang="en-US" sz="2300" u="none" cap="none" strike="noStrike">
                  <a:solidFill>
                    <a:schemeClr val="lt1"/>
                  </a:solidFill>
                  <a:latin typeface="Twentieth Century"/>
                  <a:ea typeface="Twentieth Century"/>
                  <a:cs typeface="Twentieth Century"/>
                  <a:sym typeface="Twentieth Century"/>
                </a:rPr>
                <a:t>Mendirikan sebuah negara Islam adalah wajib dan harus berdasar konstruk negara Islam (</a:t>
              </a:r>
              <a:r>
                <a:rPr b="0" i="1" lang="en-US" sz="2300" u="none" cap="none" strike="noStrike">
                  <a:solidFill>
                    <a:schemeClr val="lt1"/>
                  </a:solidFill>
                  <a:latin typeface="Twentieth Century"/>
                  <a:ea typeface="Twentieth Century"/>
                  <a:cs typeface="Twentieth Century"/>
                  <a:sym typeface="Twentieth Century"/>
                </a:rPr>
                <a:t>khilafah</a:t>
              </a:r>
              <a:r>
                <a:rPr b="0" i="0" lang="en-US" sz="2300" u="none" cap="none" strike="noStrike">
                  <a:solidFill>
                    <a:schemeClr val="lt1"/>
                  </a:solidFill>
                  <a:latin typeface="Twentieth Century"/>
                  <a:ea typeface="Twentieth Century"/>
                  <a:cs typeface="Twentieth Century"/>
                  <a:sym typeface="Twentieth Century"/>
                </a:rPr>
                <a:t>) secara ‘blue print’. </a:t>
              </a:r>
              <a:endParaRPr/>
            </a:p>
          </p:txBody>
        </p:sp>
        <p:sp>
          <p:nvSpPr>
            <p:cNvPr id="256" name="Google Shape;256;p10"/>
            <p:cNvSpPr/>
            <p:nvPr/>
          </p:nvSpPr>
          <p:spPr>
            <a:xfrm>
              <a:off x="5208" y="1546409"/>
              <a:ext cx="2664395" cy="45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txBox="1"/>
            <p:nvPr/>
          </p:nvSpPr>
          <p:spPr>
            <a:xfrm>
              <a:off x="5208" y="1546409"/>
              <a:ext cx="2664395" cy="455400"/>
            </a:xfrm>
            <a:prstGeom prst="rect">
              <a:avLst/>
            </a:prstGeom>
            <a:noFill/>
            <a:ln>
              <a:noFill/>
            </a:ln>
          </p:spPr>
          <p:txBody>
            <a:bodyPr anchorCtr="0" anchor="ctr" bIns="58400" lIns="163575" spcFirstLastPara="1" rIns="163575" wrap="square" tIns="58400">
              <a:noAutofit/>
            </a:bodyPr>
            <a:lstStyle/>
            <a:p>
              <a:pPr indent="0" lvl="0" marL="0" marR="0" rtl="0" algn="r">
                <a:lnSpc>
                  <a:spcPct val="90000"/>
                </a:lnSpc>
                <a:spcBef>
                  <a:spcPts val="0"/>
                </a:spcBef>
                <a:spcAft>
                  <a:spcPts val="0"/>
                </a:spcAft>
                <a:buClr>
                  <a:schemeClr val="dk1"/>
                </a:buClr>
                <a:buSzPts val="2300"/>
                <a:buFont typeface="Twentieth Century"/>
                <a:buNone/>
              </a:pPr>
              <a:r>
                <a:rPr lang="en-US" sz="2300">
                  <a:solidFill>
                    <a:schemeClr val="dk1"/>
                  </a:solidFill>
                  <a:latin typeface="Twentieth Century"/>
                  <a:ea typeface="Twentieth Century"/>
                  <a:cs typeface="Twentieth Century"/>
                  <a:sym typeface="Twentieth Century"/>
                </a:rPr>
                <a:t>Pandangan Sekuler</a:t>
              </a:r>
              <a:endParaRPr sz="2300">
                <a:solidFill>
                  <a:schemeClr val="dk1"/>
                </a:solidFill>
                <a:latin typeface="Twentieth Century"/>
                <a:ea typeface="Twentieth Century"/>
                <a:cs typeface="Twentieth Century"/>
                <a:sym typeface="Twentieth Century"/>
              </a:endParaRPr>
            </a:p>
          </p:txBody>
        </p:sp>
        <p:sp>
          <p:nvSpPr>
            <p:cNvPr id="258" name="Google Shape;258;p10"/>
            <p:cNvSpPr/>
            <p:nvPr/>
          </p:nvSpPr>
          <p:spPr>
            <a:xfrm>
              <a:off x="2669604" y="1247552"/>
              <a:ext cx="532879" cy="1053112"/>
            </a:xfrm>
            <a:prstGeom prst="leftBrace">
              <a:avLst>
                <a:gd fmla="val 35000" name="adj1"/>
                <a:gd fmla="val 50000" name="adj2"/>
              </a:avLst>
            </a:prstGeom>
            <a:noFill/>
            <a:ln cap="flat" cmpd="sng" w="15875">
              <a:solidFill>
                <a:srgbClr val="19A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3415635" y="1247552"/>
              <a:ext cx="7247155" cy="1053112"/>
            </a:xfrm>
            <a:prstGeom prst="rect">
              <a:avLst/>
            </a:prstGeom>
            <a:solidFill>
              <a:srgbClr val="FFC0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txBox="1"/>
            <p:nvPr/>
          </p:nvSpPr>
          <p:spPr>
            <a:xfrm>
              <a:off x="3415635" y="1247552"/>
              <a:ext cx="7247155" cy="1053112"/>
            </a:xfrm>
            <a:prstGeom prst="rect">
              <a:avLst/>
            </a:prstGeom>
            <a:noFill/>
            <a:ln>
              <a:noFill/>
            </a:ln>
          </p:spPr>
          <p:txBody>
            <a:bodyPr anchorCtr="0" anchor="ctr" bIns="87625" lIns="87625" spcFirstLastPara="1" rIns="87625" wrap="square" tIns="87625">
              <a:noAutofit/>
            </a:bodyPr>
            <a:lstStyle/>
            <a:p>
              <a:pPr indent="-228600" lvl="1" marL="228600" marR="0" rtl="0" algn="l">
                <a:lnSpc>
                  <a:spcPct val="90000"/>
                </a:lnSpc>
                <a:spcBef>
                  <a:spcPts val="0"/>
                </a:spcBef>
                <a:spcAft>
                  <a:spcPts val="0"/>
                </a:spcAft>
                <a:buClr>
                  <a:schemeClr val="lt1"/>
                </a:buClr>
                <a:buSzPts val="2300"/>
                <a:buFont typeface="Twentieth Century"/>
                <a:buChar char="•"/>
              </a:pPr>
              <a:r>
                <a:rPr b="0" i="0" lang="en-US" sz="2300" u="none" cap="none" strike="noStrike">
                  <a:solidFill>
                    <a:schemeClr val="lt1"/>
                  </a:solidFill>
                  <a:latin typeface="Twentieth Century"/>
                  <a:ea typeface="Twentieth Century"/>
                  <a:cs typeface="Twentieth Century"/>
                  <a:sym typeface="Twentieth Century"/>
                </a:rPr>
                <a:t>Agama, termasuk islam, harus dipisahkan dari urusan negara, karena yang pertama bersifat sakral dan ‘ajeg’ sementara yang kedua bersifat profan dan dinamis.</a:t>
              </a:r>
              <a:endParaRPr/>
            </a:p>
          </p:txBody>
        </p:sp>
        <p:sp>
          <p:nvSpPr>
            <p:cNvPr id="261" name="Google Shape;261;p10"/>
            <p:cNvSpPr/>
            <p:nvPr/>
          </p:nvSpPr>
          <p:spPr>
            <a:xfrm>
              <a:off x="5208" y="2841089"/>
              <a:ext cx="2664395" cy="69733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txBox="1"/>
            <p:nvPr/>
          </p:nvSpPr>
          <p:spPr>
            <a:xfrm>
              <a:off x="5208" y="2841089"/>
              <a:ext cx="2664395" cy="697331"/>
            </a:xfrm>
            <a:prstGeom prst="rect">
              <a:avLst/>
            </a:prstGeom>
            <a:noFill/>
            <a:ln>
              <a:noFill/>
            </a:ln>
          </p:spPr>
          <p:txBody>
            <a:bodyPr anchorCtr="0" anchor="ctr" bIns="58400" lIns="163575" spcFirstLastPara="1" rIns="163575" wrap="square" tIns="58400">
              <a:noAutofit/>
            </a:bodyPr>
            <a:lstStyle/>
            <a:p>
              <a:pPr indent="0" lvl="0" marL="0" marR="0" rtl="0" algn="r">
                <a:lnSpc>
                  <a:spcPct val="90000"/>
                </a:lnSpc>
                <a:spcBef>
                  <a:spcPts val="0"/>
                </a:spcBef>
                <a:spcAft>
                  <a:spcPts val="0"/>
                </a:spcAft>
                <a:buClr>
                  <a:schemeClr val="dk1"/>
                </a:buClr>
                <a:buSzPts val="2300"/>
                <a:buFont typeface="Twentieth Century"/>
                <a:buNone/>
              </a:pPr>
              <a:r>
                <a:rPr lang="en-US" sz="2300">
                  <a:solidFill>
                    <a:schemeClr val="dk1"/>
                  </a:solidFill>
                  <a:latin typeface="Twentieth Century"/>
                  <a:ea typeface="Twentieth Century"/>
                  <a:cs typeface="Twentieth Century"/>
                  <a:sym typeface="Twentieth Century"/>
                </a:rPr>
                <a:t>Pandangan Moderat</a:t>
              </a:r>
              <a:endParaRPr sz="2300">
                <a:solidFill>
                  <a:schemeClr val="dk1"/>
                </a:solidFill>
                <a:latin typeface="Twentieth Century"/>
                <a:ea typeface="Twentieth Century"/>
                <a:cs typeface="Twentieth Century"/>
                <a:sym typeface="Twentieth Century"/>
              </a:endParaRPr>
            </a:p>
          </p:txBody>
        </p:sp>
        <p:sp>
          <p:nvSpPr>
            <p:cNvPr id="263" name="Google Shape;263;p10"/>
            <p:cNvSpPr/>
            <p:nvPr/>
          </p:nvSpPr>
          <p:spPr>
            <a:xfrm>
              <a:off x="2669604" y="2383465"/>
              <a:ext cx="532879" cy="1612578"/>
            </a:xfrm>
            <a:prstGeom prst="leftBrace">
              <a:avLst>
                <a:gd fmla="val 35000" name="adj1"/>
                <a:gd fmla="val 50000" name="adj2"/>
              </a:avLst>
            </a:prstGeom>
            <a:noFill/>
            <a:ln cap="flat" cmpd="sng" w="15875">
              <a:solidFill>
                <a:srgbClr val="19AC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3415635" y="2383465"/>
              <a:ext cx="7247155" cy="1612578"/>
            </a:xfrm>
            <a:prstGeom prst="rect">
              <a:avLst/>
            </a:prstGeom>
            <a:solidFill>
              <a:srgbClr val="92D05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txBox="1"/>
            <p:nvPr/>
          </p:nvSpPr>
          <p:spPr>
            <a:xfrm>
              <a:off x="3415635" y="2383465"/>
              <a:ext cx="7247155" cy="1612578"/>
            </a:xfrm>
            <a:prstGeom prst="rect">
              <a:avLst/>
            </a:prstGeom>
            <a:noFill/>
            <a:ln>
              <a:noFill/>
            </a:ln>
          </p:spPr>
          <p:txBody>
            <a:bodyPr anchorCtr="0" anchor="ctr" bIns="87625" lIns="87625" spcFirstLastPara="1" rIns="87625" wrap="square" tIns="87625">
              <a:noAutofit/>
            </a:bodyPr>
            <a:lstStyle/>
            <a:p>
              <a:pPr indent="-228600" lvl="1" marL="228600" marR="0" rtl="0" algn="l">
                <a:lnSpc>
                  <a:spcPct val="90000"/>
                </a:lnSpc>
                <a:spcBef>
                  <a:spcPts val="0"/>
                </a:spcBef>
                <a:spcAft>
                  <a:spcPts val="0"/>
                </a:spcAft>
                <a:buClr>
                  <a:schemeClr val="lt1"/>
                </a:buClr>
                <a:buSzPts val="2300"/>
                <a:buFont typeface="Twentieth Century"/>
                <a:buChar char="•"/>
              </a:pPr>
              <a:r>
                <a:rPr b="0" i="0" lang="en-US" sz="2300" u="none" cap="none" strike="noStrike">
                  <a:solidFill>
                    <a:schemeClr val="lt1"/>
                  </a:solidFill>
                  <a:latin typeface="Twentieth Century"/>
                  <a:ea typeface="Twentieth Century"/>
                  <a:cs typeface="Twentieth Century"/>
                  <a:sym typeface="Twentieth Century"/>
                </a:rPr>
                <a:t>Islam berkaitan erat dengan politk, karena sumber ajaranya banyak menjelaskan tentang tentang prinsip-prinsip berpolitik dan bernegara. Adapun detail permasalahan dan implementasinya, diserahkan kepada umat Islam untuk dikembangkan secara kontekstual. </a:t>
              </a:r>
              <a:endParaRPr/>
            </a:p>
          </p:txBody>
        </p:sp>
      </p:grpSp>
      <p:sp>
        <p:nvSpPr>
          <p:cNvPr id="266" name="Google Shape;266;p10"/>
          <p:cNvSpPr txBox="1"/>
          <p:nvPr/>
        </p:nvSpPr>
        <p:spPr>
          <a:xfrm>
            <a:off x="5486400" y="6096000"/>
            <a:ext cx="5936226" cy="307777"/>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Yusuf al-Qaradhawi, </a:t>
            </a:r>
            <a:r>
              <a:rPr i="1" lang="en-US" sz="1400">
                <a:solidFill>
                  <a:schemeClr val="dk1"/>
                </a:solidFill>
                <a:latin typeface="Twentieth Century"/>
                <a:ea typeface="Twentieth Century"/>
                <a:cs typeface="Twentieth Century"/>
                <a:sym typeface="Twentieth Century"/>
              </a:rPr>
              <a:t>min Fiqh al-Daulah fi al-Islam </a:t>
            </a:r>
            <a:r>
              <a:rPr lang="en-US" sz="1400">
                <a:solidFill>
                  <a:schemeClr val="dk1"/>
                </a:solidFill>
                <a:latin typeface="Twentieth Century"/>
                <a:ea typeface="Twentieth Century"/>
                <a:cs typeface="Twentieth Century"/>
                <a:sym typeface="Twentieth Century"/>
              </a:rPr>
              <a:t>(Kairo: Dar al-Syuruq, 2001).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SISTEM KENEGARAAN INDONESIA </a:t>
            </a:r>
            <a:endParaRPr/>
          </a:p>
        </p:txBody>
      </p:sp>
      <p:grpSp>
        <p:nvGrpSpPr>
          <p:cNvPr id="272" name="Google Shape;272;p12"/>
          <p:cNvGrpSpPr/>
          <p:nvPr/>
        </p:nvGrpSpPr>
        <p:grpSpPr>
          <a:xfrm>
            <a:off x="922466" y="1828800"/>
            <a:ext cx="10347068" cy="4568873"/>
            <a:chOff x="0" y="0"/>
            <a:chExt cx="10347068" cy="4568873"/>
          </a:xfrm>
        </p:grpSpPr>
        <p:sp>
          <p:nvSpPr>
            <p:cNvPr id="273" name="Google Shape;273;p12"/>
            <p:cNvSpPr/>
            <p:nvPr/>
          </p:nvSpPr>
          <p:spPr>
            <a:xfrm>
              <a:off x="0" y="0"/>
              <a:ext cx="10347068" cy="846087"/>
            </a:xfrm>
            <a:prstGeom prst="roundRect">
              <a:avLst>
                <a:gd fmla="val 10000" name="adj"/>
              </a:avLst>
            </a:prstGeom>
            <a:gradFill>
              <a:gsLst>
                <a:gs pos="0">
                  <a:srgbClr val="72BDE8"/>
                </a:gs>
                <a:gs pos="100000">
                  <a:srgbClr val="95D3FF"/>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txBox="1"/>
            <p:nvPr/>
          </p:nvSpPr>
          <p:spPr>
            <a:xfrm>
              <a:off x="2154022" y="0"/>
              <a:ext cx="8193045" cy="846087"/>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Indonesia bukan negara agama, karena konstitusinya tidak berdasarkan kitab suci agama mana pun.</a:t>
              </a:r>
              <a:endParaRPr/>
            </a:p>
          </p:txBody>
        </p:sp>
        <p:sp>
          <p:nvSpPr>
            <p:cNvPr id="275" name="Google Shape;275;p12"/>
            <p:cNvSpPr/>
            <p:nvPr/>
          </p:nvSpPr>
          <p:spPr>
            <a:xfrm>
              <a:off x="84608" y="84608"/>
              <a:ext cx="2069413" cy="676870"/>
            </a:xfrm>
            <a:prstGeom prst="roundRect">
              <a:avLst>
                <a:gd fmla="val 10000" name="adj"/>
              </a:avLst>
            </a:prstGeom>
            <a:blipFill rotWithShape="1">
              <a:blip r:embed="rId3">
                <a:alphaModFix/>
              </a:blip>
              <a:stretch>
                <a:fillRect b="-1999" l="0" r="0" t="-1998"/>
              </a:stretch>
            </a:blip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0" y="930696"/>
              <a:ext cx="10347068" cy="846087"/>
            </a:xfrm>
            <a:prstGeom prst="roundRect">
              <a:avLst>
                <a:gd fmla="val 10000" name="adj"/>
              </a:avLst>
            </a:prstGeom>
            <a:gradFill>
              <a:gsLst>
                <a:gs pos="0">
                  <a:srgbClr val="72BDE8"/>
                </a:gs>
                <a:gs pos="100000">
                  <a:srgbClr val="95D3FF"/>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txBox="1"/>
            <p:nvPr/>
          </p:nvSpPr>
          <p:spPr>
            <a:xfrm>
              <a:off x="2154022" y="930696"/>
              <a:ext cx="8193045" cy="846087"/>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Indonesia juga bukan negara sekuler yang melepaskan diri secara total dari nilai dan norma agama.</a:t>
              </a:r>
              <a:endParaRPr/>
            </a:p>
          </p:txBody>
        </p:sp>
        <p:sp>
          <p:nvSpPr>
            <p:cNvPr id="278" name="Google Shape;278;p12"/>
            <p:cNvSpPr/>
            <p:nvPr/>
          </p:nvSpPr>
          <p:spPr>
            <a:xfrm>
              <a:off x="84608" y="1015305"/>
              <a:ext cx="2069413" cy="676870"/>
            </a:xfrm>
            <a:prstGeom prst="roundRect">
              <a:avLst>
                <a:gd fmla="val 10000" name="adj"/>
              </a:avLst>
            </a:prstGeom>
            <a:blipFill rotWithShape="1">
              <a:blip r:embed="rId4">
                <a:alphaModFix/>
              </a:blip>
              <a:stretch>
                <a:fillRect b="-24998" l="0" r="0" t="-24998"/>
              </a:stretch>
            </a:blip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0" y="1861393"/>
              <a:ext cx="10347068" cy="846087"/>
            </a:xfrm>
            <a:prstGeom prst="roundRect">
              <a:avLst>
                <a:gd fmla="val 10000" name="adj"/>
              </a:avLst>
            </a:prstGeom>
            <a:gradFill>
              <a:gsLst>
                <a:gs pos="0">
                  <a:srgbClr val="72BDE8"/>
                </a:gs>
                <a:gs pos="100000">
                  <a:srgbClr val="95D3FF"/>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txBox="1"/>
            <p:nvPr/>
          </p:nvSpPr>
          <p:spPr>
            <a:xfrm>
              <a:off x="2154022" y="1861393"/>
              <a:ext cx="8193045" cy="846087"/>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Bangsa Indonesia bersifat nasionalis-religius, sehingga memungkinkannya untuk menjadikan nilai-nilai universal agama sebagai sumber inspirasi dalam menetapkan undang-undang. </a:t>
              </a:r>
              <a:endParaRPr/>
            </a:p>
          </p:txBody>
        </p:sp>
        <p:sp>
          <p:nvSpPr>
            <p:cNvPr id="281" name="Google Shape;281;p12"/>
            <p:cNvSpPr/>
            <p:nvPr/>
          </p:nvSpPr>
          <p:spPr>
            <a:xfrm>
              <a:off x="84608" y="1946002"/>
              <a:ext cx="2069413" cy="676870"/>
            </a:xfrm>
            <a:prstGeom prst="roundRect">
              <a:avLst>
                <a:gd fmla="val 10000" name="adj"/>
              </a:avLst>
            </a:prstGeom>
            <a:blipFill rotWithShape="1">
              <a:blip r:embed="rId5">
                <a:alphaModFix/>
              </a:blip>
              <a:stretch>
                <a:fillRect b="-37997" l="0" r="0" t="-37997"/>
              </a:stretch>
            </a:blip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0" y="2792090"/>
              <a:ext cx="10347068" cy="846087"/>
            </a:xfrm>
            <a:prstGeom prst="roundRect">
              <a:avLst>
                <a:gd fmla="val 10000" name="adj"/>
              </a:avLst>
            </a:prstGeom>
            <a:gradFill>
              <a:gsLst>
                <a:gs pos="0">
                  <a:srgbClr val="72BDE8"/>
                </a:gs>
                <a:gs pos="100000">
                  <a:srgbClr val="95D3FF"/>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txBox="1"/>
            <p:nvPr/>
          </p:nvSpPr>
          <p:spPr>
            <a:xfrm>
              <a:off x="2154022" y="2792090"/>
              <a:ext cx="8193045" cy="846087"/>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Nilai-nilai Islam dapat diaktualisasikan sebagai </a:t>
              </a:r>
              <a:r>
                <a:rPr i="1" lang="en-US" sz="2100">
                  <a:solidFill>
                    <a:schemeClr val="dk1"/>
                  </a:solidFill>
                  <a:latin typeface="Twentieth Century"/>
                  <a:ea typeface="Twentieth Century"/>
                  <a:cs typeface="Twentieth Century"/>
                  <a:sym typeface="Twentieth Century"/>
                </a:rPr>
                <a:t>moral values </a:t>
              </a:r>
              <a:r>
                <a:rPr lang="en-US" sz="2100">
                  <a:solidFill>
                    <a:schemeClr val="dk1"/>
                  </a:solidFill>
                  <a:latin typeface="Twentieth Century"/>
                  <a:ea typeface="Twentieth Century"/>
                  <a:cs typeface="Twentieth Century"/>
                  <a:sym typeface="Twentieth Century"/>
                </a:rPr>
                <a:t>dalam kehidupan bermasayarakat, berbangsa, dan bernegara. </a:t>
              </a:r>
              <a:endParaRPr/>
            </a:p>
          </p:txBody>
        </p:sp>
        <p:sp>
          <p:nvSpPr>
            <p:cNvPr id="284" name="Google Shape;284;p12"/>
            <p:cNvSpPr/>
            <p:nvPr/>
          </p:nvSpPr>
          <p:spPr>
            <a:xfrm>
              <a:off x="84608" y="2876698"/>
              <a:ext cx="2069413" cy="676870"/>
            </a:xfrm>
            <a:prstGeom prst="roundRect">
              <a:avLst>
                <a:gd fmla="val 10000" name="adj"/>
              </a:avLst>
            </a:prstGeom>
            <a:blipFill rotWithShape="1">
              <a:blip r:embed="rId6">
                <a:alphaModFix/>
              </a:blip>
              <a:stretch>
                <a:fillRect b="-25998" l="0" r="0" t="-25997"/>
              </a:stretch>
            </a:blip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0" y="3722786"/>
              <a:ext cx="10347068" cy="846087"/>
            </a:xfrm>
            <a:prstGeom prst="roundRect">
              <a:avLst>
                <a:gd fmla="val 10000" name="adj"/>
              </a:avLst>
            </a:prstGeom>
            <a:gradFill>
              <a:gsLst>
                <a:gs pos="0">
                  <a:srgbClr val="72BDE8"/>
                </a:gs>
                <a:gs pos="100000">
                  <a:srgbClr val="95D3FF"/>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txBox="1"/>
            <p:nvPr/>
          </p:nvSpPr>
          <p:spPr>
            <a:xfrm>
              <a:off x="2154022" y="3722786"/>
              <a:ext cx="8193045" cy="846087"/>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Eksistensi NKRI, ditinjau dari segi tujuan dan konstitusinya, tidak bertentangan dengan nilai-nilai Islam, sehingga wajib dipertahankan.</a:t>
              </a:r>
              <a:endParaRPr/>
            </a:p>
          </p:txBody>
        </p:sp>
        <p:sp>
          <p:nvSpPr>
            <p:cNvPr id="287" name="Google Shape;287;p12"/>
            <p:cNvSpPr/>
            <p:nvPr/>
          </p:nvSpPr>
          <p:spPr>
            <a:xfrm>
              <a:off x="84608" y="3807395"/>
              <a:ext cx="2069413" cy="676870"/>
            </a:xfrm>
            <a:prstGeom prst="roundRect">
              <a:avLst>
                <a:gd fmla="val 10000" name="adj"/>
              </a:avLst>
            </a:prstGeom>
            <a:blipFill rotWithShape="1">
              <a:blip r:embed="rId7">
                <a:alphaModFix/>
              </a:blip>
              <a:stretch>
                <a:fillRect b="-66997" l="0" r="0" t="-66997"/>
              </a:stretch>
            </a:blip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dk1"/>
              </a:buClr>
              <a:buSzPts val="5000"/>
              <a:buFont typeface="Twentieth Century"/>
              <a:buNone/>
            </a:pPr>
            <a:r>
              <a:rPr lang="en-US">
                <a:solidFill>
                  <a:schemeClr val="dk1"/>
                </a:solidFill>
              </a:rPr>
              <a:t>2. DISKURSUS ISLAM DAN DEMOKRASI</a:t>
            </a:r>
            <a:endParaRPr/>
          </a:p>
        </p:txBody>
      </p:sp>
      <p:grpSp>
        <p:nvGrpSpPr>
          <p:cNvPr id="294" name="Google Shape;294;p13"/>
          <p:cNvGrpSpPr/>
          <p:nvPr/>
        </p:nvGrpSpPr>
        <p:grpSpPr>
          <a:xfrm>
            <a:off x="1259202" y="1907010"/>
            <a:ext cx="9521194" cy="4110780"/>
            <a:chOff x="497202" y="2009"/>
            <a:chExt cx="9521194" cy="4110780"/>
          </a:xfrm>
        </p:grpSpPr>
        <p:sp>
          <p:nvSpPr>
            <p:cNvPr id="295" name="Google Shape;295;p13"/>
            <p:cNvSpPr/>
            <p:nvPr/>
          </p:nvSpPr>
          <p:spPr>
            <a:xfrm rot="5400000">
              <a:off x="6122981" y="-2699953"/>
              <a:ext cx="1060846" cy="6729984"/>
            </a:xfrm>
            <a:prstGeom prst="round2SameRect">
              <a:avLst>
                <a:gd fmla="val 16667" name="adj1"/>
                <a:gd fmla="val 0" name="adj2"/>
              </a:avLst>
            </a:prstGeom>
            <a:solidFill>
              <a:srgbClr val="CBD8EA">
                <a:alpha val="89803"/>
              </a:srgbClr>
            </a:solidFill>
            <a:ln cap="flat" cmpd="sng" w="15875">
              <a:solidFill>
                <a:srgbClr val="CBD8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txBox="1"/>
            <p:nvPr/>
          </p:nvSpPr>
          <p:spPr>
            <a:xfrm>
              <a:off x="3288412" y="186402"/>
              <a:ext cx="6678198" cy="957274"/>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chemeClr val="dk1"/>
                </a:buClr>
                <a:buSzPts val="2300"/>
                <a:buFont typeface="Twentieth Century"/>
                <a:buChar char="•"/>
              </a:pPr>
              <a:r>
                <a:rPr b="0" i="0" lang="en-US" sz="2300" u="none" cap="none" strike="noStrike">
                  <a:solidFill>
                    <a:schemeClr val="dk1"/>
                  </a:solidFill>
                  <a:latin typeface="Twentieth Century"/>
                  <a:ea typeface="Twentieth Century"/>
                  <a:cs typeface="Twentieth Century"/>
                  <a:sym typeface="Twentieth Century"/>
                </a:rPr>
                <a:t>Demokrasi adalah sistem politik sekuler di mana pengambilan keputusan diserahkan kepada suara terbanyak, sehingga bertentangan dengan Islam.</a:t>
              </a:r>
              <a:endParaRPr b="0" i="0" sz="2300" u="none" cap="none" strike="noStrike">
                <a:solidFill>
                  <a:schemeClr val="dk1"/>
                </a:solidFill>
                <a:latin typeface="Twentieth Century"/>
                <a:ea typeface="Twentieth Century"/>
                <a:cs typeface="Twentieth Century"/>
                <a:sym typeface="Twentieth Century"/>
              </a:endParaRPr>
            </a:p>
          </p:txBody>
        </p:sp>
        <p:sp>
          <p:nvSpPr>
            <p:cNvPr id="297" name="Google Shape;297;p13"/>
            <p:cNvSpPr/>
            <p:nvPr/>
          </p:nvSpPr>
          <p:spPr>
            <a:xfrm>
              <a:off x="497202" y="2009"/>
              <a:ext cx="2791210" cy="1326058"/>
            </a:xfrm>
            <a:prstGeom prst="roundRect">
              <a:avLst>
                <a:gd fmla="val 16667" name="adj"/>
              </a:avLst>
            </a:pr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txBox="1"/>
            <p:nvPr/>
          </p:nvSpPr>
          <p:spPr>
            <a:xfrm>
              <a:off x="561935" y="66742"/>
              <a:ext cx="2661744" cy="1196592"/>
            </a:xfrm>
            <a:prstGeom prst="rect">
              <a:avLst/>
            </a:prstGeom>
            <a:noFill/>
            <a:ln>
              <a:noFill/>
            </a:ln>
          </p:spPr>
          <p:txBody>
            <a:bodyPr anchorCtr="0" anchor="ctr" bIns="47625" lIns="95250" spcFirstLastPara="1" rIns="95250" wrap="square" tIns="47625">
              <a:noAutofit/>
            </a:bodyPr>
            <a:lstStyle/>
            <a:p>
              <a:pPr indent="0" lvl="0" marL="0" marR="0" rtl="0" algn="ctr">
                <a:lnSpc>
                  <a:spcPct val="90000"/>
                </a:lnSpc>
                <a:spcBef>
                  <a:spcPts val="0"/>
                </a:spcBef>
                <a:spcAft>
                  <a:spcPts val="0"/>
                </a:spcAft>
                <a:buClr>
                  <a:schemeClr val="lt1"/>
                </a:buClr>
                <a:buSzPts val="2500"/>
                <a:buFont typeface="Twentieth Century"/>
                <a:buNone/>
              </a:pPr>
              <a:r>
                <a:rPr lang="en-US" sz="2500">
                  <a:solidFill>
                    <a:schemeClr val="lt1"/>
                  </a:solidFill>
                  <a:latin typeface="Twentieth Century"/>
                  <a:ea typeface="Twentieth Century"/>
                  <a:cs typeface="Twentieth Century"/>
                  <a:sym typeface="Twentieth Century"/>
                </a:rPr>
                <a:t>Tekstualis</a:t>
              </a:r>
              <a:endParaRPr sz="2500">
                <a:solidFill>
                  <a:schemeClr val="lt1"/>
                </a:solidFill>
                <a:latin typeface="Twentieth Century"/>
                <a:ea typeface="Twentieth Century"/>
                <a:cs typeface="Twentieth Century"/>
                <a:sym typeface="Twentieth Century"/>
              </a:endParaRPr>
            </a:p>
          </p:txBody>
        </p:sp>
        <p:sp>
          <p:nvSpPr>
            <p:cNvPr id="299" name="Google Shape;299;p13"/>
            <p:cNvSpPr/>
            <p:nvPr/>
          </p:nvSpPr>
          <p:spPr>
            <a:xfrm rot="5400000">
              <a:off x="6122981" y="-1307592"/>
              <a:ext cx="1060846" cy="6729984"/>
            </a:xfrm>
            <a:prstGeom prst="round2SameRect">
              <a:avLst>
                <a:gd fmla="val 16667" name="adj1"/>
                <a:gd fmla="val 0" name="adj2"/>
              </a:avLst>
            </a:prstGeom>
            <a:solidFill>
              <a:srgbClr val="CBEDEF">
                <a:alpha val="89803"/>
              </a:srgbClr>
            </a:solidFill>
            <a:ln cap="flat" cmpd="sng" w="15875">
              <a:solidFill>
                <a:srgbClr val="CBED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txBox="1"/>
            <p:nvPr/>
          </p:nvSpPr>
          <p:spPr>
            <a:xfrm>
              <a:off x="3288412" y="1578763"/>
              <a:ext cx="6678198" cy="957274"/>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chemeClr val="dk1"/>
                </a:buClr>
                <a:buSzPts val="2300"/>
                <a:buFont typeface="Twentieth Century"/>
                <a:buChar char="•"/>
              </a:pPr>
              <a:r>
                <a:rPr b="0" i="0" lang="en-US" sz="2300" u="none" cap="none" strike="noStrike">
                  <a:solidFill>
                    <a:schemeClr val="dk1"/>
                  </a:solidFill>
                  <a:latin typeface="Twentieth Century"/>
                  <a:ea typeface="Twentieth Century"/>
                  <a:cs typeface="Twentieth Century"/>
                  <a:sym typeface="Twentieth Century"/>
                </a:rPr>
                <a:t>Demokrasi adalah sistem politik yang mendukung hak asasi manusia, kebebasan, dan keadilan, sehingga sesuai dengan ‘ruh’ ajaran Islam.</a:t>
              </a:r>
              <a:endParaRPr b="0" i="0" sz="2300" u="none" cap="none" strike="noStrike">
                <a:solidFill>
                  <a:schemeClr val="dk1"/>
                </a:solidFill>
                <a:latin typeface="Twentieth Century"/>
                <a:ea typeface="Twentieth Century"/>
                <a:cs typeface="Twentieth Century"/>
                <a:sym typeface="Twentieth Century"/>
              </a:endParaRPr>
            </a:p>
          </p:txBody>
        </p:sp>
        <p:sp>
          <p:nvSpPr>
            <p:cNvPr id="301" name="Google Shape;301;p13"/>
            <p:cNvSpPr/>
            <p:nvPr/>
          </p:nvSpPr>
          <p:spPr>
            <a:xfrm>
              <a:off x="501913" y="1394370"/>
              <a:ext cx="2791210" cy="1326058"/>
            </a:xfrm>
            <a:prstGeom prst="roundRect">
              <a:avLst>
                <a:gd fmla="val 16667" name="adj"/>
              </a:avLst>
            </a:prstGeom>
            <a:solidFill>
              <a:srgbClr val="FFC00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txBox="1"/>
            <p:nvPr/>
          </p:nvSpPr>
          <p:spPr>
            <a:xfrm>
              <a:off x="566646" y="1459103"/>
              <a:ext cx="2661744" cy="1196592"/>
            </a:xfrm>
            <a:prstGeom prst="rect">
              <a:avLst/>
            </a:prstGeom>
            <a:noFill/>
            <a:ln>
              <a:noFill/>
            </a:ln>
          </p:spPr>
          <p:txBody>
            <a:bodyPr anchorCtr="0" anchor="ctr" bIns="47625" lIns="95250" spcFirstLastPara="1" rIns="95250" wrap="square" tIns="47625">
              <a:noAutofit/>
            </a:bodyPr>
            <a:lstStyle/>
            <a:p>
              <a:pPr indent="0" lvl="0" marL="0" marR="0" rtl="0" algn="ctr">
                <a:lnSpc>
                  <a:spcPct val="90000"/>
                </a:lnSpc>
                <a:spcBef>
                  <a:spcPts val="0"/>
                </a:spcBef>
                <a:spcAft>
                  <a:spcPts val="0"/>
                </a:spcAft>
                <a:buClr>
                  <a:schemeClr val="lt1"/>
                </a:buClr>
                <a:buSzPts val="2500"/>
                <a:buFont typeface="Twentieth Century"/>
                <a:buNone/>
              </a:pPr>
              <a:r>
                <a:rPr lang="en-US" sz="2500">
                  <a:solidFill>
                    <a:schemeClr val="lt1"/>
                  </a:solidFill>
                  <a:latin typeface="Twentieth Century"/>
                  <a:ea typeface="Twentieth Century"/>
                  <a:cs typeface="Twentieth Century"/>
                  <a:sym typeface="Twentieth Century"/>
                </a:rPr>
                <a:t>Liberal</a:t>
              </a:r>
              <a:endParaRPr sz="2500">
                <a:solidFill>
                  <a:schemeClr val="lt1"/>
                </a:solidFill>
                <a:latin typeface="Twentieth Century"/>
                <a:ea typeface="Twentieth Century"/>
                <a:cs typeface="Twentieth Century"/>
                <a:sym typeface="Twentieth Century"/>
              </a:endParaRPr>
            </a:p>
          </p:txBody>
        </p:sp>
        <p:sp>
          <p:nvSpPr>
            <p:cNvPr id="303" name="Google Shape;303;p13"/>
            <p:cNvSpPr/>
            <p:nvPr/>
          </p:nvSpPr>
          <p:spPr>
            <a:xfrm rot="5400000">
              <a:off x="6122981" y="84768"/>
              <a:ext cx="1060846" cy="6729984"/>
            </a:xfrm>
            <a:prstGeom prst="round2SameRect">
              <a:avLst>
                <a:gd fmla="val 16667" name="adj1"/>
                <a:gd fmla="val 0" name="adj2"/>
              </a:avLst>
            </a:prstGeom>
            <a:solidFill>
              <a:srgbClr val="CDE5DC">
                <a:alpha val="89803"/>
              </a:srgbClr>
            </a:solidFill>
            <a:ln cap="flat" cmpd="sng" w="15875">
              <a:solidFill>
                <a:srgbClr val="CDE5DC">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txBox="1"/>
            <p:nvPr/>
          </p:nvSpPr>
          <p:spPr>
            <a:xfrm>
              <a:off x="3288412" y="2971123"/>
              <a:ext cx="6678198" cy="957274"/>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chemeClr val="dk1"/>
                </a:buClr>
                <a:buSzPts val="2300"/>
                <a:buFont typeface="Twentieth Century"/>
                <a:buChar char="•"/>
              </a:pPr>
              <a:r>
                <a:rPr b="0" i="0" lang="en-US" sz="2300" u="none" cap="none" strike="noStrike">
                  <a:solidFill>
                    <a:schemeClr val="dk1"/>
                  </a:solidFill>
                  <a:latin typeface="Twentieth Century"/>
                  <a:ea typeface="Twentieth Century"/>
                  <a:cs typeface="Twentieth Century"/>
                  <a:sym typeface="Twentieth Century"/>
                </a:rPr>
                <a:t>Demokrasi banyak beririsan dengan ‘semangat’ ajaran Islam, namun tidak sepenuhnya ‘</a:t>
              </a:r>
              <a:r>
                <a:rPr b="0" i="1" lang="en-US" sz="2300" u="none" cap="none" strike="noStrike">
                  <a:solidFill>
                    <a:schemeClr val="dk1"/>
                  </a:solidFill>
                  <a:latin typeface="Twentieth Century"/>
                  <a:ea typeface="Twentieth Century"/>
                  <a:cs typeface="Twentieth Century"/>
                  <a:sym typeface="Twentieth Century"/>
                </a:rPr>
                <a:t>compatible</a:t>
              </a:r>
              <a:r>
                <a:rPr b="0" i="0" lang="en-US" sz="2300" u="none" cap="none" strike="noStrike">
                  <a:solidFill>
                    <a:schemeClr val="dk1"/>
                  </a:solidFill>
                  <a:latin typeface="Twentieth Century"/>
                  <a:ea typeface="Twentieth Century"/>
                  <a:cs typeface="Twentieth Century"/>
                  <a:sym typeface="Twentieth Century"/>
                </a:rPr>
                <a:t>.’ </a:t>
              </a:r>
              <a:endParaRPr b="0" i="0" sz="2300" u="none" cap="none" strike="noStrike">
                <a:solidFill>
                  <a:schemeClr val="dk1"/>
                </a:solidFill>
                <a:latin typeface="Twentieth Century"/>
                <a:ea typeface="Twentieth Century"/>
                <a:cs typeface="Twentieth Century"/>
                <a:sym typeface="Twentieth Century"/>
              </a:endParaRPr>
            </a:p>
          </p:txBody>
        </p:sp>
        <p:sp>
          <p:nvSpPr>
            <p:cNvPr id="305" name="Google Shape;305;p13"/>
            <p:cNvSpPr/>
            <p:nvPr/>
          </p:nvSpPr>
          <p:spPr>
            <a:xfrm>
              <a:off x="497202" y="2786731"/>
              <a:ext cx="2791210" cy="1326058"/>
            </a:xfrm>
            <a:prstGeom prst="roundRect">
              <a:avLst>
                <a:gd fmla="val 16667" name="adj"/>
              </a:avLst>
            </a:prstGeom>
            <a:solidFill>
              <a:schemeClr val="accent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txBox="1"/>
            <p:nvPr/>
          </p:nvSpPr>
          <p:spPr>
            <a:xfrm>
              <a:off x="561935" y="2851464"/>
              <a:ext cx="2661744" cy="1196592"/>
            </a:xfrm>
            <a:prstGeom prst="rect">
              <a:avLst/>
            </a:prstGeom>
            <a:noFill/>
            <a:ln>
              <a:noFill/>
            </a:ln>
          </p:spPr>
          <p:txBody>
            <a:bodyPr anchorCtr="0" anchor="ctr" bIns="47625" lIns="95250" spcFirstLastPara="1" rIns="95250" wrap="square" tIns="47625">
              <a:noAutofit/>
            </a:bodyPr>
            <a:lstStyle/>
            <a:p>
              <a:pPr indent="0" lvl="0" marL="0" marR="0" rtl="0" algn="ctr">
                <a:lnSpc>
                  <a:spcPct val="90000"/>
                </a:lnSpc>
                <a:spcBef>
                  <a:spcPts val="0"/>
                </a:spcBef>
                <a:spcAft>
                  <a:spcPts val="0"/>
                </a:spcAft>
                <a:buClr>
                  <a:schemeClr val="lt1"/>
                </a:buClr>
                <a:buSzPts val="2500"/>
                <a:buFont typeface="Twentieth Century"/>
                <a:buNone/>
              </a:pPr>
              <a:r>
                <a:rPr lang="en-US" sz="2500">
                  <a:solidFill>
                    <a:schemeClr val="lt1"/>
                  </a:solidFill>
                  <a:latin typeface="Twentieth Century"/>
                  <a:ea typeface="Twentieth Century"/>
                  <a:cs typeface="Twentieth Century"/>
                  <a:sym typeface="Twentieth Century"/>
                </a:rPr>
                <a:t>Moderat</a:t>
              </a:r>
              <a:endParaRPr sz="2500">
                <a:solidFill>
                  <a:schemeClr val="lt1"/>
                </a:solidFill>
                <a:latin typeface="Twentieth Century"/>
                <a:ea typeface="Twentieth Century"/>
                <a:cs typeface="Twentieth Century"/>
                <a:sym typeface="Twentieth Century"/>
              </a:endParaRPr>
            </a:p>
          </p:txBody>
        </p:sp>
      </p:grpSp>
      <p:sp>
        <p:nvSpPr>
          <p:cNvPr id="307" name="Google Shape;307;p13"/>
          <p:cNvSpPr txBox="1"/>
          <p:nvPr/>
        </p:nvSpPr>
        <p:spPr>
          <a:xfrm>
            <a:off x="5334000" y="6272784"/>
            <a:ext cx="5410200" cy="307777"/>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Yusuf al-Qaradhawi, </a:t>
            </a:r>
            <a:r>
              <a:rPr i="1" lang="en-US" sz="1400">
                <a:solidFill>
                  <a:schemeClr val="dk1"/>
                </a:solidFill>
                <a:latin typeface="Twentieth Century"/>
                <a:ea typeface="Twentieth Century"/>
                <a:cs typeface="Twentieth Century"/>
                <a:sym typeface="Twentieth Century"/>
              </a:rPr>
              <a:t>al-Din wa al-Siyasah </a:t>
            </a:r>
            <a:r>
              <a:rPr lang="en-US" sz="1400">
                <a:solidFill>
                  <a:schemeClr val="dk1"/>
                </a:solidFill>
                <a:latin typeface="Twentieth Century"/>
                <a:ea typeface="Twentieth Century"/>
                <a:cs typeface="Twentieth Century"/>
                <a:sym typeface="Twentieth Century"/>
              </a:rPr>
              <a:t>(Kairo: Dar al-Syuruq, 2006).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RELASI ANTARA ISLAM DAN DEMOKRASI</a:t>
            </a:r>
            <a:endParaRPr/>
          </a:p>
        </p:txBody>
      </p:sp>
      <p:grpSp>
        <p:nvGrpSpPr>
          <p:cNvPr id="313" name="Google Shape;313;p14"/>
          <p:cNvGrpSpPr/>
          <p:nvPr/>
        </p:nvGrpSpPr>
        <p:grpSpPr>
          <a:xfrm>
            <a:off x="2708743" y="1649933"/>
            <a:ext cx="6731828" cy="4731064"/>
            <a:chOff x="384643" y="-434899"/>
            <a:chExt cx="6731828" cy="4731064"/>
          </a:xfrm>
        </p:grpSpPr>
        <p:sp>
          <p:nvSpPr>
            <p:cNvPr id="314" name="Google Shape;314;p14"/>
            <p:cNvSpPr/>
            <p:nvPr/>
          </p:nvSpPr>
          <p:spPr>
            <a:xfrm>
              <a:off x="384643" y="-371136"/>
              <a:ext cx="2991668" cy="2879872"/>
            </a:xfrm>
            <a:prstGeom prst="ellipse">
              <a:avLst/>
            </a:prstGeom>
            <a:solidFill>
              <a:srgbClr val="00B050">
                <a:alpha val="49803"/>
              </a:srgbClr>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txBox="1"/>
            <p:nvPr/>
          </p:nvSpPr>
          <p:spPr>
            <a:xfrm>
              <a:off x="822763" y="50611"/>
              <a:ext cx="2115428" cy="2036378"/>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Clr>
                  <a:schemeClr val="dk1"/>
                </a:buClr>
                <a:buSzPts val="3500"/>
                <a:buFont typeface="Twentieth Century"/>
                <a:buNone/>
              </a:pPr>
              <a:r>
                <a:rPr lang="en-US" sz="3500">
                  <a:solidFill>
                    <a:schemeClr val="dk1"/>
                  </a:solidFill>
                  <a:latin typeface="Twentieth Century"/>
                  <a:ea typeface="Twentieth Century"/>
                  <a:cs typeface="Twentieth Century"/>
                  <a:sym typeface="Twentieth Century"/>
                </a:rPr>
                <a:t>Syariat Islam</a:t>
              </a:r>
              <a:endParaRPr sz="3500">
                <a:solidFill>
                  <a:schemeClr val="dk1"/>
                </a:solidFill>
                <a:latin typeface="Twentieth Century"/>
                <a:ea typeface="Twentieth Century"/>
                <a:cs typeface="Twentieth Century"/>
                <a:sym typeface="Twentieth Century"/>
              </a:endParaRPr>
            </a:p>
          </p:txBody>
        </p:sp>
        <p:sp>
          <p:nvSpPr>
            <p:cNvPr id="316" name="Google Shape;316;p14"/>
            <p:cNvSpPr/>
            <p:nvPr/>
          </p:nvSpPr>
          <p:spPr>
            <a:xfrm>
              <a:off x="1810854" y="244420"/>
              <a:ext cx="3879049" cy="4051745"/>
            </a:xfrm>
            <a:prstGeom prst="ellipse">
              <a:avLst/>
            </a:prstGeom>
            <a:solidFill>
              <a:srgbClr val="24CED7">
                <a:alpha val="49803"/>
              </a:srgbClr>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txBox="1"/>
            <p:nvPr/>
          </p:nvSpPr>
          <p:spPr>
            <a:xfrm>
              <a:off x="2378928" y="837784"/>
              <a:ext cx="2742901" cy="2865017"/>
            </a:xfrm>
            <a:prstGeom prst="rect">
              <a:avLst/>
            </a:prstGeom>
            <a:noFill/>
            <a:ln>
              <a:noFill/>
            </a:ln>
          </p:spPr>
          <p:txBody>
            <a:bodyPr anchorCtr="0" anchor="t" bIns="76200" lIns="76200" spcFirstLastPara="1" rIns="76200" wrap="square" tIns="76200">
              <a:noAutofit/>
            </a:bodyPr>
            <a:lstStyle/>
            <a:p>
              <a:pPr indent="0" lvl="0" marL="0" marR="0" rtl="0" algn="ctr">
                <a:lnSpc>
                  <a:spcPct val="90000"/>
                </a:lnSpc>
                <a:spcBef>
                  <a:spcPts val="0"/>
                </a:spcBef>
                <a:spcAft>
                  <a:spcPts val="0"/>
                </a:spcAft>
                <a:buClr>
                  <a:schemeClr val="dk1"/>
                </a:buClr>
                <a:buSzPts val="2400"/>
                <a:buFont typeface="Twentieth Century"/>
                <a:buNone/>
              </a:pPr>
              <a:r>
                <a:rPr b="1" lang="en-US" sz="2400">
                  <a:solidFill>
                    <a:schemeClr val="dk1"/>
                  </a:solidFill>
                  <a:latin typeface="Twentieth Century"/>
                  <a:ea typeface="Twentieth Century"/>
                  <a:cs typeface="Twentieth Century"/>
                  <a:sym typeface="Twentieth Century"/>
                </a:rPr>
                <a:t>Maqashid </a:t>
              </a:r>
              <a:endParaRPr/>
            </a:p>
            <a:p>
              <a:pPr indent="0" lvl="0" marL="0" marR="0" rtl="0" algn="ctr">
                <a:lnSpc>
                  <a:spcPct val="90000"/>
                </a:lnSpc>
                <a:spcBef>
                  <a:spcPts val="840"/>
                </a:spcBef>
                <a:spcAft>
                  <a:spcPts val="0"/>
                </a:spcAft>
                <a:buClr>
                  <a:schemeClr val="dk1"/>
                </a:buClr>
                <a:buSzPts val="2400"/>
                <a:buFont typeface="Twentieth Century"/>
                <a:buNone/>
              </a:pPr>
              <a:r>
                <a:rPr b="1" lang="en-US" sz="2400">
                  <a:solidFill>
                    <a:schemeClr val="dk1"/>
                  </a:solidFill>
                  <a:latin typeface="Twentieth Century"/>
                  <a:ea typeface="Twentieth Century"/>
                  <a:cs typeface="Twentieth Century"/>
                  <a:sym typeface="Twentieth Century"/>
                </a:rPr>
                <a:t>Syariah</a:t>
              </a:r>
              <a:endParaRPr b="1" sz="2400">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84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 Syura</a:t>
              </a:r>
              <a:endParaRPr b="1" i="0" sz="2000" u="none" cap="none" strike="noStrike">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30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Keadilan</a:t>
              </a:r>
              <a:endParaRPr b="1" i="0" sz="2000" u="none" cap="none" strike="noStrike">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30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Toleransi</a:t>
              </a:r>
              <a:endParaRPr b="1" i="0" sz="2000" u="none" cap="none" strike="noStrike">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30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Persaudaraan</a:t>
              </a:r>
              <a:endParaRPr b="1" i="0" sz="2000" u="none" cap="none" strike="noStrike">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30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Solidaritas sosial</a:t>
              </a:r>
              <a:endParaRPr b="1" i="0" sz="2000" u="none" cap="none" strike="noStrike">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30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Kebebasan</a:t>
              </a:r>
              <a:endParaRPr b="1" i="0" sz="2000" u="none" cap="none" strike="noStrike">
                <a:solidFill>
                  <a:schemeClr val="dk1"/>
                </a:solidFill>
                <a:latin typeface="Twentieth Century"/>
                <a:ea typeface="Twentieth Century"/>
                <a:cs typeface="Twentieth Century"/>
                <a:sym typeface="Twentieth Century"/>
              </a:endParaRPr>
            </a:p>
            <a:p>
              <a:pPr indent="-228600" lvl="1" marL="228600" marR="0" rtl="0" algn="ctr">
                <a:lnSpc>
                  <a:spcPct val="90000"/>
                </a:lnSpc>
                <a:spcBef>
                  <a:spcPts val="300"/>
                </a:spcBef>
                <a:spcAft>
                  <a:spcPts val="0"/>
                </a:spcAft>
                <a:buClr>
                  <a:schemeClr val="dk1"/>
                </a:buClr>
                <a:buSzPts val="2000"/>
                <a:buFont typeface="Twentieth Century"/>
                <a:buChar char="•"/>
              </a:pPr>
              <a:r>
                <a:rPr b="1" i="0" lang="en-US" sz="2000" u="none" cap="none" strike="noStrike">
                  <a:solidFill>
                    <a:schemeClr val="dk1"/>
                  </a:solidFill>
                  <a:latin typeface="Twentieth Century"/>
                  <a:ea typeface="Twentieth Century"/>
                  <a:cs typeface="Twentieth Century"/>
                  <a:sym typeface="Twentieth Century"/>
                </a:rPr>
                <a:t>Kemuliaan manusia</a:t>
              </a:r>
              <a:endParaRPr b="1" i="0" sz="2000" u="none" cap="none" strike="noStrike">
                <a:solidFill>
                  <a:schemeClr val="dk1"/>
                </a:solidFill>
                <a:latin typeface="Twentieth Century"/>
                <a:ea typeface="Twentieth Century"/>
                <a:cs typeface="Twentieth Century"/>
                <a:sym typeface="Twentieth Century"/>
              </a:endParaRPr>
            </a:p>
          </p:txBody>
        </p:sp>
        <p:sp>
          <p:nvSpPr>
            <p:cNvPr id="318" name="Google Shape;318;p14"/>
            <p:cNvSpPr/>
            <p:nvPr/>
          </p:nvSpPr>
          <p:spPr>
            <a:xfrm>
              <a:off x="4039304" y="-434899"/>
              <a:ext cx="3077167" cy="2928320"/>
            </a:xfrm>
            <a:prstGeom prst="ellipse">
              <a:avLst/>
            </a:prstGeom>
            <a:solidFill>
              <a:srgbClr val="FF0000">
                <a:alpha val="49803"/>
              </a:srgbClr>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txBox="1"/>
            <p:nvPr/>
          </p:nvSpPr>
          <p:spPr>
            <a:xfrm>
              <a:off x="4489945" y="-6056"/>
              <a:ext cx="2175885" cy="2070634"/>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Clr>
                  <a:schemeClr val="dk1"/>
                </a:buClr>
                <a:buSzPts val="3500"/>
                <a:buFont typeface="Twentieth Century"/>
                <a:buNone/>
              </a:pPr>
              <a:r>
                <a:rPr lang="en-US" sz="3500">
                  <a:solidFill>
                    <a:schemeClr val="dk1"/>
                  </a:solidFill>
                  <a:latin typeface="Twentieth Century"/>
                  <a:ea typeface="Twentieth Century"/>
                  <a:cs typeface="Twentieth Century"/>
                  <a:sym typeface="Twentieth Century"/>
                </a:rPr>
                <a:t>Demokrasi Liberal</a:t>
              </a:r>
              <a:endParaRPr sz="3500">
                <a:solidFill>
                  <a:schemeClr val="dk1"/>
                </a:solidFill>
                <a:latin typeface="Twentieth Century"/>
                <a:ea typeface="Twentieth Century"/>
                <a:cs typeface="Twentieth Century"/>
                <a:sym typeface="Twentieth Century"/>
              </a:endParaRPr>
            </a:p>
          </p:txBody>
        </p:sp>
      </p:grpSp>
      <p:sp>
        <p:nvSpPr>
          <p:cNvPr id="320" name="Google Shape;320;p14"/>
          <p:cNvSpPr txBox="1"/>
          <p:nvPr/>
        </p:nvSpPr>
        <p:spPr>
          <a:xfrm>
            <a:off x="7848600" y="5929396"/>
            <a:ext cx="3810000" cy="523220"/>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Yusuf al-Qaradawi, </a:t>
            </a:r>
            <a:r>
              <a:rPr i="1" lang="en-US" sz="1400">
                <a:solidFill>
                  <a:schemeClr val="dk1"/>
                </a:solidFill>
                <a:latin typeface="Twentieth Century"/>
                <a:ea typeface="Twentieth Century"/>
                <a:cs typeface="Twentieth Century"/>
                <a:sym typeface="Twentieth Century"/>
              </a:rPr>
              <a:t>Madkhal li Dirasat al-Syari‘ah al-Islamiyyah</a:t>
            </a:r>
            <a:r>
              <a:rPr lang="en-US" sz="1400">
                <a:solidFill>
                  <a:schemeClr val="dk1"/>
                </a:solidFill>
                <a:latin typeface="Twentieth Century"/>
                <a:ea typeface="Twentieth Century"/>
                <a:cs typeface="Twentieth Century"/>
                <a:sym typeface="Twentieth Century"/>
              </a:rPr>
              <a:t> (Kairo: Maktabah Wahbah, 2011).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 name="Shape 324"/>
        <p:cNvGrpSpPr/>
        <p:nvPr/>
      </p:nvGrpSpPr>
      <p:grpSpPr>
        <a:xfrm>
          <a:off x="0" y="0"/>
          <a:ext cx="0" cy="0"/>
          <a:chOff x="0" y="0"/>
          <a:chExt cx="0" cy="0"/>
        </a:xfrm>
      </p:grpSpPr>
      <p:pic>
        <p:nvPicPr>
          <p:cNvPr descr="Baiturrahman Grand Mosque with a pool of water&#10;&#10;Description automatically generated" id="325" name="Google Shape;325;p15"/>
          <p:cNvPicPr preferRelativeResize="0"/>
          <p:nvPr/>
        </p:nvPicPr>
        <p:blipFill rotWithShape="1">
          <a:blip r:embed="rId3">
            <a:alphaModFix amt="40000"/>
          </a:blip>
          <a:srcRect b="7818" l="0" r="0" t="10954"/>
          <a:stretch/>
        </p:blipFill>
        <p:spPr>
          <a:xfrm>
            <a:off x="0" y="0"/>
            <a:ext cx="12191980" cy="6857989"/>
          </a:xfrm>
          <a:prstGeom prst="rect">
            <a:avLst/>
          </a:prstGeom>
          <a:noFill/>
          <a:ln>
            <a:noFill/>
          </a:ln>
        </p:spPr>
      </p:pic>
      <p:sp>
        <p:nvSpPr>
          <p:cNvPr id="326" name="Google Shape;326;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3. PERDA SYARIAT DI INDONESIA</a:t>
            </a:r>
            <a:endParaRPr/>
          </a:p>
        </p:txBody>
      </p:sp>
      <p:sp>
        <p:nvSpPr>
          <p:cNvPr id="327" name="Google Shape;327;p15"/>
          <p:cNvSpPr txBox="1"/>
          <p:nvPr>
            <p:ph idx="1" type="body"/>
          </p:nvPr>
        </p:nvSpPr>
        <p:spPr>
          <a:xfrm>
            <a:off x="994630" y="1737360"/>
            <a:ext cx="9720073" cy="4023360"/>
          </a:xfrm>
          <a:prstGeom prst="rect">
            <a:avLst/>
          </a:prstGeom>
          <a:noFill/>
          <a:ln>
            <a:noFill/>
          </a:ln>
        </p:spPr>
        <p:txBody>
          <a:bodyPr anchorCtr="0" anchor="t" bIns="45700" lIns="45700" spcFirstLastPara="1" rIns="45700" wrap="square" tIns="45700">
            <a:noAutofit/>
          </a:bodyPr>
          <a:lstStyle/>
          <a:p>
            <a:pPr indent="0" lvl="0" marL="0" rtl="0" algn="l">
              <a:lnSpc>
                <a:spcPct val="90000"/>
              </a:lnSpc>
              <a:spcBef>
                <a:spcPts val="0"/>
              </a:spcBef>
              <a:spcAft>
                <a:spcPts val="0"/>
              </a:spcAft>
              <a:buSzPts val="2100"/>
              <a:buNone/>
            </a:pPr>
            <a:r>
              <a:rPr lang="en-US" sz="2100"/>
              <a:t>Gerakan penerapan syariah telah muncul sejak tahun-tahun awal berdirinya Indonesia, hanya saja selalu menemukan jalan buntu. Paling akhir, upaya mengembalikan Piagam Jakarta dengan mencantumkan klausa </a:t>
            </a:r>
            <a:r>
              <a:rPr i="1" lang="en-US" sz="2100"/>
              <a:t>“ ... dengan kewajiban menjalankan syariat Islam bagi pemeluknya,” </a:t>
            </a:r>
            <a:r>
              <a:rPr lang="en-US" sz="2100"/>
              <a:t>gagal masuk ke dalam amandemen konstitusi pada tahun 2002.</a:t>
            </a:r>
            <a:endParaRPr/>
          </a:p>
          <a:p>
            <a:pPr indent="0" lvl="0" marL="0" rtl="0" algn="l">
              <a:lnSpc>
                <a:spcPct val="90000"/>
              </a:lnSpc>
              <a:spcBef>
                <a:spcPts val="1400"/>
              </a:spcBef>
              <a:spcAft>
                <a:spcPts val="0"/>
              </a:spcAft>
              <a:buSzPts val="2100"/>
              <a:buNone/>
            </a:pPr>
            <a:r>
              <a:rPr lang="en-US" sz="2100"/>
              <a:t>Tidak berhasil pada skala nasional, upaya penerapan syariah kemudian menempuh pola baru, yaitu lewat peraturan daerah, dengan memanfaatkan UU No 22/1999 tentang otonomi daerah. UU ini menyatakan bahwa proses legislasi dalam benduk perda tidak lagi harus disahkan oleh pemerintah pusat, sepanjang tidak bertentangan dengan kepentingan umum dan peraturan perundangan yang leih tinggi.</a:t>
            </a:r>
            <a:endParaRPr/>
          </a:p>
          <a:p>
            <a:pPr indent="0" lvl="0" marL="0" rtl="0" algn="l">
              <a:lnSpc>
                <a:spcPct val="90000"/>
              </a:lnSpc>
              <a:spcBef>
                <a:spcPts val="1400"/>
              </a:spcBef>
              <a:spcAft>
                <a:spcPts val="0"/>
              </a:spcAft>
              <a:buSzPts val="2100"/>
              <a:buNone/>
            </a:pPr>
            <a:r>
              <a:rPr lang="en-US" sz="2100"/>
              <a:t>UU itu kemudian direvisi oleh UU No. 32/2004 yang menyatakan bahwa sebuah perda harus mendapatkan pengesahan oleh pemerintahan di atasnya (provinsi atau pusat), kecuali Nanggroe Aceh Darussalam (NAD).    </a:t>
            </a:r>
            <a:endParaRPr/>
          </a:p>
        </p:txBody>
      </p:sp>
      <p:sp>
        <p:nvSpPr>
          <p:cNvPr id="328" name="Google Shape;328;p15"/>
          <p:cNvSpPr txBox="1"/>
          <p:nvPr/>
        </p:nvSpPr>
        <p:spPr>
          <a:xfrm>
            <a:off x="1038876" y="6400800"/>
            <a:ext cx="8153400" cy="323165"/>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Twentieth Century"/>
                <a:ea typeface="Twentieth Century"/>
                <a:cs typeface="Twentieth Century"/>
                <a:sym typeface="Twentieth Century"/>
              </a:rPr>
              <a:t>Sukron Kamil, </a:t>
            </a:r>
            <a:r>
              <a:rPr i="1" lang="en-US" sz="1500">
                <a:solidFill>
                  <a:schemeClr val="dk1"/>
                </a:solidFill>
                <a:latin typeface="Twentieth Century"/>
                <a:ea typeface="Twentieth Century"/>
                <a:cs typeface="Twentieth Century"/>
                <a:sym typeface="Twentieth Century"/>
              </a:rPr>
              <a:t>Islam dan Politik di Indonesia Terkini</a:t>
            </a:r>
            <a:r>
              <a:rPr lang="en-US" sz="1500">
                <a:solidFill>
                  <a:schemeClr val="dk1"/>
                </a:solidFill>
                <a:latin typeface="Twentieth Century"/>
                <a:ea typeface="Twentieth Century"/>
                <a:cs typeface="Twentieth Century"/>
                <a:sym typeface="Twentieth Century"/>
              </a:rPr>
              <a:t> (Jakarta: Pusat Studi Indonesia dan Arab, 2013), 228.</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6"/>
          <p:cNvSpPr txBox="1"/>
          <p:nvPr>
            <p:ph type="title"/>
          </p:nvPr>
        </p:nvSpPr>
        <p:spPr>
          <a:xfrm>
            <a:off x="763229" y="609600"/>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TINGKAT FORMALISASI SYARIAH</a:t>
            </a:r>
            <a:endParaRPr/>
          </a:p>
        </p:txBody>
      </p:sp>
      <p:graphicFrame>
        <p:nvGraphicFramePr>
          <p:cNvPr id="334" name="Google Shape;334;p16"/>
          <p:cNvGraphicFramePr/>
          <p:nvPr/>
        </p:nvGraphicFramePr>
        <p:xfrm>
          <a:off x="763229" y="1981200"/>
          <a:ext cx="3000000" cy="3000000"/>
        </p:xfrm>
        <a:graphic>
          <a:graphicData uri="http://schemas.openxmlformats.org/drawingml/2006/table">
            <a:tbl>
              <a:tblPr bandRow="1" firstRow="1">
                <a:noFill/>
                <a:tableStyleId>{952CF0A5-B5C4-41BD-8737-B4C226D8AAD5}</a:tableStyleId>
              </a:tblPr>
              <a:tblGrid>
                <a:gridCol w="1133975"/>
                <a:gridCol w="2341100"/>
                <a:gridCol w="5302550"/>
                <a:gridCol w="1887925"/>
              </a:tblGrid>
              <a:tr h="383225">
                <a:tc>
                  <a:txBody>
                    <a:bodyPr/>
                    <a:lstStyle/>
                    <a:p>
                      <a:pPr indent="0" lvl="0" marL="0" marR="0" rtl="0" algn="l">
                        <a:spcBef>
                          <a:spcPts val="0"/>
                        </a:spcBef>
                        <a:spcAft>
                          <a:spcPts val="0"/>
                        </a:spcAft>
                        <a:buNone/>
                      </a:pPr>
                      <a:r>
                        <a:rPr lang="en-US" sz="1800" u="none" cap="none" strike="noStrike"/>
                        <a:t>Tingkat</a:t>
                      </a:r>
                      <a:endParaRPr/>
                    </a:p>
                  </a:txBody>
                  <a:tcPr marT="45725" marB="45725" marR="91450" marL="91450"/>
                </a:tc>
                <a:tc>
                  <a:txBody>
                    <a:bodyPr/>
                    <a:lstStyle/>
                    <a:p>
                      <a:pPr indent="0" lvl="0" marL="0" marR="0" rtl="0" algn="l">
                        <a:spcBef>
                          <a:spcPts val="0"/>
                        </a:spcBef>
                        <a:spcAft>
                          <a:spcPts val="0"/>
                        </a:spcAft>
                        <a:buNone/>
                      </a:pPr>
                      <a:r>
                        <a:rPr lang="en-US" sz="1800"/>
                        <a:t>Ranah Syariah </a:t>
                      </a:r>
                      <a:endParaRPr/>
                    </a:p>
                  </a:txBody>
                  <a:tcPr marT="45725" marB="45725" marR="91450" marL="91450"/>
                </a:tc>
                <a:tc>
                  <a:txBody>
                    <a:bodyPr/>
                    <a:lstStyle/>
                    <a:p>
                      <a:pPr indent="0" lvl="0" marL="0" marR="0" rtl="0" algn="l">
                        <a:spcBef>
                          <a:spcPts val="0"/>
                        </a:spcBef>
                        <a:spcAft>
                          <a:spcPts val="0"/>
                        </a:spcAft>
                        <a:buNone/>
                      </a:pPr>
                      <a:r>
                        <a:rPr lang="en-US" sz="1800"/>
                        <a:t>Subjek UU/ Inpres/ Perda</a:t>
                      </a:r>
                      <a:endParaRPr/>
                    </a:p>
                  </a:txBody>
                  <a:tcPr marT="45725" marB="45725" marR="91450" marL="91450"/>
                </a:tc>
                <a:tc>
                  <a:txBody>
                    <a:bodyPr/>
                    <a:lstStyle/>
                    <a:p>
                      <a:pPr indent="0" lvl="0" marL="0" marR="0" rtl="0" algn="l">
                        <a:spcBef>
                          <a:spcPts val="0"/>
                        </a:spcBef>
                        <a:spcAft>
                          <a:spcPts val="0"/>
                        </a:spcAft>
                        <a:buNone/>
                      </a:pPr>
                      <a:r>
                        <a:rPr lang="en-US" sz="1800"/>
                        <a:t>Nasional/Daerah</a:t>
                      </a:r>
                      <a:endParaRPr/>
                    </a:p>
                  </a:txBody>
                  <a:tcPr marT="45725" marB="45725" marR="91450" marL="91450"/>
                </a:tc>
              </a:tr>
              <a:tr h="1147300">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Hukum Keluarga</a:t>
                      </a:r>
                      <a:endParaRPr/>
                    </a:p>
                  </a:txBody>
                  <a:tcPr marT="45725" marB="45725" marR="91450" marL="91450"/>
                </a:tc>
                <a:tc>
                  <a:txBody>
                    <a:bodyPr/>
                    <a:lstStyle/>
                    <a:p>
                      <a:pPr indent="0" lvl="0" marL="0" marR="0" rtl="0" algn="l">
                        <a:spcBef>
                          <a:spcPts val="0"/>
                        </a:spcBef>
                        <a:spcAft>
                          <a:spcPts val="0"/>
                        </a:spcAft>
                        <a:buNone/>
                      </a:pPr>
                      <a:r>
                        <a:rPr lang="en-US" sz="1800"/>
                        <a:t>UU Kabsahan perkawinan berdasar agama; UU Peradilan Agama; Kompilasi Hukum Islam; Hukum</a:t>
                      </a:r>
                      <a:endParaRPr/>
                    </a:p>
                    <a:p>
                      <a:pPr indent="0" lvl="0" marL="0" marR="0" rtl="0" algn="l">
                        <a:spcBef>
                          <a:spcPts val="0"/>
                        </a:spcBef>
                        <a:spcAft>
                          <a:spcPts val="0"/>
                        </a:spcAft>
                        <a:buNone/>
                      </a:pPr>
                      <a:r>
                        <a:rPr lang="en-US" sz="1800"/>
                        <a:t>Waris, hukum wakaf, dan hukum ekonomi Syari’ah </a:t>
                      </a:r>
                      <a:endParaRPr sz="1800"/>
                    </a:p>
                  </a:txBody>
                  <a:tcPr marT="45725" marB="45725" marR="91450" marL="91450"/>
                </a:tc>
                <a:tc>
                  <a:txBody>
                    <a:bodyPr/>
                    <a:lstStyle/>
                    <a:p>
                      <a:pPr indent="0" lvl="0" marL="0" marR="0" rtl="0" algn="l">
                        <a:spcBef>
                          <a:spcPts val="0"/>
                        </a:spcBef>
                        <a:spcAft>
                          <a:spcPts val="0"/>
                        </a:spcAft>
                        <a:buNone/>
                      </a:pPr>
                      <a:r>
                        <a:rPr lang="en-US" sz="1800"/>
                        <a:t>Nasional</a:t>
                      </a:r>
                      <a:endParaRPr/>
                    </a:p>
                  </a:txBody>
                  <a:tcPr marT="45725" marB="45725" marR="91450" marL="91450"/>
                </a:tc>
              </a:tr>
              <a:tr h="1147300">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Hukum Muamalah dan Ekonomi</a:t>
                      </a:r>
                      <a:endParaRPr/>
                    </a:p>
                  </a:txBody>
                  <a:tcPr marT="45725" marB="45725" marR="91450" marL="91450"/>
                </a:tc>
                <a:tc>
                  <a:txBody>
                    <a:bodyPr/>
                    <a:lstStyle/>
                    <a:p>
                      <a:pPr indent="0" lvl="0" marL="0" marR="0" rtl="0" algn="l">
                        <a:spcBef>
                          <a:spcPts val="0"/>
                        </a:spcBef>
                        <a:spcAft>
                          <a:spcPts val="0"/>
                        </a:spcAft>
                        <a:buNone/>
                      </a:pPr>
                      <a:r>
                        <a:rPr lang="en-US" sz="1800"/>
                        <a:t>UU Peradilan Agama; Perda Cara berpakaian Mulism; Perda pengelolaan ZIS; Perda Sekolah Diniyyah; Perda Pelajaran ekonomi Syariah </a:t>
                      </a:r>
                      <a:endParaRPr/>
                    </a:p>
                  </a:txBody>
                  <a:tcPr marT="45725" marB="45725" marR="91450" marL="91450"/>
                </a:tc>
                <a:tc>
                  <a:txBody>
                    <a:bodyPr/>
                    <a:lstStyle/>
                    <a:p>
                      <a:pPr indent="0" lvl="0" marL="0" marR="0" rtl="0" algn="l">
                        <a:spcBef>
                          <a:spcPts val="0"/>
                        </a:spcBef>
                        <a:spcAft>
                          <a:spcPts val="0"/>
                        </a:spcAft>
                        <a:buNone/>
                      </a:pPr>
                      <a:r>
                        <a:rPr lang="en-US" sz="1800"/>
                        <a:t>Nasional dan Daerah</a:t>
                      </a:r>
                      <a:endParaRPr/>
                    </a:p>
                  </a:txBody>
                  <a:tcPr marT="45725" marB="45725" marR="91450" marL="91450"/>
                </a:tc>
              </a:tr>
              <a:tr h="1147300">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Ibadah</a:t>
                      </a:r>
                      <a:endParaRPr/>
                    </a:p>
                  </a:txBody>
                  <a:tcPr marT="45725" marB="45725" marR="91450" marL="91450"/>
                </a:tc>
                <a:tc>
                  <a:txBody>
                    <a:bodyPr/>
                    <a:lstStyle/>
                    <a:p>
                      <a:pPr indent="0" lvl="0" marL="0" marR="0" rtl="0" algn="l">
                        <a:spcBef>
                          <a:spcPts val="0"/>
                        </a:spcBef>
                        <a:spcAft>
                          <a:spcPts val="0"/>
                        </a:spcAft>
                        <a:buNone/>
                      </a:pPr>
                      <a:r>
                        <a:rPr lang="en-US" sz="1800"/>
                        <a:t>UU Perwakafan; UU haji; Perda Jumat Khusyuk; Perda Baca tulis al-Qur’an; Perda tutup warung ketika waktu salat.</a:t>
                      </a:r>
                      <a:endParaRPr/>
                    </a:p>
                  </a:txBody>
                  <a:tcPr marT="45725" marB="45725" marR="91450" marL="91450"/>
                </a:tc>
                <a:tc>
                  <a:txBody>
                    <a:bodyPr/>
                    <a:lstStyle/>
                    <a:p>
                      <a:pPr indent="0" lvl="0" marL="0" marR="0" rtl="0" algn="l">
                        <a:spcBef>
                          <a:spcPts val="0"/>
                        </a:spcBef>
                        <a:spcAft>
                          <a:spcPts val="0"/>
                        </a:spcAft>
                        <a:buNone/>
                      </a:pPr>
                      <a:r>
                        <a:rPr lang="en-US" sz="1800"/>
                        <a:t>Nasional dan Daerah</a:t>
                      </a:r>
                      <a:endParaRPr/>
                    </a:p>
                  </a:txBody>
                  <a:tcPr marT="45725" marB="45725" marR="91450" marL="91450"/>
                </a:tc>
              </a:tr>
              <a:tr h="670650">
                <a:tc>
                  <a:txBody>
                    <a:bodyPr/>
                    <a:lstStyle/>
                    <a:p>
                      <a:pPr indent="0" lvl="0" marL="0" marR="0" rtl="0" algn="l">
                        <a:spcBef>
                          <a:spcPts val="0"/>
                        </a:spcBef>
                        <a:spcAft>
                          <a:spcPts val="0"/>
                        </a:spcAft>
                        <a:buNone/>
                      </a:pPr>
                      <a:r>
                        <a:rPr lang="en-US" sz="1800"/>
                        <a:t>4.</a:t>
                      </a:r>
                      <a:endParaRPr/>
                    </a:p>
                  </a:txBody>
                  <a:tcPr marT="45725" marB="45725" marR="91450" marL="91450"/>
                </a:tc>
                <a:tc>
                  <a:txBody>
                    <a:bodyPr/>
                    <a:lstStyle/>
                    <a:p>
                      <a:pPr indent="0" lvl="0" marL="0" marR="0" rtl="0" algn="l">
                        <a:spcBef>
                          <a:spcPts val="0"/>
                        </a:spcBef>
                        <a:spcAft>
                          <a:spcPts val="0"/>
                        </a:spcAft>
                        <a:buNone/>
                      </a:pPr>
                      <a:r>
                        <a:rPr lang="en-US" sz="1800"/>
                        <a:t>Hukum Pidana Islam</a:t>
                      </a:r>
                      <a:endParaRPr/>
                    </a:p>
                  </a:txBody>
                  <a:tcPr marT="45725" marB="45725" marR="91450" marL="91450"/>
                </a:tc>
                <a:tc>
                  <a:txBody>
                    <a:bodyPr/>
                    <a:lstStyle/>
                    <a:p>
                      <a:pPr indent="0" lvl="0" marL="0" marR="0" rtl="0" algn="l">
                        <a:spcBef>
                          <a:spcPts val="0"/>
                        </a:spcBef>
                        <a:spcAft>
                          <a:spcPts val="0"/>
                        </a:spcAft>
                        <a:buNone/>
                      </a:pPr>
                      <a:r>
                        <a:rPr lang="en-US" sz="1800"/>
                        <a:t>Perda Larangan judi; Perda larangan khalwat; Perda larangan minuman keras.</a:t>
                      </a:r>
                      <a:endParaRPr/>
                    </a:p>
                  </a:txBody>
                  <a:tcPr marT="45725" marB="45725" marR="91450" marL="91450"/>
                </a:tc>
                <a:tc>
                  <a:txBody>
                    <a:bodyPr/>
                    <a:lstStyle/>
                    <a:p>
                      <a:pPr indent="0" lvl="0" marL="0" marR="0" rtl="0" algn="l">
                        <a:spcBef>
                          <a:spcPts val="0"/>
                        </a:spcBef>
                        <a:spcAft>
                          <a:spcPts val="0"/>
                        </a:spcAft>
                        <a:buNone/>
                      </a:pPr>
                      <a:r>
                        <a:rPr lang="en-US" sz="1800"/>
                        <a:t>Daerah</a:t>
                      </a:r>
                      <a:endParaRPr/>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8" name="Shape 338"/>
        <p:cNvGrpSpPr/>
        <p:nvPr/>
      </p:nvGrpSpPr>
      <p:grpSpPr>
        <a:xfrm>
          <a:off x="0" y="0"/>
          <a:ext cx="0" cy="0"/>
          <a:chOff x="0" y="0"/>
          <a:chExt cx="0" cy="0"/>
        </a:xfrm>
      </p:grpSpPr>
      <p:sp>
        <p:nvSpPr>
          <p:cNvPr id="339" name="Google Shape;339;p17"/>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40" name="Google Shape;340;p17"/>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341" name="Google Shape;341;p17"/>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342" name="Google Shape;342;p17"/>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43" name="Google Shape;343;p17"/>
          <p:cNvSpPr txBox="1"/>
          <p:nvPr>
            <p:ph type="title"/>
          </p:nvPr>
        </p:nvSpPr>
        <p:spPr>
          <a:xfrm>
            <a:off x="636805" y="640080"/>
            <a:ext cx="4809406"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000"/>
              <a:buFont typeface="Twentieth Century"/>
              <a:buNone/>
            </a:pPr>
            <a:r>
              <a:rPr lang="en-US"/>
              <a:t>PERAN</a:t>
            </a:r>
            <a:r>
              <a:rPr lang="en-US" cap="none">
                <a:solidFill>
                  <a:srgbClr val="0C0C0C"/>
                </a:solidFill>
                <a:latin typeface="Twentieth Century"/>
                <a:ea typeface="Twentieth Century"/>
                <a:cs typeface="Twentieth Century"/>
                <a:sym typeface="Twentieth Century"/>
              </a:rPr>
              <a:t> WARGANEGARA</a:t>
            </a:r>
            <a:endParaRPr cap="none">
              <a:solidFill>
                <a:srgbClr val="0C0C0C"/>
              </a:solidFill>
              <a:latin typeface="Twentieth Century"/>
              <a:ea typeface="Twentieth Century"/>
              <a:cs typeface="Twentieth Century"/>
              <a:sym typeface="Twentieth Century"/>
            </a:endParaRPr>
          </a:p>
        </p:txBody>
      </p:sp>
      <p:cxnSp>
        <p:nvCxnSpPr>
          <p:cNvPr id="344" name="Google Shape;344;p17"/>
          <p:cNvCxnSpPr/>
          <p:nvPr/>
        </p:nvCxnSpPr>
        <p:spPr>
          <a:xfrm>
            <a:off x="700698" y="3765314"/>
            <a:ext cx="4754880" cy="0"/>
          </a:xfrm>
          <a:prstGeom prst="straightConnector1">
            <a:avLst/>
          </a:prstGeom>
          <a:noFill/>
          <a:ln cap="flat" cmpd="sng" w="19050">
            <a:solidFill>
              <a:srgbClr val="1482AB"/>
            </a:solidFill>
            <a:prstDash val="solid"/>
            <a:round/>
            <a:headEnd len="sm" w="sm" type="none"/>
            <a:tailEnd len="sm" w="sm" type="none"/>
          </a:ln>
        </p:spPr>
      </p:cxnSp>
      <p:pic>
        <p:nvPicPr>
          <p:cNvPr descr="A group of people holding flags&#10;&#10;Description automatically generated" id="345" name="Google Shape;345;p17"/>
          <p:cNvPicPr preferRelativeResize="0"/>
          <p:nvPr/>
        </p:nvPicPr>
        <p:blipFill rotWithShape="1">
          <a:blip r:embed="rId3">
            <a:alphaModFix/>
          </a:blip>
          <a:srcRect b="0" l="0" r="0" t="0"/>
          <a:stretch/>
        </p:blipFill>
        <p:spPr>
          <a:xfrm>
            <a:off x="6092952" y="1706622"/>
            <a:ext cx="5458968" cy="34457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MEMILIH DAN BERSIKAP TERHADAP PEMIMIPN</a:t>
            </a:r>
            <a:endParaRPr/>
          </a:p>
        </p:txBody>
      </p:sp>
      <p:sp>
        <p:nvSpPr>
          <p:cNvPr id="352" name="Google Shape;352;p18"/>
          <p:cNvSpPr txBox="1"/>
          <p:nvPr>
            <p:ph idx="1" type="body"/>
          </p:nvPr>
        </p:nvSpPr>
        <p:spPr>
          <a:xfrm>
            <a:off x="1023620" y="1905000"/>
            <a:ext cx="4754880" cy="822960"/>
          </a:xfrm>
          <a:prstGeom prst="rect">
            <a:avLst/>
          </a:prstGeom>
          <a:solidFill>
            <a:srgbClr val="0070C0"/>
          </a:solidFill>
          <a:ln>
            <a:noFill/>
          </a:ln>
        </p:spPr>
        <p:txBody>
          <a:bodyPr anchorCtr="0" anchor="ctr" bIns="45700" lIns="137150" spcFirstLastPara="1" rIns="137150" wrap="square" tIns="45700">
            <a:normAutofit/>
          </a:bodyPr>
          <a:lstStyle/>
          <a:p>
            <a:pPr indent="0" lvl="0" marL="0" rtl="0" algn="l">
              <a:lnSpc>
                <a:spcPct val="90000"/>
              </a:lnSpc>
              <a:spcBef>
                <a:spcPts val="0"/>
              </a:spcBef>
              <a:spcAft>
                <a:spcPts val="0"/>
              </a:spcAft>
              <a:buSzPts val="2300"/>
              <a:buNone/>
            </a:pPr>
            <a:r>
              <a:rPr lang="en-US">
                <a:solidFill>
                  <a:schemeClr val="lt1"/>
                </a:solidFill>
              </a:rPr>
              <a:t>Kualifikasi Pemimpin</a:t>
            </a:r>
            <a:endParaRPr/>
          </a:p>
        </p:txBody>
      </p:sp>
      <p:grpSp>
        <p:nvGrpSpPr>
          <p:cNvPr id="353" name="Google Shape;353;p18"/>
          <p:cNvGrpSpPr/>
          <p:nvPr/>
        </p:nvGrpSpPr>
        <p:grpSpPr>
          <a:xfrm>
            <a:off x="1023938" y="2728367"/>
            <a:ext cx="4754562" cy="3340871"/>
            <a:chOff x="0" y="407"/>
            <a:chExt cx="4754562" cy="3340871"/>
          </a:xfrm>
        </p:grpSpPr>
        <p:cxnSp>
          <p:nvCxnSpPr>
            <p:cNvPr id="354" name="Google Shape;354;p18"/>
            <p:cNvCxnSpPr/>
            <p:nvPr/>
          </p:nvCxnSpPr>
          <p:spPr>
            <a:xfrm>
              <a:off x="0" y="407"/>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55" name="Google Shape;355;p18"/>
            <p:cNvSpPr/>
            <p:nvPr/>
          </p:nvSpPr>
          <p:spPr>
            <a:xfrm>
              <a:off x="0" y="407"/>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txBox="1"/>
            <p:nvPr/>
          </p:nvSpPr>
          <p:spPr>
            <a:xfrm>
              <a:off x="0" y="407"/>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1. Bertauhidullah</a:t>
              </a:r>
              <a:endParaRPr sz="2100">
                <a:solidFill>
                  <a:schemeClr val="dk1"/>
                </a:solidFill>
                <a:latin typeface="Twentieth Century"/>
                <a:ea typeface="Twentieth Century"/>
                <a:cs typeface="Twentieth Century"/>
                <a:sym typeface="Twentieth Century"/>
              </a:endParaRPr>
            </a:p>
          </p:txBody>
        </p:sp>
        <p:cxnSp>
          <p:nvCxnSpPr>
            <p:cNvPr id="357" name="Google Shape;357;p18"/>
            <p:cNvCxnSpPr/>
            <p:nvPr/>
          </p:nvCxnSpPr>
          <p:spPr>
            <a:xfrm>
              <a:off x="0" y="477675"/>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58" name="Google Shape;358;p18"/>
            <p:cNvSpPr/>
            <p:nvPr/>
          </p:nvSpPr>
          <p:spPr>
            <a:xfrm>
              <a:off x="0" y="477675"/>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txBox="1"/>
            <p:nvPr/>
          </p:nvSpPr>
          <p:spPr>
            <a:xfrm>
              <a:off x="0" y="477675"/>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2. Bersifat adil (berintegritas) </a:t>
              </a:r>
              <a:endParaRPr sz="2100">
                <a:solidFill>
                  <a:schemeClr val="dk1"/>
                </a:solidFill>
                <a:latin typeface="Twentieth Century"/>
                <a:ea typeface="Twentieth Century"/>
                <a:cs typeface="Twentieth Century"/>
                <a:sym typeface="Twentieth Century"/>
              </a:endParaRPr>
            </a:p>
          </p:txBody>
        </p:sp>
        <p:cxnSp>
          <p:nvCxnSpPr>
            <p:cNvPr id="360" name="Google Shape;360;p18"/>
            <p:cNvCxnSpPr/>
            <p:nvPr/>
          </p:nvCxnSpPr>
          <p:spPr>
            <a:xfrm>
              <a:off x="0" y="954942"/>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61" name="Google Shape;361;p18"/>
            <p:cNvSpPr/>
            <p:nvPr/>
          </p:nvSpPr>
          <p:spPr>
            <a:xfrm>
              <a:off x="0" y="954942"/>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txBox="1"/>
            <p:nvPr/>
          </p:nvSpPr>
          <p:spPr>
            <a:xfrm>
              <a:off x="0" y="954942"/>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3. Berwawasan luas (visioner)</a:t>
              </a:r>
              <a:endParaRPr sz="2100">
                <a:solidFill>
                  <a:schemeClr val="dk1"/>
                </a:solidFill>
                <a:latin typeface="Twentieth Century"/>
                <a:ea typeface="Twentieth Century"/>
                <a:cs typeface="Twentieth Century"/>
                <a:sym typeface="Twentieth Century"/>
              </a:endParaRPr>
            </a:p>
          </p:txBody>
        </p:sp>
        <p:cxnSp>
          <p:nvCxnSpPr>
            <p:cNvPr id="363" name="Google Shape;363;p18"/>
            <p:cNvCxnSpPr/>
            <p:nvPr/>
          </p:nvCxnSpPr>
          <p:spPr>
            <a:xfrm>
              <a:off x="0" y="1432209"/>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64" name="Google Shape;364;p18"/>
            <p:cNvSpPr/>
            <p:nvPr/>
          </p:nvSpPr>
          <p:spPr>
            <a:xfrm>
              <a:off x="0" y="1432209"/>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txBox="1"/>
            <p:nvPr/>
          </p:nvSpPr>
          <p:spPr>
            <a:xfrm>
              <a:off x="0" y="1432209"/>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4. Sehat pancainderanya</a:t>
              </a:r>
              <a:endParaRPr sz="2100">
                <a:solidFill>
                  <a:schemeClr val="dk1"/>
                </a:solidFill>
                <a:latin typeface="Twentieth Century"/>
                <a:ea typeface="Twentieth Century"/>
                <a:cs typeface="Twentieth Century"/>
                <a:sym typeface="Twentieth Century"/>
              </a:endParaRPr>
            </a:p>
          </p:txBody>
        </p:sp>
        <p:cxnSp>
          <p:nvCxnSpPr>
            <p:cNvPr id="366" name="Google Shape;366;p18"/>
            <p:cNvCxnSpPr/>
            <p:nvPr/>
          </p:nvCxnSpPr>
          <p:spPr>
            <a:xfrm>
              <a:off x="0" y="1909477"/>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67" name="Google Shape;367;p18"/>
            <p:cNvSpPr/>
            <p:nvPr/>
          </p:nvSpPr>
          <p:spPr>
            <a:xfrm>
              <a:off x="0" y="1909477"/>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txBox="1"/>
            <p:nvPr/>
          </p:nvSpPr>
          <p:spPr>
            <a:xfrm>
              <a:off x="0" y="1909477"/>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5. Sehat fisiknya </a:t>
              </a:r>
              <a:endParaRPr sz="2100">
                <a:solidFill>
                  <a:schemeClr val="dk1"/>
                </a:solidFill>
                <a:latin typeface="Twentieth Century"/>
                <a:ea typeface="Twentieth Century"/>
                <a:cs typeface="Twentieth Century"/>
                <a:sym typeface="Twentieth Century"/>
              </a:endParaRPr>
            </a:p>
          </p:txBody>
        </p:sp>
        <p:cxnSp>
          <p:nvCxnSpPr>
            <p:cNvPr id="369" name="Google Shape;369;p18"/>
            <p:cNvCxnSpPr/>
            <p:nvPr/>
          </p:nvCxnSpPr>
          <p:spPr>
            <a:xfrm>
              <a:off x="0" y="2386744"/>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70" name="Google Shape;370;p18"/>
            <p:cNvSpPr/>
            <p:nvPr/>
          </p:nvSpPr>
          <p:spPr>
            <a:xfrm>
              <a:off x="0" y="2386744"/>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txBox="1"/>
            <p:nvPr/>
          </p:nvSpPr>
          <p:spPr>
            <a:xfrm>
              <a:off x="0" y="2386744"/>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6. Berorientasi kemaslahatan rakyat</a:t>
              </a:r>
              <a:endParaRPr sz="2100">
                <a:solidFill>
                  <a:schemeClr val="dk1"/>
                </a:solidFill>
                <a:latin typeface="Twentieth Century"/>
                <a:ea typeface="Twentieth Century"/>
                <a:cs typeface="Twentieth Century"/>
                <a:sym typeface="Twentieth Century"/>
              </a:endParaRPr>
            </a:p>
          </p:txBody>
        </p:sp>
        <p:cxnSp>
          <p:nvCxnSpPr>
            <p:cNvPr id="372" name="Google Shape;372;p18"/>
            <p:cNvCxnSpPr/>
            <p:nvPr/>
          </p:nvCxnSpPr>
          <p:spPr>
            <a:xfrm>
              <a:off x="0" y="2864011"/>
              <a:ext cx="4754562" cy="0"/>
            </a:xfrm>
            <a:prstGeom prst="straightConnector1">
              <a:avLst/>
            </a:prstGeom>
            <a:solidFill>
              <a:srgbClr val="19ACE4"/>
            </a:solidFill>
            <a:ln cap="flat" cmpd="sng" w="15875">
              <a:solidFill>
                <a:srgbClr val="19ACE4"/>
              </a:solidFill>
              <a:prstDash val="solid"/>
              <a:round/>
              <a:headEnd len="sm" w="sm" type="none"/>
              <a:tailEnd len="sm" w="sm" type="none"/>
            </a:ln>
          </p:spPr>
        </p:cxnSp>
        <p:sp>
          <p:nvSpPr>
            <p:cNvPr id="373" name="Google Shape;373;p18"/>
            <p:cNvSpPr/>
            <p:nvPr/>
          </p:nvSpPr>
          <p:spPr>
            <a:xfrm>
              <a:off x="0" y="2864011"/>
              <a:ext cx="4754562" cy="4772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txBox="1"/>
            <p:nvPr/>
          </p:nvSpPr>
          <p:spPr>
            <a:xfrm>
              <a:off x="0" y="2864011"/>
              <a:ext cx="4754562" cy="477267"/>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lang="en-US" sz="2100">
                  <a:solidFill>
                    <a:schemeClr val="dk1"/>
                  </a:solidFill>
                  <a:latin typeface="Twentieth Century"/>
                  <a:ea typeface="Twentieth Century"/>
                  <a:cs typeface="Twentieth Century"/>
                  <a:sym typeface="Twentieth Century"/>
                </a:rPr>
                <a:t>7. Bekarakter berani dan tangguh</a:t>
              </a:r>
              <a:endParaRPr sz="2100">
                <a:solidFill>
                  <a:schemeClr val="dk1"/>
                </a:solidFill>
                <a:latin typeface="Twentieth Century"/>
                <a:ea typeface="Twentieth Century"/>
                <a:cs typeface="Twentieth Century"/>
                <a:sym typeface="Twentieth Century"/>
              </a:endParaRPr>
            </a:p>
          </p:txBody>
        </p:sp>
      </p:grpSp>
      <p:sp>
        <p:nvSpPr>
          <p:cNvPr id="375" name="Google Shape;375;p18"/>
          <p:cNvSpPr txBox="1"/>
          <p:nvPr>
            <p:ph idx="3" type="body"/>
          </p:nvPr>
        </p:nvSpPr>
        <p:spPr>
          <a:xfrm>
            <a:off x="5991035" y="1905000"/>
            <a:ext cx="5176837" cy="822960"/>
          </a:xfrm>
          <a:prstGeom prst="rect">
            <a:avLst/>
          </a:prstGeom>
          <a:solidFill>
            <a:srgbClr val="00B050"/>
          </a:solidFill>
          <a:ln>
            <a:noFill/>
          </a:ln>
        </p:spPr>
        <p:txBody>
          <a:bodyPr anchorCtr="0" anchor="ctr" bIns="45700" lIns="137150" spcFirstLastPara="1" rIns="137150" wrap="square" tIns="45700">
            <a:normAutofit/>
          </a:bodyPr>
          <a:lstStyle/>
          <a:p>
            <a:pPr indent="0" lvl="0" marL="0" rtl="0" algn="l">
              <a:lnSpc>
                <a:spcPct val="90000"/>
              </a:lnSpc>
              <a:spcBef>
                <a:spcPts val="0"/>
              </a:spcBef>
              <a:spcAft>
                <a:spcPts val="0"/>
              </a:spcAft>
              <a:buSzPts val="2300"/>
              <a:buNone/>
            </a:pPr>
            <a:r>
              <a:rPr lang="en-US">
                <a:solidFill>
                  <a:schemeClr val="lt1"/>
                </a:solidFill>
              </a:rPr>
              <a:t>Sikap Raykat  </a:t>
            </a:r>
            <a:endParaRPr/>
          </a:p>
        </p:txBody>
      </p:sp>
      <p:grpSp>
        <p:nvGrpSpPr>
          <p:cNvPr id="376" name="Google Shape;376;p18"/>
          <p:cNvGrpSpPr/>
          <p:nvPr/>
        </p:nvGrpSpPr>
        <p:grpSpPr>
          <a:xfrm>
            <a:off x="2254574" y="2142644"/>
            <a:ext cx="8870085" cy="4453722"/>
            <a:chOff x="-3736460" y="-573988"/>
            <a:chExt cx="8870085" cy="4453722"/>
          </a:xfrm>
        </p:grpSpPr>
        <p:sp>
          <p:nvSpPr>
            <p:cNvPr id="377" name="Google Shape;377;p18"/>
            <p:cNvSpPr/>
            <p:nvPr/>
          </p:nvSpPr>
          <p:spPr>
            <a:xfrm>
              <a:off x="-3736460" y="-573988"/>
              <a:ext cx="4453722" cy="4453722"/>
            </a:xfrm>
            <a:prstGeom prst="blockArc">
              <a:avLst>
                <a:gd fmla="val 18900000" name="adj1"/>
                <a:gd fmla="val 2700000" name="adj2"/>
                <a:gd fmla="val 485" name="adj3"/>
              </a:avLst>
            </a:prstGeom>
            <a:noFill/>
            <a:ln cap="flat" cmpd="sng" w="15875">
              <a:solidFill>
                <a:srgbClr val="2847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375957" y="254145"/>
              <a:ext cx="4757668" cy="508555"/>
            </a:xfrm>
            <a:prstGeom prst="rect">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txBox="1"/>
            <p:nvPr/>
          </p:nvSpPr>
          <p:spPr>
            <a:xfrm>
              <a:off x="375957" y="254145"/>
              <a:ext cx="4757668" cy="508555"/>
            </a:xfrm>
            <a:prstGeom prst="rect">
              <a:avLst/>
            </a:prstGeom>
            <a:noFill/>
            <a:ln>
              <a:noFill/>
            </a:ln>
          </p:spPr>
          <p:txBody>
            <a:bodyPr anchorCtr="0" anchor="ctr" bIns="53325" lIns="403650" spcFirstLastPara="1" rIns="53325" wrap="square" tIns="53325">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1. Menaatinya dalam kebajikan</a:t>
              </a:r>
              <a:endParaRPr sz="2100">
                <a:solidFill>
                  <a:schemeClr val="lt1"/>
                </a:solidFill>
                <a:latin typeface="Twentieth Century"/>
                <a:ea typeface="Twentieth Century"/>
                <a:cs typeface="Twentieth Century"/>
                <a:sym typeface="Twentieth Century"/>
              </a:endParaRPr>
            </a:p>
          </p:txBody>
        </p:sp>
        <p:sp>
          <p:nvSpPr>
            <p:cNvPr id="380" name="Google Shape;380;p18"/>
            <p:cNvSpPr/>
            <p:nvPr/>
          </p:nvSpPr>
          <p:spPr>
            <a:xfrm>
              <a:off x="58110" y="190576"/>
              <a:ext cx="635694" cy="635694"/>
            </a:xfrm>
            <a:prstGeom prst="ellipse">
              <a:avLst/>
            </a:prstGeom>
            <a:solidFill>
              <a:schemeClr val="lt2"/>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p:nvPr/>
          </p:nvSpPr>
          <p:spPr>
            <a:xfrm>
              <a:off x="667524" y="1017111"/>
              <a:ext cx="4466101" cy="508555"/>
            </a:xfrm>
            <a:prstGeom prst="rect">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txBox="1"/>
            <p:nvPr/>
          </p:nvSpPr>
          <p:spPr>
            <a:xfrm>
              <a:off x="667524" y="1017111"/>
              <a:ext cx="4466101" cy="508555"/>
            </a:xfrm>
            <a:prstGeom prst="rect">
              <a:avLst/>
            </a:prstGeom>
            <a:noFill/>
            <a:ln>
              <a:noFill/>
            </a:ln>
          </p:spPr>
          <p:txBody>
            <a:bodyPr anchorCtr="0" anchor="ctr" bIns="53325" lIns="403650" spcFirstLastPara="1" rIns="53325" wrap="square" tIns="53325">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2. Menghindari fitnah dan pertumpahan darah</a:t>
              </a:r>
              <a:endParaRPr sz="2100">
                <a:solidFill>
                  <a:schemeClr val="lt1"/>
                </a:solidFill>
                <a:latin typeface="Twentieth Century"/>
                <a:ea typeface="Twentieth Century"/>
                <a:cs typeface="Twentieth Century"/>
                <a:sym typeface="Twentieth Century"/>
              </a:endParaRPr>
            </a:p>
          </p:txBody>
        </p:sp>
        <p:sp>
          <p:nvSpPr>
            <p:cNvPr id="383" name="Google Shape;383;p18"/>
            <p:cNvSpPr/>
            <p:nvPr/>
          </p:nvSpPr>
          <p:spPr>
            <a:xfrm>
              <a:off x="349677" y="953542"/>
              <a:ext cx="635694" cy="635694"/>
            </a:xfrm>
            <a:prstGeom prst="ellipse">
              <a:avLst/>
            </a:prstGeom>
            <a:solidFill>
              <a:schemeClr val="lt2"/>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667524" y="1780078"/>
              <a:ext cx="4466101" cy="508555"/>
            </a:xfrm>
            <a:prstGeom prst="rect">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txBox="1"/>
            <p:nvPr/>
          </p:nvSpPr>
          <p:spPr>
            <a:xfrm>
              <a:off x="667524" y="1780078"/>
              <a:ext cx="4466101" cy="508555"/>
            </a:xfrm>
            <a:prstGeom prst="rect">
              <a:avLst/>
            </a:prstGeom>
            <a:noFill/>
            <a:ln>
              <a:noFill/>
            </a:ln>
          </p:spPr>
          <p:txBody>
            <a:bodyPr anchorCtr="0" anchor="ctr" bIns="53325" lIns="403650" spcFirstLastPara="1" rIns="53325" wrap="square" tIns="53325">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3. </a:t>
              </a:r>
              <a:r>
                <a:rPr i="1" lang="en-US" sz="2100">
                  <a:solidFill>
                    <a:schemeClr val="lt1"/>
                  </a:solidFill>
                  <a:latin typeface="Twentieth Century"/>
                  <a:ea typeface="Twentieth Century"/>
                  <a:cs typeface="Twentieth Century"/>
                  <a:sym typeface="Twentieth Century"/>
                </a:rPr>
                <a:t>Amr al-ma’ruf wa nahy al-munkar</a:t>
              </a:r>
              <a:endParaRPr i="1" sz="2100">
                <a:solidFill>
                  <a:schemeClr val="lt1"/>
                </a:solidFill>
                <a:latin typeface="Twentieth Century"/>
                <a:ea typeface="Twentieth Century"/>
                <a:cs typeface="Twentieth Century"/>
                <a:sym typeface="Twentieth Century"/>
              </a:endParaRPr>
            </a:p>
          </p:txBody>
        </p:sp>
        <p:sp>
          <p:nvSpPr>
            <p:cNvPr id="386" name="Google Shape;386;p18"/>
            <p:cNvSpPr/>
            <p:nvPr/>
          </p:nvSpPr>
          <p:spPr>
            <a:xfrm>
              <a:off x="349677" y="1716508"/>
              <a:ext cx="635694" cy="635694"/>
            </a:xfrm>
            <a:prstGeom prst="ellipse">
              <a:avLst/>
            </a:prstGeom>
            <a:solidFill>
              <a:schemeClr val="lt2"/>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375957" y="2543044"/>
              <a:ext cx="4757668" cy="508555"/>
            </a:xfrm>
            <a:prstGeom prst="rect">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txBox="1"/>
            <p:nvPr/>
          </p:nvSpPr>
          <p:spPr>
            <a:xfrm>
              <a:off x="375957" y="2543044"/>
              <a:ext cx="4757668" cy="508555"/>
            </a:xfrm>
            <a:prstGeom prst="rect">
              <a:avLst/>
            </a:prstGeom>
            <a:noFill/>
            <a:ln>
              <a:noFill/>
            </a:ln>
          </p:spPr>
          <p:txBody>
            <a:bodyPr anchorCtr="0" anchor="ctr" bIns="53325" lIns="403650" spcFirstLastPara="1" rIns="53325" wrap="square" tIns="53325">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4. Tidak memberontak dan sibuk mencelanya</a:t>
              </a:r>
              <a:endParaRPr sz="2100">
                <a:solidFill>
                  <a:schemeClr val="lt1"/>
                </a:solidFill>
                <a:latin typeface="Twentieth Century"/>
                <a:ea typeface="Twentieth Century"/>
                <a:cs typeface="Twentieth Century"/>
                <a:sym typeface="Twentieth Century"/>
              </a:endParaRPr>
            </a:p>
          </p:txBody>
        </p:sp>
        <p:sp>
          <p:nvSpPr>
            <p:cNvPr id="389" name="Google Shape;389;p18"/>
            <p:cNvSpPr/>
            <p:nvPr/>
          </p:nvSpPr>
          <p:spPr>
            <a:xfrm>
              <a:off x="58110" y="2479474"/>
              <a:ext cx="635694" cy="635694"/>
            </a:xfrm>
            <a:prstGeom prst="ellipse">
              <a:avLst/>
            </a:prstGeom>
            <a:solidFill>
              <a:schemeClr val="lt2"/>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18"/>
          <p:cNvSpPr txBox="1"/>
          <p:nvPr/>
        </p:nvSpPr>
        <p:spPr>
          <a:xfrm>
            <a:off x="1016246" y="6272784"/>
            <a:ext cx="6775704" cy="307777"/>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wentieth Century"/>
                <a:ea typeface="Twentieth Century"/>
                <a:cs typeface="Twentieth Century"/>
                <a:sym typeface="Twentieth Century"/>
              </a:rPr>
              <a:t>‘Abd al-Wahab Khalaf, </a:t>
            </a:r>
            <a:r>
              <a:rPr i="1" lang="en-US" sz="1400">
                <a:solidFill>
                  <a:schemeClr val="dk1"/>
                </a:solidFill>
                <a:latin typeface="Twentieth Century"/>
                <a:ea typeface="Twentieth Century"/>
                <a:cs typeface="Twentieth Century"/>
                <a:sym typeface="Twentieth Century"/>
              </a:rPr>
              <a:t>al-Siyasah al-Syar’iyyah</a:t>
            </a:r>
            <a:r>
              <a:rPr lang="en-US" sz="1400">
                <a:solidFill>
                  <a:schemeClr val="dk1"/>
                </a:solidFill>
                <a:latin typeface="Twentieth Century"/>
                <a:ea typeface="Twentieth Century"/>
                <a:cs typeface="Twentieth Century"/>
                <a:sym typeface="Twentieth Century"/>
              </a:rPr>
              <a:t> (Kairo: al-Matba’ah al-Salafiyyah, 1350 H.)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C00000"/>
              </a:buClr>
              <a:buSzPts val="5000"/>
              <a:buFont typeface="Twentieth Century"/>
              <a:buNone/>
            </a:pPr>
            <a:r>
              <a:rPr lang="en-US">
                <a:solidFill>
                  <a:srgbClr val="C00000"/>
                </a:solidFill>
              </a:rPr>
              <a:t>MENJADI WARGA NEGARA YANG BAIK</a:t>
            </a:r>
            <a:endParaRPr>
              <a:solidFill>
                <a:srgbClr val="C00000"/>
              </a:solidFill>
            </a:endParaRPr>
          </a:p>
        </p:txBody>
      </p:sp>
      <p:sp>
        <p:nvSpPr>
          <p:cNvPr id="396" name="Google Shape;396;p19"/>
          <p:cNvSpPr txBox="1"/>
          <p:nvPr>
            <p:ph idx="1" type="body"/>
          </p:nvPr>
        </p:nvSpPr>
        <p:spPr>
          <a:xfrm>
            <a:off x="1016246" y="1779779"/>
            <a:ext cx="4754880" cy="822960"/>
          </a:xfrm>
          <a:prstGeom prst="rect">
            <a:avLst/>
          </a:prstGeom>
          <a:solidFill>
            <a:srgbClr val="00B050"/>
          </a:solidFill>
          <a:ln>
            <a:noFill/>
          </a:ln>
        </p:spPr>
        <p:txBody>
          <a:bodyPr anchorCtr="0" anchor="ctr" bIns="45700" lIns="137150" spcFirstLastPara="1" rIns="137150" wrap="square" tIns="45700">
            <a:normAutofit/>
          </a:bodyPr>
          <a:lstStyle/>
          <a:p>
            <a:pPr indent="0" lvl="0" marL="0" rtl="0" algn="l">
              <a:lnSpc>
                <a:spcPct val="90000"/>
              </a:lnSpc>
              <a:spcBef>
                <a:spcPts val="0"/>
              </a:spcBef>
              <a:spcAft>
                <a:spcPts val="0"/>
              </a:spcAft>
              <a:buSzPts val="2300"/>
              <a:buNone/>
            </a:pPr>
            <a:r>
              <a:rPr lang="en-US">
                <a:solidFill>
                  <a:schemeClr val="lt1"/>
                </a:solidFill>
              </a:rPr>
              <a:t>Secara vertikal</a:t>
            </a:r>
            <a:endParaRPr/>
          </a:p>
        </p:txBody>
      </p:sp>
      <p:grpSp>
        <p:nvGrpSpPr>
          <p:cNvPr id="397" name="Google Shape;397;p19"/>
          <p:cNvGrpSpPr/>
          <p:nvPr/>
        </p:nvGrpSpPr>
        <p:grpSpPr>
          <a:xfrm>
            <a:off x="1023938" y="2684532"/>
            <a:ext cx="4754562" cy="3542401"/>
            <a:chOff x="0" y="81792"/>
            <a:chExt cx="4754562" cy="3542401"/>
          </a:xfrm>
        </p:grpSpPr>
        <p:sp>
          <p:nvSpPr>
            <p:cNvPr id="398" name="Google Shape;398;p19"/>
            <p:cNvSpPr/>
            <p:nvPr/>
          </p:nvSpPr>
          <p:spPr>
            <a:xfrm>
              <a:off x="0" y="317952"/>
              <a:ext cx="4754562" cy="403200"/>
            </a:xfrm>
            <a:prstGeom prst="rect">
              <a:avLst/>
            </a:prstGeom>
            <a:solidFill>
              <a:srgbClr val="CACACA">
                <a:alpha val="89803"/>
              </a:srgbClr>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99" name="Google Shape;399;p19"/>
            <p:cNvSpPr/>
            <p:nvPr/>
          </p:nvSpPr>
          <p:spPr>
            <a:xfrm>
              <a:off x="237728" y="81792"/>
              <a:ext cx="3328193" cy="472320"/>
            </a:xfrm>
            <a:prstGeom prst="roundRect">
              <a:avLst>
                <a:gd fmla="val 16667" name="adj"/>
              </a:avLst>
            </a:prstGeom>
            <a:solidFill>
              <a:schemeClr val="lt1"/>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0" name="Google Shape;400;p19"/>
            <p:cNvSpPr txBox="1"/>
            <p:nvPr/>
          </p:nvSpPr>
          <p:spPr>
            <a:xfrm>
              <a:off x="260785" y="104849"/>
              <a:ext cx="3282079"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dk1"/>
                  </a:solidFill>
                  <a:latin typeface="Twentieth Century"/>
                  <a:ea typeface="Twentieth Century"/>
                  <a:cs typeface="Twentieth Century"/>
                  <a:sym typeface="Twentieth Century"/>
                </a:rPr>
                <a:t>Cinta tanah air</a:t>
              </a:r>
              <a:endParaRPr sz="2100">
                <a:solidFill>
                  <a:schemeClr val="dk1"/>
                </a:solidFill>
                <a:latin typeface="Twentieth Century"/>
                <a:ea typeface="Twentieth Century"/>
                <a:cs typeface="Twentieth Century"/>
                <a:sym typeface="Twentieth Century"/>
              </a:endParaRPr>
            </a:p>
          </p:txBody>
        </p:sp>
        <p:sp>
          <p:nvSpPr>
            <p:cNvPr id="401" name="Google Shape;401;p19"/>
            <p:cNvSpPr/>
            <p:nvPr/>
          </p:nvSpPr>
          <p:spPr>
            <a:xfrm>
              <a:off x="0" y="1043712"/>
              <a:ext cx="4754562" cy="403200"/>
            </a:xfrm>
            <a:prstGeom prst="rect">
              <a:avLst/>
            </a:prstGeom>
            <a:solidFill>
              <a:srgbClr val="CACACA">
                <a:alpha val="89803"/>
              </a:srgbClr>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2" name="Google Shape;402;p19"/>
            <p:cNvSpPr/>
            <p:nvPr/>
          </p:nvSpPr>
          <p:spPr>
            <a:xfrm>
              <a:off x="237728" y="807552"/>
              <a:ext cx="3328193" cy="472320"/>
            </a:xfrm>
            <a:prstGeom prst="roundRect">
              <a:avLst>
                <a:gd fmla="val 16667" name="adj"/>
              </a:avLst>
            </a:prstGeom>
            <a:solidFill>
              <a:schemeClr val="lt1"/>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3" name="Google Shape;403;p19"/>
            <p:cNvSpPr txBox="1"/>
            <p:nvPr/>
          </p:nvSpPr>
          <p:spPr>
            <a:xfrm>
              <a:off x="260785" y="830609"/>
              <a:ext cx="3282000" cy="426300"/>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dk1"/>
                  </a:solidFill>
                  <a:latin typeface="Twentieth Century"/>
                  <a:ea typeface="Twentieth Century"/>
                  <a:cs typeface="Twentieth Century"/>
                  <a:sym typeface="Twentieth Century"/>
                </a:rPr>
                <a:t>Semangat bela negara</a:t>
              </a:r>
              <a:endParaRPr sz="2100">
                <a:solidFill>
                  <a:schemeClr val="dk1"/>
                </a:solidFill>
                <a:latin typeface="Twentieth Century"/>
                <a:ea typeface="Twentieth Century"/>
                <a:cs typeface="Twentieth Century"/>
                <a:sym typeface="Twentieth Century"/>
              </a:endParaRPr>
            </a:p>
          </p:txBody>
        </p:sp>
        <p:sp>
          <p:nvSpPr>
            <p:cNvPr id="404" name="Google Shape;404;p19"/>
            <p:cNvSpPr/>
            <p:nvPr/>
          </p:nvSpPr>
          <p:spPr>
            <a:xfrm>
              <a:off x="0" y="1769472"/>
              <a:ext cx="4754562" cy="403200"/>
            </a:xfrm>
            <a:prstGeom prst="rect">
              <a:avLst/>
            </a:prstGeom>
            <a:solidFill>
              <a:srgbClr val="CACACA">
                <a:alpha val="89803"/>
              </a:srgbClr>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5" name="Google Shape;405;p19"/>
            <p:cNvSpPr/>
            <p:nvPr/>
          </p:nvSpPr>
          <p:spPr>
            <a:xfrm>
              <a:off x="237728" y="1533312"/>
              <a:ext cx="3328193" cy="472320"/>
            </a:xfrm>
            <a:prstGeom prst="roundRect">
              <a:avLst>
                <a:gd fmla="val 16667" name="adj"/>
              </a:avLst>
            </a:prstGeom>
            <a:solidFill>
              <a:schemeClr val="lt1"/>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6" name="Google Shape;406;p19"/>
            <p:cNvSpPr txBox="1"/>
            <p:nvPr/>
          </p:nvSpPr>
          <p:spPr>
            <a:xfrm>
              <a:off x="260785" y="1556369"/>
              <a:ext cx="3282079" cy="426206"/>
            </a:xfrm>
            <a:prstGeom prst="rect">
              <a:avLst/>
            </a:prstGeom>
            <a:noFill/>
            <a:ln cap="flat" cmpd="sng" w="9525">
              <a:solidFill>
                <a:schemeClr val="dk1"/>
              </a:solidFill>
              <a:prstDash val="solid"/>
              <a:round/>
              <a:headEnd len="sm" w="sm" type="none"/>
              <a:tailEnd len="sm" w="sm" type="none"/>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dk1"/>
                  </a:solidFill>
                  <a:latin typeface="Twentieth Century"/>
                  <a:ea typeface="Twentieth Century"/>
                  <a:cs typeface="Twentieth Century"/>
                  <a:sym typeface="Twentieth Century"/>
                </a:rPr>
                <a:t>Memprioritaskan kepentingan negara</a:t>
              </a:r>
              <a:endParaRPr sz="2100">
                <a:solidFill>
                  <a:schemeClr val="dk1"/>
                </a:solidFill>
                <a:latin typeface="Twentieth Century"/>
                <a:ea typeface="Twentieth Century"/>
                <a:cs typeface="Twentieth Century"/>
                <a:sym typeface="Twentieth Century"/>
              </a:endParaRPr>
            </a:p>
          </p:txBody>
        </p:sp>
        <p:sp>
          <p:nvSpPr>
            <p:cNvPr id="407" name="Google Shape;407;p19"/>
            <p:cNvSpPr/>
            <p:nvPr/>
          </p:nvSpPr>
          <p:spPr>
            <a:xfrm>
              <a:off x="0" y="2495232"/>
              <a:ext cx="4754562" cy="403200"/>
            </a:xfrm>
            <a:prstGeom prst="rect">
              <a:avLst/>
            </a:prstGeom>
            <a:solidFill>
              <a:srgbClr val="CACACA">
                <a:alpha val="89803"/>
              </a:srgbClr>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8" name="Google Shape;408;p19"/>
            <p:cNvSpPr/>
            <p:nvPr/>
          </p:nvSpPr>
          <p:spPr>
            <a:xfrm>
              <a:off x="237728" y="2259072"/>
              <a:ext cx="3328193" cy="472320"/>
            </a:xfrm>
            <a:prstGeom prst="roundRect">
              <a:avLst>
                <a:gd fmla="val 16667" name="adj"/>
              </a:avLst>
            </a:prstGeom>
            <a:solidFill>
              <a:schemeClr val="lt1"/>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9" name="Google Shape;409;p19"/>
            <p:cNvSpPr txBox="1"/>
            <p:nvPr/>
          </p:nvSpPr>
          <p:spPr>
            <a:xfrm>
              <a:off x="260785" y="2282129"/>
              <a:ext cx="3282079"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dk1"/>
                  </a:solidFill>
                  <a:latin typeface="Twentieth Century"/>
                  <a:ea typeface="Twentieth Century"/>
                  <a:cs typeface="Twentieth Century"/>
                  <a:sym typeface="Twentieth Century"/>
                </a:rPr>
                <a:t>Menjaga persatuan bangsa</a:t>
              </a:r>
              <a:endParaRPr sz="2100">
                <a:solidFill>
                  <a:schemeClr val="dk1"/>
                </a:solidFill>
                <a:latin typeface="Twentieth Century"/>
                <a:ea typeface="Twentieth Century"/>
                <a:cs typeface="Twentieth Century"/>
                <a:sym typeface="Twentieth Century"/>
              </a:endParaRPr>
            </a:p>
          </p:txBody>
        </p:sp>
        <p:sp>
          <p:nvSpPr>
            <p:cNvPr id="410" name="Google Shape;410;p19"/>
            <p:cNvSpPr/>
            <p:nvPr/>
          </p:nvSpPr>
          <p:spPr>
            <a:xfrm>
              <a:off x="0" y="3220993"/>
              <a:ext cx="4754562" cy="403200"/>
            </a:xfrm>
            <a:prstGeom prst="rect">
              <a:avLst/>
            </a:prstGeom>
            <a:solidFill>
              <a:srgbClr val="CACACA">
                <a:alpha val="89803"/>
              </a:srgbClr>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11" name="Google Shape;411;p19"/>
            <p:cNvSpPr/>
            <p:nvPr/>
          </p:nvSpPr>
          <p:spPr>
            <a:xfrm>
              <a:off x="237728" y="2984833"/>
              <a:ext cx="3328193" cy="472320"/>
            </a:xfrm>
            <a:prstGeom prst="roundRect">
              <a:avLst>
                <a:gd fmla="val 16667" name="adj"/>
              </a:avLst>
            </a:prstGeom>
            <a:solidFill>
              <a:schemeClr val="lt1"/>
            </a:solidFill>
            <a:ln cap="flat" cmpd="sng" w="158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12" name="Google Shape;412;p19"/>
            <p:cNvSpPr txBox="1"/>
            <p:nvPr/>
          </p:nvSpPr>
          <p:spPr>
            <a:xfrm>
              <a:off x="260785" y="3007890"/>
              <a:ext cx="3282079"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dk1"/>
                  </a:solidFill>
                  <a:latin typeface="Twentieth Century"/>
                  <a:ea typeface="Twentieth Century"/>
                  <a:cs typeface="Twentieth Century"/>
                  <a:sym typeface="Twentieth Century"/>
                </a:rPr>
                <a:t>Taat terhadap aturan dan hukum</a:t>
              </a:r>
              <a:endParaRPr sz="2100">
                <a:solidFill>
                  <a:schemeClr val="dk1"/>
                </a:solidFill>
                <a:latin typeface="Twentieth Century"/>
                <a:ea typeface="Twentieth Century"/>
                <a:cs typeface="Twentieth Century"/>
                <a:sym typeface="Twentieth Century"/>
              </a:endParaRPr>
            </a:p>
          </p:txBody>
        </p:sp>
      </p:grpSp>
      <p:sp>
        <p:nvSpPr>
          <p:cNvPr id="413" name="Google Shape;413;p19"/>
          <p:cNvSpPr txBox="1"/>
          <p:nvPr>
            <p:ph idx="3" type="body"/>
          </p:nvPr>
        </p:nvSpPr>
        <p:spPr>
          <a:xfrm>
            <a:off x="5997202" y="1779779"/>
            <a:ext cx="4754880" cy="822960"/>
          </a:xfrm>
          <a:prstGeom prst="rect">
            <a:avLst/>
          </a:prstGeom>
          <a:solidFill>
            <a:srgbClr val="0070C0"/>
          </a:solidFill>
          <a:ln>
            <a:noFill/>
          </a:ln>
        </p:spPr>
        <p:txBody>
          <a:bodyPr anchorCtr="0" anchor="ctr" bIns="45700" lIns="137150" spcFirstLastPara="1" rIns="137150" wrap="square" tIns="45700">
            <a:normAutofit/>
          </a:bodyPr>
          <a:lstStyle/>
          <a:p>
            <a:pPr indent="0" lvl="0" marL="0" rtl="0" algn="l">
              <a:lnSpc>
                <a:spcPct val="90000"/>
              </a:lnSpc>
              <a:spcBef>
                <a:spcPts val="0"/>
              </a:spcBef>
              <a:spcAft>
                <a:spcPts val="0"/>
              </a:spcAft>
              <a:buSzPts val="2300"/>
              <a:buNone/>
            </a:pPr>
            <a:r>
              <a:rPr lang="en-US">
                <a:solidFill>
                  <a:schemeClr val="lt1"/>
                </a:solidFill>
              </a:rPr>
              <a:t>Secara horizontal</a:t>
            </a:r>
            <a:endParaRPr/>
          </a:p>
        </p:txBody>
      </p:sp>
      <p:grpSp>
        <p:nvGrpSpPr>
          <p:cNvPr id="414" name="Google Shape;414;p19"/>
          <p:cNvGrpSpPr/>
          <p:nvPr/>
        </p:nvGrpSpPr>
        <p:grpSpPr>
          <a:xfrm>
            <a:off x="5991225" y="2679625"/>
            <a:ext cx="4754563" cy="3547308"/>
            <a:chOff x="0" y="76885"/>
            <a:chExt cx="4754563" cy="3547308"/>
          </a:xfrm>
        </p:grpSpPr>
        <p:sp>
          <p:nvSpPr>
            <p:cNvPr id="415" name="Google Shape;415;p19"/>
            <p:cNvSpPr/>
            <p:nvPr/>
          </p:nvSpPr>
          <p:spPr>
            <a:xfrm>
              <a:off x="0" y="317952"/>
              <a:ext cx="4754563" cy="403200"/>
            </a:xfrm>
            <a:prstGeom prst="rect">
              <a:avLst/>
            </a:prstGeom>
            <a:solidFill>
              <a:schemeClr val="lt2">
                <a:alpha val="89803"/>
              </a:schemeClr>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237728" y="76885"/>
              <a:ext cx="3328194" cy="472320"/>
            </a:xfrm>
            <a:prstGeom prst="roundRect">
              <a:avLst>
                <a:gd fmla="val 16667" name="adj"/>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txBox="1"/>
            <p:nvPr/>
          </p:nvSpPr>
          <p:spPr>
            <a:xfrm>
              <a:off x="260785" y="99942"/>
              <a:ext cx="3282080"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Peduli terhadap sesama</a:t>
              </a:r>
              <a:endParaRPr sz="2100">
                <a:solidFill>
                  <a:schemeClr val="lt1"/>
                </a:solidFill>
                <a:latin typeface="Twentieth Century"/>
                <a:ea typeface="Twentieth Century"/>
                <a:cs typeface="Twentieth Century"/>
                <a:sym typeface="Twentieth Century"/>
              </a:endParaRPr>
            </a:p>
          </p:txBody>
        </p:sp>
        <p:sp>
          <p:nvSpPr>
            <p:cNvPr id="418" name="Google Shape;418;p19"/>
            <p:cNvSpPr/>
            <p:nvPr/>
          </p:nvSpPr>
          <p:spPr>
            <a:xfrm>
              <a:off x="0" y="1043712"/>
              <a:ext cx="4754563" cy="403200"/>
            </a:xfrm>
            <a:prstGeom prst="rect">
              <a:avLst/>
            </a:prstGeom>
            <a:solidFill>
              <a:schemeClr val="lt2">
                <a:alpha val="89803"/>
              </a:schemeClr>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237728" y="807552"/>
              <a:ext cx="3328194" cy="472320"/>
            </a:xfrm>
            <a:prstGeom prst="roundRect">
              <a:avLst>
                <a:gd fmla="val 16667" name="adj"/>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txBox="1"/>
            <p:nvPr/>
          </p:nvSpPr>
          <p:spPr>
            <a:xfrm>
              <a:off x="260785" y="830609"/>
              <a:ext cx="3282080"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Bertanggung jawab</a:t>
              </a:r>
              <a:endParaRPr sz="2100">
                <a:solidFill>
                  <a:schemeClr val="lt1"/>
                </a:solidFill>
                <a:latin typeface="Twentieth Century"/>
                <a:ea typeface="Twentieth Century"/>
                <a:cs typeface="Twentieth Century"/>
                <a:sym typeface="Twentieth Century"/>
              </a:endParaRPr>
            </a:p>
          </p:txBody>
        </p:sp>
        <p:sp>
          <p:nvSpPr>
            <p:cNvPr id="421" name="Google Shape;421;p19"/>
            <p:cNvSpPr/>
            <p:nvPr/>
          </p:nvSpPr>
          <p:spPr>
            <a:xfrm>
              <a:off x="0" y="1769472"/>
              <a:ext cx="4754563" cy="403200"/>
            </a:xfrm>
            <a:prstGeom prst="rect">
              <a:avLst/>
            </a:prstGeom>
            <a:solidFill>
              <a:schemeClr val="lt2">
                <a:alpha val="89803"/>
              </a:schemeClr>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237728" y="1533312"/>
              <a:ext cx="3328194" cy="472320"/>
            </a:xfrm>
            <a:prstGeom prst="roundRect">
              <a:avLst>
                <a:gd fmla="val 16667" name="adj"/>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txBox="1"/>
            <p:nvPr/>
          </p:nvSpPr>
          <p:spPr>
            <a:xfrm>
              <a:off x="260785" y="1556369"/>
              <a:ext cx="3282080"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Bersikap mandiri</a:t>
              </a:r>
              <a:endParaRPr sz="2100">
                <a:solidFill>
                  <a:schemeClr val="lt1"/>
                </a:solidFill>
                <a:latin typeface="Twentieth Century"/>
                <a:ea typeface="Twentieth Century"/>
                <a:cs typeface="Twentieth Century"/>
                <a:sym typeface="Twentieth Century"/>
              </a:endParaRPr>
            </a:p>
          </p:txBody>
        </p:sp>
        <p:sp>
          <p:nvSpPr>
            <p:cNvPr id="424" name="Google Shape;424;p19"/>
            <p:cNvSpPr/>
            <p:nvPr/>
          </p:nvSpPr>
          <p:spPr>
            <a:xfrm>
              <a:off x="0" y="2495232"/>
              <a:ext cx="4754563" cy="403200"/>
            </a:xfrm>
            <a:prstGeom prst="rect">
              <a:avLst/>
            </a:prstGeom>
            <a:solidFill>
              <a:schemeClr val="lt2">
                <a:alpha val="89803"/>
              </a:schemeClr>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p:nvPr/>
          </p:nvSpPr>
          <p:spPr>
            <a:xfrm>
              <a:off x="237728" y="2259072"/>
              <a:ext cx="3328194" cy="472320"/>
            </a:xfrm>
            <a:prstGeom prst="roundRect">
              <a:avLst>
                <a:gd fmla="val 16667" name="adj"/>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txBox="1"/>
            <p:nvPr/>
          </p:nvSpPr>
          <p:spPr>
            <a:xfrm>
              <a:off x="260785" y="2282129"/>
              <a:ext cx="3282080"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Bersikap demokratis</a:t>
              </a:r>
              <a:endParaRPr sz="2100">
                <a:solidFill>
                  <a:schemeClr val="lt1"/>
                </a:solidFill>
                <a:latin typeface="Twentieth Century"/>
                <a:ea typeface="Twentieth Century"/>
                <a:cs typeface="Twentieth Century"/>
                <a:sym typeface="Twentieth Century"/>
              </a:endParaRPr>
            </a:p>
          </p:txBody>
        </p:sp>
        <p:sp>
          <p:nvSpPr>
            <p:cNvPr id="427" name="Google Shape;427;p19"/>
            <p:cNvSpPr/>
            <p:nvPr/>
          </p:nvSpPr>
          <p:spPr>
            <a:xfrm>
              <a:off x="0" y="3220993"/>
              <a:ext cx="4754563" cy="403200"/>
            </a:xfrm>
            <a:prstGeom prst="rect">
              <a:avLst/>
            </a:prstGeom>
            <a:solidFill>
              <a:schemeClr val="lt2">
                <a:alpha val="89803"/>
              </a:schemeClr>
            </a:solidFill>
            <a:ln cap="flat" cmpd="sng" w="15875">
              <a:solidFill>
                <a:srgbClr val="335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237728" y="2984833"/>
              <a:ext cx="3328194" cy="472320"/>
            </a:xfrm>
            <a:prstGeom prst="roundRect">
              <a:avLst>
                <a:gd fmla="val 16667" name="adj"/>
              </a:avLst>
            </a:prstGeom>
            <a:solidFill>
              <a:srgbClr val="335A74"/>
            </a:solidFill>
            <a:ln cap="flat" cmpd="sng" w="158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txBox="1"/>
            <p:nvPr/>
          </p:nvSpPr>
          <p:spPr>
            <a:xfrm>
              <a:off x="260785" y="3007890"/>
              <a:ext cx="3282080" cy="426206"/>
            </a:xfrm>
            <a:prstGeom prst="rect">
              <a:avLst/>
            </a:prstGeom>
            <a:noFill/>
            <a:ln>
              <a:noFill/>
            </a:ln>
          </p:spPr>
          <p:txBody>
            <a:bodyPr anchorCtr="0" anchor="ctr" bIns="0" lIns="125775" spcFirstLastPara="1" rIns="125775" wrap="square" tIns="0">
              <a:noAutofit/>
            </a:bodyPr>
            <a:lstStyle/>
            <a:p>
              <a:pPr indent="0" lvl="0" marL="0" marR="0" rtl="0" algn="l">
                <a:lnSpc>
                  <a:spcPct val="90000"/>
                </a:lnSpc>
                <a:spcBef>
                  <a:spcPts val="0"/>
                </a:spcBef>
                <a:spcAft>
                  <a:spcPts val="0"/>
                </a:spcAft>
                <a:buClr>
                  <a:schemeClr val="lt1"/>
                </a:buClr>
                <a:buSzPts val="2100"/>
                <a:buFont typeface="Twentieth Century"/>
                <a:buNone/>
              </a:pPr>
              <a:r>
                <a:rPr lang="en-US" sz="2100">
                  <a:solidFill>
                    <a:schemeClr val="lt1"/>
                  </a:solidFill>
                  <a:latin typeface="Twentieth Century"/>
                  <a:ea typeface="Twentieth Century"/>
                  <a:cs typeface="Twentieth Century"/>
                  <a:sym typeface="Twentieth Century"/>
                </a:rPr>
                <a:t>Menjaga keamanan lingkungan </a:t>
              </a:r>
              <a:endParaRPr sz="2100">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3" name="Shape 433"/>
        <p:cNvGrpSpPr/>
        <p:nvPr/>
      </p:nvGrpSpPr>
      <p:grpSpPr>
        <a:xfrm>
          <a:off x="0" y="0"/>
          <a:ext cx="0" cy="0"/>
          <a:chOff x="0" y="0"/>
          <a:chExt cx="0" cy="0"/>
        </a:xfrm>
      </p:grpSpPr>
      <p:sp>
        <p:nvSpPr>
          <p:cNvPr id="434" name="Google Shape;434;p20"/>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5" name="Google Shape;435;p20"/>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436" name="Google Shape;436;p20"/>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437" name="Google Shape;437;p20"/>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pic>
        <p:nvPicPr>
          <p:cNvPr id="438" name="Google Shape;438;p20"/>
          <p:cNvPicPr preferRelativeResize="0"/>
          <p:nvPr/>
        </p:nvPicPr>
        <p:blipFill rotWithShape="1">
          <a:blip r:embed="rId3">
            <a:alphaModFix amt="45000"/>
          </a:blip>
          <a:srcRect b="6043" l="0" r="-1" t="6043"/>
          <a:stretch/>
        </p:blipFill>
        <p:spPr>
          <a:xfrm>
            <a:off x="20" y="-1"/>
            <a:ext cx="12188932" cy="6858000"/>
          </a:xfrm>
          <a:prstGeom prst="rect">
            <a:avLst/>
          </a:prstGeom>
          <a:noFill/>
          <a:ln>
            <a:noFill/>
          </a:ln>
        </p:spPr>
      </p:pic>
      <p:sp>
        <p:nvSpPr>
          <p:cNvPr id="439" name="Google Shape;439;p20"/>
          <p:cNvSpPr txBox="1"/>
          <p:nvPr>
            <p:ph type="title"/>
          </p:nvPr>
        </p:nvSpPr>
        <p:spPr>
          <a:xfrm>
            <a:off x="643467" y="643467"/>
            <a:ext cx="7164674" cy="5571066"/>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chemeClr val="lt1"/>
              </a:buClr>
              <a:buSzPts val="6600"/>
              <a:buFont typeface="Twentieth Century"/>
              <a:buNone/>
            </a:pPr>
            <a:r>
              <a:rPr lang="en-US" sz="6600" cap="none">
                <a:solidFill>
                  <a:schemeClr val="lt1"/>
                </a:solidFill>
                <a:latin typeface="Twentieth Century"/>
                <a:ea typeface="Twentieth Century"/>
                <a:cs typeface="Twentieth Century"/>
                <a:sym typeface="Twentieth Century"/>
              </a:rPr>
              <a:t>DEMIKIAN, TERIMA KASIH.</a:t>
            </a:r>
            <a:endParaRPr/>
          </a:p>
        </p:txBody>
      </p:sp>
      <p:cxnSp>
        <p:nvCxnSpPr>
          <p:cNvPr id="440" name="Google Shape;440;p20"/>
          <p:cNvCxnSpPr/>
          <p:nvPr/>
        </p:nvCxnSpPr>
        <p:spPr>
          <a:xfrm>
            <a:off x="8139605" y="1828800"/>
            <a:ext cx="0" cy="3200400"/>
          </a:xfrm>
          <a:prstGeom prst="straightConnector1">
            <a:avLst/>
          </a:prstGeom>
          <a:noFill/>
          <a:ln cap="flat" cmpd="sng" w="19050">
            <a:solidFill>
              <a:schemeClr val="lt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39"/>
                                        </p:tgtEl>
                                        <p:attrNameLst>
                                          <p:attrName>style.visibility</p:attrName>
                                        </p:attrNameLst>
                                      </p:cBhvr>
                                      <p:to>
                                        <p:strVal val="visible"/>
                                      </p:to>
                                    </p:set>
                                    <p:animEffect filter="fade" transition="in">
                                      <p:cBhvr>
                                        <p:cTn dur="7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QW</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2023-11-02T02:23:27Z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e75c5d00-63b3-4e42-a7fe-bd5e1ea3dacc</vt:lpwstr>
  </property>
  <property fmtid="{D5CDD505-2E9C-101B-9397-08002B2CF9AE}" pid="8" name="MSIP_Label_38b525e5-f3da-4501-8f1e-526b6769fc56_ContentBits">
    <vt:lpwstr>0</vt:lpwstr>
  </property>
</Properties>
</file>