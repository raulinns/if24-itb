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83">
          <p15:clr>
            <a:srgbClr val="A4A3A4"/>
          </p15:clr>
        </p15:guide>
        <p15:guide id="2" pos="3863">
          <p15:clr>
            <a:srgbClr val="A4A3A4"/>
          </p15:clr>
        </p15:guide>
      </p15:sldGuideLst>
    </p:ext>
    <p:ext uri="GoogleSlidesCustomDataVersion2">
      <go:slidesCustomData xmlns:go="http://customooxmlschemas.google.com/" r:id="rId31" roundtripDataSignature="AMtx7mhTgAC+q1j4J75y9C8SZ6BcI/zP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EA746B-15CF-4C3E-8AE0-43D2240E8738}">
  <a:tblStyle styleId="{1AEA746B-15CF-4C3E-8AE0-43D2240E873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6F8"/>
          </a:solidFill>
        </a:fill>
      </a:tcStyle>
    </a:wholeTbl>
    <a:band1H>
      <a:tcTxStyle b="off" i="off"/>
      <a:tcStyle>
        <a:fill>
          <a:solidFill>
            <a:srgbClr val="CAEEF1"/>
          </a:solidFill>
        </a:fill>
      </a:tcStyle>
    </a:band1H>
    <a:band2H>
      <a:tcTxStyle b="off" i="off"/>
    </a:band2H>
    <a:band1V>
      <a:tcTxStyle b="off" i="off"/>
      <a:tcStyle>
        <a:fill>
          <a:solidFill>
            <a:srgbClr val="CAEEF1"/>
          </a:solidFill>
        </a:fill>
      </a:tcStyle>
    </a:band1V>
    <a:band2V>
      <a:tcTxStyle b="off" i="off"/>
    </a:band2V>
    <a:lastCol>
      <a:tcTxStyle b="on" i="off">
        <a:font>
          <a:latin typeface="Calibri"/>
          <a:ea typeface="Calibri"/>
          <a:cs typeface="Calibri"/>
        </a:font>
        <a:schemeClr val="lt1"/>
      </a:tcTxStyle>
      <a:tcStyle>
        <a:fill>
          <a:solidFill>
            <a:schemeClr val="accent3"/>
          </a:solidFill>
        </a:fill>
      </a:tcStyle>
    </a:lastCol>
    <a:firstCol>
      <a:tcTxStyle b="on" i="off">
        <a:font>
          <a:latin typeface="Calibri"/>
          <a:ea typeface="Calibri"/>
          <a:cs typeface="Calibri"/>
        </a:font>
        <a:schemeClr val="lt1"/>
      </a:tcTxStyle>
      <a:tcStyle>
        <a:fill>
          <a:solidFill>
            <a:schemeClr val="accent3"/>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b="off" i="off"/>
    </a:neCell>
    <a:nwCell>
      <a:tcTxStyle b="off" i="off"/>
    </a:nwCell>
  </a:tblStyle>
  <a:tblStyle styleId="{8AA564FD-5116-49E2-9354-E4103BDCA443}"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b="off" i="off"/>
      <a:tcStyle>
        <a:fill>
          <a:solidFill>
            <a:srgbClr val="CAD4EA"/>
          </a:solidFill>
        </a:fill>
      </a:tcStyle>
    </a:band1H>
    <a:band2H>
      <a:tcTxStyle b="off" i="off"/>
    </a:band2H>
    <a:band1V>
      <a:tcTxStyle b="off" i="off"/>
      <a:tcStyle>
        <a:fill>
          <a:solidFill>
            <a:srgbClr val="CA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83" orient="horz"/>
        <p:guide pos="3863"/>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customschemas.google.com/relationships/presentationmetadata" Target="metadata"/><Relationship Id="rId30" Type="http://schemas.openxmlformats.org/officeDocument/2006/relationships/slide" Target="slides/slide2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d-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d-ID"/>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id-ID"/>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5"/>
          <p:cNvSpPr/>
          <p:nvPr>
            <p:ph idx="2" type="pic"/>
          </p:nvPr>
        </p:nvSpPr>
        <p:spPr>
          <a:xfrm>
            <a:off x="5183188" y="987425"/>
            <a:ext cx="6172200" cy="4873625"/>
          </a:xfrm>
          <a:prstGeom prst="rect">
            <a:avLst/>
          </a:prstGeom>
          <a:noFill/>
          <a:ln>
            <a:noFill/>
          </a:ln>
        </p:spPr>
      </p:sp>
      <p:sp>
        <p:nvSpPr>
          <p:cNvPr id="68" name="Google Shape;68;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1" name="Shape 91"/>
        <p:cNvGrpSpPr/>
        <p:nvPr/>
      </p:nvGrpSpPr>
      <p:grpSpPr>
        <a:xfrm>
          <a:off x="0" y="0"/>
          <a:ext cx="0" cy="0"/>
          <a:chOff x="0" y="0"/>
          <a:chExt cx="0" cy="0"/>
        </a:xfrm>
      </p:grpSpPr>
      <p:sp>
        <p:nvSpPr>
          <p:cNvPr id="92" name="Google Shape;92;p2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8"/>
          <p:cNvSpPr txBox="1"/>
          <p:nvPr>
            <p:ph idx="1" type="body"/>
          </p:nvPr>
        </p:nvSpPr>
        <p:spPr>
          <a:xfrm>
            <a:off x="1024129"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28"/>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8"/>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97" name="Shape 97"/>
        <p:cNvGrpSpPr/>
        <p:nvPr/>
      </p:nvGrpSpPr>
      <p:grpSpPr>
        <a:xfrm>
          <a:off x="0" y="0"/>
          <a:ext cx="0" cy="0"/>
          <a:chOff x="0" y="0"/>
          <a:chExt cx="0" cy="0"/>
        </a:xfrm>
      </p:grpSpPr>
      <p:sp>
        <p:nvSpPr>
          <p:cNvPr id="98" name="Google Shape;98;p38"/>
          <p:cNvSpPr/>
          <p:nvPr/>
        </p:nvSpPr>
        <p:spPr>
          <a:xfrm>
            <a:off x="0" y="1"/>
            <a:ext cx="12192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8"/>
          <p:cNvSpPr/>
          <p:nvPr/>
        </p:nvSpPr>
        <p:spPr>
          <a:xfrm>
            <a:off x="6350" y="1"/>
            <a:ext cx="12185652" cy="4572001"/>
          </a:xfrm>
          <a:custGeom>
            <a:rect b="b" l="l" r="r" t="t"/>
            <a:pathLst>
              <a:path extrusionOk="0" h="4572001" w="9139239">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8"/>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8"/>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600"/>
              <a:buNone/>
              <a:defRPr sz="1600">
                <a:solidFill>
                  <a:srgbClr val="0C0C0C"/>
                </a:solidFill>
              </a:defRPr>
            </a:lvl1pPr>
            <a:lvl2pPr lvl="1" algn="ctr">
              <a:lnSpc>
                <a:spcPct val="90000"/>
              </a:lnSpc>
              <a:spcBef>
                <a:spcPts val="200"/>
              </a:spcBef>
              <a:spcAft>
                <a:spcPts val="0"/>
              </a:spcAft>
              <a:buSzPts val="1600"/>
              <a:buNone/>
              <a:defRPr sz="1600"/>
            </a:lvl2pPr>
            <a:lvl3pPr lvl="2" algn="ctr">
              <a:lnSpc>
                <a:spcPct val="90000"/>
              </a:lnSpc>
              <a:spcBef>
                <a:spcPts val="400"/>
              </a:spcBef>
              <a:spcAft>
                <a:spcPts val="0"/>
              </a:spcAft>
              <a:buSzPts val="1600"/>
              <a:buNone/>
              <a:defRPr sz="1600"/>
            </a:lvl3pPr>
            <a:lvl4pPr lvl="3" algn="ctr">
              <a:lnSpc>
                <a:spcPct val="90000"/>
              </a:lnSpc>
              <a:spcBef>
                <a:spcPts val="400"/>
              </a:spcBef>
              <a:spcAft>
                <a:spcPts val="0"/>
              </a:spcAft>
              <a:buSzPts val="1600"/>
              <a:buNone/>
              <a:defRPr sz="1600"/>
            </a:lvl4pPr>
            <a:lvl5pPr lvl="4" algn="ctr">
              <a:lnSpc>
                <a:spcPct val="90000"/>
              </a:lnSpc>
              <a:spcBef>
                <a:spcPts val="400"/>
              </a:spcBef>
              <a:spcAft>
                <a:spcPts val="0"/>
              </a:spcAft>
              <a:buSzPts val="1600"/>
              <a:buNone/>
              <a:defRPr sz="1600"/>
            </a:lvl5pPr>
            <a:lvl6pPr lvl="5" algn="ctr">
              <a:lnSpc>
                <a:spcPct val="90000"/>
              </a:lnSpc>
              <a:spcBef>
                <a:spcPts val="400"/>
              </a:spcBef>
              <a:spcAft>
                <a:spcPts val="0"/>
              </a:spcAft>
              <a:buSzPts val="1600"/>
              <a:buNone/>
              <a:defRPr sz="1600"/>
            </a:lvl6pPr>
            <a:lvl7pPr lvl="6" algn="ctr">
              <a:lnSpc>
                <a:spcPct val="90000"/>
              </a:lnSpc>
              <a:spcBef>
                <a:spcPts val="400"/>
              </a:spcBef>
              <a:spcAft>
                <a:spcPts val="0"/>
              </a:spcAft>
              <a:buSzPts val="1600"/>
              <a:buNone/>
              <a:defRPr sz="1600"/>
            </a:lvl7pPr>
            <a:lvl8pPr lvl="7" algn="ctr">
              <a:lnSpc>
                <a:spcPct val="90000"/>
              </a:lnSpc>
              <a:spcBef>
                <a:spcPts val="400"/>
              </a:spcBef>
              <a:spcAft>
                <a:spcPts val="0"/>
              </a:spcAft>
              <a:buSzPts val="1600"/>
              <a:buNone/>
              <a:defRPr sz="1600"/>
            </a:lvl8pPr>
            <a:lvl9pPr lvl="8" algn="ctr">
              <a:lnSpc>
                <a:spcPct val="90000"/>
              </a:lnSpc>
              <a:spcBef>
                <a:spcPts val="400"/>
              </a:spcBef>
              <a:spcAft>
                <a:spcPts val="400"/>
              </a:spcAft>
              <a:buSzPts val="1600"/>
              <a:buNone/>
              <a:defRPr sz="1600"/>
            </a:lvl9pPr>
          </a:lstStyle>
          <a:p/>
        </p:txBody>
      </p:sp>
      <p:sp>
        <p:nvSpPr>
          <p:cNvPr id="102" name="Google Shape;102;p38"/>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8"/>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cxnSp>
        <p:nvCxnSpPr>
          <p:cNvPr id="105" name="Google Shape;105;p38"/>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106" name="Shape 106"/>
        <p:cNvGrpSpPr/>
        <p:nvPr/>
      </p:nvGrpSpPr>
      <p:grpSpPr>
        <a:xfrm>
          <a:off x="0" y="0"/>
          <a:ext cx="0" cy="0"/>
          <a:chOff x="0" y="0"/>
          <a:chExt cx="0" cy="0"/>
        </a:xfrm>
      </p:grpSpPr>
      <p:sp>
        <p:nvSpPr>
          <p:cNvPr id="107" name="Google Shape;107;p39"/>
          <p:cNvSpPr/>
          <p:nvPr/>
        </p:nvSpPr>
        <p:spPr>
          <a:xfrm>
            <a:off x="0" y="1"/>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9"/>
          <p:cNvSpPr/>
          <p:nvPr/>
        </p:nvSpPr>
        <p:spPr>
          <a:xfrm>
            <a:off x="6350" y="1"/>
            <a:ext cx="12185652" cy="4572001"/>
          </a:xfrm>
          <a:custGeom>
            <a:rect b="b" l="l" r="r" t="t"/>
            <a:pathLst>
              <a:path extrusionOk="0" h="4572001" w="9139239">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9"/>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b="0"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9"/>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0C0C0C"/>
                </a:solidFill>
              </a:defRPr>
            </a:lvl1pPr>
            <a:lvl2pPr indent="-228600" lvl="1" marL="914400" algn="l">
              <a:lnSpc>
                <a:spcPct val="90000"/>
              </a:lnSpc>
              <a:spcBef>
                <a:spcPts val="200"/>
              </a:spcBef>
              <a:spcAft>
                <a:spcPts val="0"/>
              </a:spcAft>
              <a:buSzPts val="1600"/>
              <a:buNone/>
              <a:defRPr sz="16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111" name="Google Shape;111;p39"/>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39"/>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3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cxnSp>
        <p:nvCxnSpPr>
          <p:cNvPr id="114" name="Google Shape;114;p39"/>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5" name="Shape 115"/>
        <p:cNvGrpSpPr/>
        <p:nvPr/>
      </p:nvGrpSpPr>
      <p:grpSpPr>
        <a:xfrm>
          <a:off x="0" y="0"/>
          <a:ext cx="0" cy="0"/>
          <a:chOff x="0" y="0"/>
          <a:chExt cx="0" cy="0"/>
        </a:xfrm>
      </p:grpSpPr>
      <p:sp>
        <p:nvSpPr>
          <p:cNvPr id="116" name="Google Shape;116;p4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40"/>
          <p:cNvSpPr txBox="1"/>
          <p:nvPr>
            <p:ph idx="1" type="body"/>
          </p:nvPr>
        </p:nvSpPr>
        <p:spPr>
          <a:xfrm>
            <a:off x="1024128"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8" name="Google Shape;118;p40"/>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9" name="Google Shape;119;p40"/>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0"/>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2" name="Shape 122"/>
        <p:cNvGrpSpPr/>
        <p:nvPr/>
      </p:nvGrpSpPr>
      <p:grpSpPr>
        <a:xfrm>
          <a:off x="0" y="0"/>
          <a:ext cx="0" cy="0"/>
          <a:chOff x="0" y="0"/>
          <a:chExt cx="0" cy="0"/>
        </a:xfrm>
      </p:grpSpPr>
      <p:sp>
        <p:nvSpPr>
          <p:cNvPr id="123" name="Google Shape;123;p4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1"/>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125" name="Google Shape;125;p41"/>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6" name="Google Shape;126;p41"/>
          <p:cNvSpPr txBox="1"/>
          <p:nvPr>
            <p:ph idx="3" type="body"/>
          </p:nvPr>
        </p:nvSpPr>
        <p:spPr>
          <a:xfrm>
            <a:off x="5989320"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200"/>
              <a:buNone/>
              <a:defRPr b="0" sz="22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127" name="Google Shape;127;p41"/>
          <p:cNvSpPr txBox="1"/>
          <p:nvPr>
            <p:ph idx="4" type="body"/>
          </p:nvPr>
        </p:nvSpPr>
        <p:spPr>
          <a:xfrm>
            <a:off x="5989320"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8" name="Google Shape;128;p41"/>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41"/>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4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sp>
        <p:nvSpPr>
          <p:cNvPr id="132" name="Google Shape;132;p4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2"/>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42"/>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4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36" name="Shape 136"/>
        <p:cNvGrpSpPr/>
        <p:nvPr/>
      </p:nvGrpSpPr>
      <p:grpSpPr>
        <a:xfrm>
          <a:off x="0" y="0"/>
          <a:ext cx="0" cy="0"/>
          <a:chOff x="0" y="0"/>
          <a:chExt cx="0" cy="0"/>
        </a:xfrm>
      </p:grpSpPr>
      <p:sp>
        <p:nvSpPr>
          <p:cNvPr id="137" name="Google Shape;137;p43"/>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43"/>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4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0" name="Shape 140"/>
        <p:cNvGrpSpPr/>
        <p:nvPr/>
      </p:nvGrpSpPr>
      <p:grpSpPr>
        <a:xfrm>
          <a:off x="0" y="0"/>
          <a:ext cx="0" cy="0"/>
          <a:chOff x="0" y="0"/>
          <a:chExt cx="0" cy="0"/>
        </a:xfrm>
      </p:grpSpPr>
      <p:sp>
        <p:nvSpPr>
          <p:cNvPr id="141" name="Google Shape;141;p44"/>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3600"/>
              <a:buFont typeface="Twentieth Century"/>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44"/>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55600" lvl="0" marL="457200" algn="l">
              <a:lnSpc>
                <a:spcPct val="90000"/>
              </a:lnSpc>
              <a:spcBef>
                <a:spcPts val="1200"/>
              </a:spcBef>
              <a:spcAft>
                <a:spcPts val="0"/>
              </a:spcAft>
              <a:buSzPts val="2000"/>
              <a:buChar char=" "/>
              <a:defRPr sz="2000"/>
            </a:lvl1pPr>
            <a:lvl2pPr indent="-330200" lvl="1" marL="914400" algn="l">
              <a:lnSpc>
                <a:spcPct val="90000"/>
              </a:lnSpc>
              <a:spcBef>
                <a:spcPts val="200"/>
              </a:spcBef>
              <a:spcAft>
                <a:spcPts val="0"/>
              </a:spcAft>
              <a:buSzPts val="1600"/>
              <a:buChar char="?"/>
              <a:defRPr sz="1600"/>
            </a:lvl2pPr>
            <a:lvl3pPr indent="-304800" lvl="2" marL="1371600" algn="l">
              <a:lnSpc>
                <a:spcPct val="90000"/>
              </a:lnSpc>
              <a:spcBef>
                <a:spcPts val="400"/>
              </a:spcBef>
              <a:spcAft>
                <a:spcPts val="0"/>
              </a:spcAft>
              <a:buSzPts val="1200"/>
              <a:buChar char="?"/>
              <a:defRPr sz="1200"/>
            </a:lvl3pPr>
            <a:lvl4pPr indent="-304800" lvl="3" marL="1828800" algn="l">
              <a:lnSpc>
                <a:spcPct val="90000"/>
              </a:lnSpc>
              <a:spcBef>
                <a:spcPts val="400"/>
              </a:spcBef>
              <a:spcAft>
                <a:spcPts val="0"/>
              </a:spcAft>
              <a:buSzPts val="1200"/>
              <a:buChar char="?"/>
              <a:defRPr sz="1200"/>
            </a:lvl4pPr>
            <a:lvl5pPr indent="-304800" lvl="4" marL="2286000" algn="l">
              <a:lnSpc>
                <a:spcPct val="90000"/>
              </a:lnSpc>
              <a:spcBef>
                <a:spcPts val="400"/>
              </a:spcBef>
              <a:spcAft>
                <a:spcPts val="0"/>
              </a:spcAft>
              <a:buSzPts val="1200"/>
              <a:buChar char="?"/>
              <a:defRPr sz="1200"/>
            </a:lvl5pPr>
            <a:lvl6pPr indent="-304800" lvl="5" marL="2743200" algn="l">
              <a:lnSpc>
                <a:spcPct val="90000"/>
              </a:lnSpc>
              <a:spcBef>
                <a:spcPts val="400"/>
              </a:spcBef>
              <a:spcAft>
                <a:spcPts val="0"/>
              </a:spcAft>
              <a:buSzPts val="1200"/>
              <a:buChar char="?"/>
              <a:defRPr sz="1200"/>
            </a:lvl6pPr>
            <a:lvl7pPr indent="-304800" lvl="6" marL="3200400" algn="l">
              <a:lnSpc>
                <a:spcPct val="90000"/>
              </a:lnSpc>
              <a:spcBef>
                <a:spcPts val="400"/>
              </a:spcBef>
              <a:spcAft>
                <a:spcPts val="0"/>
              </a:spcAft>
              <a:buSzPts val="1200"/>
              <a:buChar char="?"/>
              <a:defRPr sz="1200"/>
            </a:lvl7pPr>
            <a:lvl8pPr indent="-304800" lvl="7" marL="3657600" algn="l">
              <a:lnSpc>
                <a:spcPct val="90000"/>
              </a:lnSpc>
              <a:spcBef>
                <a:spcPts val="400"/>
              </a:spcBef>
              <a:spcAft>
                <a:spcPts val="0"/>
              </a:spcAft>
              <a:buSzPts val="1200"/>
              <a:buChar char="?"/>
              <a:defRPr sz="1200"/>
            </a:lvl8pPr>
            <a:lvl9pPr indent="-304800" lvl="8" marL="4114800" algn="l">
              <a:lnSpc>
                <a:spcPct val="90000"/>
              </a:lnSpc>
              <a:spcBef>
                <a:spcPts val="400"/>
              </a:spcBef>
              <a:spcAft>
                <a:spcPts val="400"/>
              </a:spcAft>
              <a:buSzPts val="1200"/>
              <a:buChar char="?"/>
              <a:defRPr sz="1200"/>
            </a:lvl9pPr>
          </a:lstStyle>
          <a:p/>
        </p:txBody>
      </p:sp>
      <p:sp>
        <p:nvSpPr>
          <p:cNvPr id="143" name="Google Shape;143;p44"/>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44" name="Google Shape;144;p44"/>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44"/>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47" name="Shape 147"/>
        <p:cNvGrpSpPr/>
        <p:nvPr/>
      </p:nvGrpSpPr>
      <p:grpSpPr>
        <a:xfrm>
          <a:off x="0" y="0"/>
          <a:ext cx="0" cy="0"/>
          <a:chOff x="0" y="0"/>
          <a:chExt cx="0" cy="0"/>
        </a:xfrm>
      </p:grpSpPr>
      <p:sp>
        <p:nvSpPr>
          <p:cNvPr id="148" name="Google Shape;148;p45"/>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4400"/>
              <a:buFont typeface="Twentieth Century"/>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45"/>
          <p:cNvSpPr/>
          <p:nvPr>
            <p:ph idx="2" type="pic"/>
          </p:nvPr>
        </p:nvSpPr>
        <p:spPr>
          <a:xfrm>
            <a:off x="0" y="-1"/>
            <a:ext cx="12188952" cy="4572000"/>
          </a:xfrm>
          <a:prstGeom prst="rect">
            <a:avLst/>
          </a:prstGeom>
          <a:solidFill>
            <a:srgbClr val="76CEEF"/>
          </a:solidFill>
          <a:ln>
            <a:noFill/>
          </a:ln>
        </p:spPr>
      </p:sp>
      <p:sp>
        <p:nvSpPr>
          <p:cNvPr id="150" name="Google Shape;150;p45"/>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600"/>
              <a:buNone/>
              <a:defRPr sz="1600">
                <a:solidFill>
                  <a:srgbClr val="0C0C0C"/>
                </a:solidFill>
              </a:defRPr>
            </a:lvl1pPr>
            <a:lvl2pPr indent="-228600" lvl="1" marL="914400" algn="l">
              <a:lnSpc>
                <a:spcPct val="90000"/>
              </a:lnSpc>
              <a:spcBef>
                <a:spcPts val="200"/>
              </a:spcBef>
              <a:spcAft>
                <a:spcPts val="0"/>
              </a:spcAft>
              <a:buSzPts val="1050"/>
              <a:buNone/>
              <a:defRPr sz="1050"/>
            </a:lvl2pPr>
            <a:lvl3pPr indent="-228600" lvl="2" marL="1371600" algn="l">
              <a:lnSpc>
                <a:spcPct val="90000"/>
              </a:lnSpc>
              <a:spcBef>
                <a:spcPts val="400"/>
              </a:spcBef>
              <a:spcAft>
                <a:spcPts val="0"/>
              </a:spcAft>
              <a:buSzPts val="900"/>
              <a:buNone/>
              <a:defRPr sz="900"/>
            </a:lvl3pPr>
            <a:lvl4pPr indent="-228600" lvl="3" marL="1828800" algn="l">
              <a:lnSpc>
                <a:spcPct val="90000"/>
              </a:lnSpc>
              <a:spcBef>
                <a:spcPts val="400"/>
              </a:spcBef>
              <a:spcAft>
                <a:spcPts val="0"/>
              </a:spcAft>
              <a:buSzPts val="750"/>
              <a:buNone/>
              <a:defRPr sz="750"/>
            </a:lvl4pPr>
            <a:lvl5pPr indent="-228600" lvl="4" marL="2286000" algn="l">
              <a:lnSpc>
                <a:spcPct val="90000"/>
              </a:lnSpc>
              <a:spcBef>
                <a:spcPts val="400"/>
              </a:spcBef>
              <a:spcAft>
                <a:spcPts val="0"/>
              </a:spcAft>
              <a:buSzPts val="750"/>
              <a:buNone/>
              <a:defRPr sz="750"/>
            </a:lvl5pPr>
            <a:lvl6pPr indent="-228600" lvl="5" marL="2743200" algn="l">
              <a:lnSpc>
                <a:spcPct val="90000"/>
              </a:lnSpc>
              <a:spcBef>
                <a:spcPts val="400"/>
              </a:spcBef>
              <a:spcAft>
                <a:spcPts val="0"/>
              </a:spcAft>
              <a:buSzPts val="750"/>
              <a:buNone/>
              <a:defRPr sz="750"/>
            </a:lvl6pPr>
            <a:lvl7pPr indent="-228600" lvl="6" marL="3200400" algn="l">
              <a:lnSpc>
                <a:spcPct val="90000"/>
              </a:lnSpc>
              <a:spcBef>
                <a:spcPts val="400"/>
              </a:spcBef>
              <a:spcAft>
                <a:spcPts val="0"/>
              </a:spcAft>
              <a:buSzPts val="750"/>
              <a:buNone/>
              <a:defRPr sz="750"/>
            </a:lvl7pPr>
            <a:lvl8pPr indent="-228600" lvl="7" marL="3657600" algn="l">
              <a:lnSpc>
                <a:spcPct val="90000"/>
              </a:lnSpc>
              <a:spcBef>
                <a:spcPts val="400"/>
              </a:spcBef>
              <a:spcAft>
                <a:spcPts val="0"/>
              </a:spcAft>
              <a:buSzPts val="750"/>
              <a:buNone/>
              <a:defRPr sz="750"/>
            </a:lvl8pPr>
            <a:lvl9pPr indent="-228600" lvl="8" marL="4114800" algn="l">
              <a:lnSpc>
                <a:spcPct val="90000"/>
              </a:lnSpc>
              <a:spcBef>
                <a:spcPts val="400"/>
              </a:spcBef>
              <a:spcAft>
                <a:spcPts val="400"/>
              </a:spcAft>
              <a:buSzPts val="750"/>
              <a:buNone/>
              <a:defRPr sz="750"/>
            </a:lvl9pPr>
          </a:lstStyle>
          <a:p/>
        </p:txBody>
      </p:sp>
      <p:sp>
        <p:nvSpPr>
          <p:cNvPr id="151" name="Google Shape;151;p45"/>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45"/>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4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cxnSp>
        <p:nvCxnSpPr>
          <p:cNvPr id="154" name="Google Shape;154;p45"/>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5" name="Shape 155"/>
        <p:cNvGrpSpPr/>
        <p:nvPr/>
      </p:nvGrpSpPr>
      <p:grpSpPr>
        <a:xfrm>
          <a:off x="0" y="0"/>
          <a:ext cx="0" cy="0"/>
          <a:chOff x="0" y="0"/>
          <a:chExt cx="0" cy="0"/>
        </a:xfrm>
      </p:grpSpPr>
      <p:sp>
        <p:nvSpPr>
          <p:cNvPr id="156" name="Google Shape;156;p4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46"/>
          <p:cNvSpPr txBox="1"/>
          <p:nvPr>
            <p:ph idx="1" type="body"/>
          </p:nvPr>
        </p:nvSpPr>
        <p:spPr>
          <a:xfrm rot="5400000">
            <a:off x="3872486"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8" name="Google Shape;158;p46"/>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46"/>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4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61" name="Shape 161"/>
        <p:cNvGrpSpPr/>
        <p:nvPr/>
      </p:nvGrpSpPr>
      <p:grpSpPr>
        <a:xfrm>
          <a:off x="0" y="0"/>
          <a:ext cx="0" cy="0"/>
          <a:chOff x="0" y="0"/>
          <a:chExt cx="0" cy="0"/>
        </a:xfrm>
      </p:grpSpPr>
      <p:sp>
        <p:nvSpPr>
          <p:cNvPr id="162" name="Google Shape;162;p47"/>
          <p:cNvSpPr txBox="1"/>
          <p:nvPr>
            <p:ph type="title"/>
          </p:nvPr>
        </p:nvSpPr>
        <p:spPr>
          <a:xfrm rot="5400000">
            <a:off x="7334252"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47"/>
          <p:cNvSpPr txBox="1"/>
          <p:nvPr>
            <p:ph idx="1" type="body"/>
          </p:nvPr>
        </p:nvSpPr>
        <p:spPr>
          <a:xfrm rot="5400000">
            <a:off x="2076452"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4" name="Google Shape;164;p47"/>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47"/>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4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cxnSp>
        <p:nvCxnSpPr>
          <p:cNvPr id="167" name="Google Shape;167;p47"/>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d-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2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4400"/>
              <a:buFont typeface="Twentieth Century"/>
              <a:buNone/>
              <a:defRPr b="0" i="0" sz="44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27"/>
          <p:cNvSpPr txBox="1"/>
          <p:nvPr>
            <p:ph idx="1" type="body"/>
          </p:nvPr>
        </p:nvSpPr>
        <p:spPr>
          <a:xfrm>
            <a:off x="1024129" y="2286000"/>
            <a:ext cx="9720073" cy="4023360"/>
          </a:xfrm>
          <a:prstGeom prst="rect">
            <a:avLst/>
          </a:prstGeom>
          <a:noFill/>
          <a:ln>
            <a:noFill/>
          </a:ln>
        </p:spPr>
        <p:txBody>
          <a:bodyPr anchorCtr="0" anchor="t" bIns="45700" lIns="45700" spcFirstLastPara="1" rIns="45700" wrap="square" tIns="45700">
            <a:normAutofit/>
          </a:bodyPr>
          <a:lstStyle>
            <a:lvl1pPr indent="-355600" lvl="0" marL="457200" marR="0" rtl="0" algn="l">
              <a:lnSpc>
                <a:spcPct val="90000"/>
              </a:lnSpc>
              <a:spcBef>
                <a:spcPts val="1200"/>
              </a:spcBef>
              <a:spcAft>
                <a:spcPts val="0"/>
              </a:spcAft>
              <a:buClr>
                <a:schemeClr val="accent1"/>
              </a:buClr>
              <a:buSzPts val="2000"/>
              <a:buFont typeface="Twentieth Century"/>
              <a:buChar char=" "/>
              <a:defRPr b="0" i="0" sz="2000" u="none" cap="none" strike="noStrike">
                <a:solidFill>
                  <a:schemeClr val="dk1"/>
                </a:solidFill>
                <a:latin typeface="Twentieth Century"/>
                <a:ea typeface="Twentieth Century"/>
                <a:cs typeface="Twentieth Century"/>
                <a:sym typeface="Twentieth Century"/>
              </a:defRPr>
            </a:lvl1pPr>
            <a:lvl2pPr indent="-330200" lvl="1" marL="914400" marR="0" rtl="0" algn="l">
              <a:lnSpc>
                <a:spcPct val="90000"/>
              </a:lnSpc>
              <a:spcBef>
                <a:spcPts val="200"/>
              </a:spcBef>
              <a:spcAft>
                <a:spcPts val="0"/>
              </a:spcAft>
              <a:buClr>
                <a:schemeClr val="accent1"/>
              </a:buClr>
              <a:buSzPts val="1600"/>
              <a:buFont typeface="Noto Sans Symbols"/>
              <a:buChar char="🢝"/>
              <a:defRPr b="0" i="0" sz="1600" u="none" cap="none" strike="noStrike">
                <a:solidFill>
                  <a:schemeClr val="dk1"/>
                </a:solidFill>
                <a:latin typeface="Twentieth Century"/>
                <a:ea typeface="Twentieth Century"/>
                <a:cs typeface="Twentieth Century"/>
                <a:sym typeface="Twentieth Century"/>
              </a:defRPr>
            </a:lvl2pPr>
            <a:lvl3pPr indent="-304800" lvl="2" marL="13716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3pPr>
            <a:lvl4pPr indent="-304800" lvl="3" marL="18288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4pPr>
            <a:lvl5pPr indent="-304800" lvl="4" marL="22860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5pPr>
            <a:lvl6pPr indent="-304800" lvl="5" marL="27432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6pPr>
            <a:lvl7pPr indent="-304800" lvl="6" marL="32004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7pPr>
            <a:lvl8pPr indent="-304800" lvl="7" marL="3657600" marR="0" rtl="0" algn="l">
              <a:lnSpc>
                <a:spcPct val="90000"/>
              </a:lnSpc>
              <a:spcBef>
                <a:spcPts val="400"/>
              </a:spcBef>
              <a:spcAft>
                <a:spcPts val="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8pPr>
            <a:lvl9pPr indent="-304800" lvl="8" marL="4114800" marR="0" rtl="0" algn="l">
              <a:lnSpc>
                <a:spcPct val="90000"/>
              </a:lnSpc>
              <a:spcBef>
                <a:spcPts val="400"/>
              </a:spcBef>
              <a:spcAft>
                <a:spcPts val="400"/>
              </a:spcAft>
              <a:buClr>
                <a:schemeClr val="accent1"/>
              </a:buClr>
              <a:buSzPts val="1200"/>
              <a:buFont typeface="Noto Sans Symbols"/>
              <a:buChar char="🢝"/>
              <a:defRPr b="0" i="0" sz="1200" u="none" cap="none" strike="noStrike">
                <a:solidFill>
                  <a:schemeClr val="dk1"/>
                </a:solidFill>
                <a:latin typeface="Twentieth Century"/>
                <a:ea typeface="Twentieth Century"/>
                <a:cs typeface="Twentieth Century"/>
                <a:sym typeface="Twentieth Century"/>
              </a:defRPr>
            </a:lvl9pPr>
          </a:lstStyle>
          <a:p/>
        </p:txBody>
      </p:sp>
      <p:sp>
        <p:nvSpPr>
          <p:cNvPr id="87" name="Google Shape;87;p27"/>
          <p:cNvSpPr txBox="1"/>
          <p:nvPr>
            <p:ph idx="10" type="dt"/>
          </p:nvPr>
        </p:nvSpPr>
        <p:spPr>
          <a:xfrm>
            <a:off x="1024130" y="6470704"/>
            <a:ext cx="2154143" cy="27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88" name="Google Shape;88;p27"/>
          <p:cNvSpPr txBox="1"/>
          <p:nvPr>
            <p:ph idx="11" type="ftr"/>
          </p:nvPr>
        </p:nvSpPr>
        <p:spPr>
          <a:xfrm>
            <a:off x="4842933" y="6470704"/>
            <a:ext cx="5901459" cy="27432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89" name="Google Shape;89;p2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id-ID"/>
              <a:t>‹#›</a:t>
            </a:fld>
            <a:endParaRPr/>
          </a:p>
        </p:txBody>
      </p:sp>
      <p:cxnSp>
        <p:nvCxnSpPr>
          <p:cNvPr id="90" name="Google Shape;90;p27"/>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2.jp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1"/>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Meiryo"/>
              <a:ea typeface="Meiryo"/>
              <a:cs typeface="Meiryo"/>
              <a:sym typeface="Meiryo"/>
            </a:endParaRPr>
          </a:p>
        </p:txBody>
      </p:sp>
      <p:pic>
        <p:nvPicPr>
          <p:cNvPr descr="A painting of a group of people in a room&#10;&#10;Description automatically generated" id="173" name="Google Shape;173;p1"/>
          <p:cNvPicPr preferRelativeResize="0"/>
          <p:nvPr/>
        </p:nvPicPr>
        <p:blipFill rotWithShape="1">
          <a:blip r:embed="rId3">
            <a:alphaModFix/>
          </a:blip>
          <a:srcRect b="0" l="11112" r="0" t="0"/>
          <a:stretch/>
        </p:blipFill>
        <p:spPr>
          <a:xfrm>
            <a:off x="-8765" y="13951"/>
            <a:ext cx="12191695" cy="6858000"/>
          </a:xfrm>
          <a:prstGeom prst="rect">
            <a:avLst/>
          </a:prstGeom>
          <a:noFill/>
          <a:ln>
            <a:noFill/>
          </a:ln>
        </p:spPr>
      </p:pic>
      <p:sp>
        <p:nvSpPr>
          <p:cNvPr id="174" name="Google Shape;174;p1"/>
          <p:cNvSpPr/>
          <p:nvPr/>
        </p:nvSpPr>
        <p:spPr>
          <a:xfrm flipH="1">
            <a:off x="1081377" y="1386250"/>
            <a:ext cx="4598786" cy="4113402"/>
          </a:xfrm>
          <a:custGeom>
            <a:rect b="b" l="l" r="r" t="t"/>
            <a:pathLst>
              <a:path extrusionOk="0" h="3634591" w="3810827">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5" name="Google Shape;175;p1"/>
          <p:cNvSpPr/>
          <p:nvPr/>
        </p:nvSpPr>
        <p:spPr>
          <a:xfrm flipH="1">
            <a:off x="1179573" y="1494845"/>
            <a:ext cx="4354593" cy="3861126"/>
          </a:xfrm>
          <a:custGeom>
            <a:rect b="b" l="l" r="r" t="t"/>
            <a:pathLst>
              <a:path extrusionOk="0" h="3634591" w="3810827">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D3F3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FFFFFF"/>
              </a:solidFill>
              <a:latin typeface="Meiryo"/>
              <a:ea typeface="Meiryo"/>
              <a:cs typeface="Meiryo"/>
              <a:sym typeface="Meiryo"/>
            </a:endParaRPr>
          </a:p>
        </p:txBody>
      </p:sp>
      <p:sp>
        <p:nvSpPr>
          <p:cNvPr id="176" name="Google Shape;176;p1"/>
          <p:cNvSpPr/>
          <p:nvPr/>
        </p:nvSpPr>
        <p:spPr>
          <a:xfrm flipH="1" rot="-300000">
            <a:off x="987224" y="1122042"/>
            <a:ext cx="4908132" cy="4613915"/>
          </a:xfrm>
          <a:custGeom>
            <a:rect b="b" l="l" r="r" t="t"/>
            <a:pathLst>
              <a:path extrusionOk="0" h="3634591" w="3810827">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cap="flat" cmpd="sng" w="19050">
            <a:solidFill>
              <a:srgbClr val="FFFFFF">
                <a:alpha val="6941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7" name="Google Shape;177;p1"/>
          <p:cNvSpPr txBox="1"/>
          <p:nvPr>
            <p:ph type="ctrTitle"/>
          </p:nvPr>
        </p:nvSpPr>
        <p:spPr>
          <a:xfrm>
            <a:off x="1170503" y="2102869"/>
            <a:ext cx="4354593" cy="195706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500"/>
              <a:buFont typeface="Calibri"/>
              <a:buNone/>
            </a:pPr>
            <a:r>
              <a:rPr b="1" lang="id-ID" sz="6500">
                <a:latin typeface="Calibri"/>
                <a:ea typeface="Calibri"/>
                <a:cs typeface="Calibri"/>
                <a:sym typeface="Calibri"/>
              </a:rPr>
              <a:t> Islam &amp; Sainteks</a:t>
            </a:r>
            <a:endParaRPr b="1" sz="6500">
              <a:latin typeface="Calibri"/>
              <a:ea typeface="Calibri"/>
              <a:cs typeface="Calibri"/>
              <a:sym typeface="Calibri"/>
            </a:endParaRPr>
          </a:p>
        </p:txBody>
      </p:sp>
      <p:sp>
        <p:nvSpPr>
          <p:cNvPr id="178" name="Google Shape;178;p1"/>
          <p:cNvSpPr txBox="1"/>
          <p:nvPr>
            <p:ph idx="1" type="subTitle"/>
          </p:nvPr>
        </p:nvSpPr>
        <p:spPr>
          <a:xfrm>
            <a:off x="198676" y="225901"/>
            <a:ext cx="1961793" cy="344915"/>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2000"/>
              <a:buNone/>
            </a:pPr>
            <a:r>
              <a:rPr b="1" lang="id-ID" sz="2000"/>
              <a:t>Tim Dosen AEI</a:t>
            </a:r>
            <a:endParaRPr/>
          </a:p>
        </p:txBody>
      </p:sp>
      <p:grpSp>
        <p:nvGrpSpPr>
          <p:cNvPr id="179" name="Google Shape;179;p1"/>
          <p:cNvGrpSpPr/>
          <p:nvPr/>
        </p:nvGrpSpPr>
        <p:grpSpPr>
          <a:xfrm>
            <a:off x="6324577" y="916936"/>
            <a:ext cx="5291584" cy="5024130"/>
            <a:chOff x="6324577" y="916936"/>
            <a:chExt cx="5291584" cy="5024130"/>
          </a:xfrm>
        </p:grpSpPr>
        <p:sp>
          <p:nvSpPr>
            <p:cNvPr id="180" name="Google Shape;180;p1"/>
            <p:cNvSpPr/>
            <p:nvPr/>
          </p:nvSpPr>
          <p:spPr>
            <a:xfrm>
              <a:off x="6710901" y="1264257"/>
              <a:ext cx="4534335" cy="4235395"/>
            </a:xfrm>
            <a:custGeom>
              <a:rect b="b" l="l" r="r" t="t"/>
              <a:pathLst>
                <a:path extrusionOk="0" h="3634591" w="3810827">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p1"/>
            <p:cNvSpPr/>
            <p:nvPr/>
          </p:nvSpPr>
          <p:spPr>
            <a:xfrm rot="300000">
              <a:off x="6516303" y="1122043"/>
              <a:ext cx="4908132" cy="4613915"/>
            </a:xfrm>
            <a:custGeom>
              <a:rect b="b" l="l" r="r" t="t"/>
              <a:pathLst>
                <a:path extrusionOk="0" h="3634591" w="3810827">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cap="flat" cmpd="sng" w="19050">
              <a:solidFill>
                <a:srgbClr val="FFFFFF">
                  <a:alpha val="6941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A painting of men in turbans&#10;&#10;Description automatically generated" id="182" name="Google Shape;182;p1"/>
          <p:cNvPicPr preferRelativeResize="0"/>
          <p:nvPr/>
        </p:nvPicPr>
        <p:blipFill rotWithShape="1">
          <a:blip r:embed="rId4">
            <a:alphaModFix/>
          </a:blip>
          <a:srcRect b="1" l="260" r="7368" t="0"/>
          <a:stretch/>
        </p:blipFill>
        <p:spPr>
          <a:xfrm>
            <a:off x="6882275" y="1386254"/>
            <a:ext cx="4228348" cy="3969721"/>
          </a:xfrm>
          <a:custGeom>
            <a:rect b="b" l="l" r="r" t="t"/>
            <a:pathLst>
              <a:path extrusionOk="0" h="3588642" w="3952684">
                <a:moveTo>
                  <a:pt x="2262021" y="0"/>
                </a:moveTo>
                <a:cubicBezTo>
                  <a:pt x="2521915" y="0"/>
                  <a:pt x="2761111" y="48268"/>
                  <a:pt x="2973080" y="143330"/>
                </a:cubicBezTo>
                <a:cubicBezTo>
                  <a:pt x="3171733" y="232491"/>
                  <a:pt x="3346211" y="362626"/>
                  <a:pt x="3491678" y="530048"/>
                </a:cubicBezTo>
                <a:cubicBezTo>
                  <a:pt x="3788979" y="872350"/>
                  <a:pt x="3952684" y="1358801"/>
                  <a:pt x="3952684" y="1899831"/>
                </a:cubicBezTo>
                <a:cubicBezTo>
                  <a:pt x="3952684" y="2115686"/>
                  <a:pt x="3889322" y="2288927"/>
                  <a:pt x="3747331" y="2461593"/>
                </a:cubicBezTo>
                <a:cubicBezTo>
                  <a:pt x="3598809" y="2642210"/>
                  <a:pt x="3375643" y="2808567"/>
                  <a:pt x="3139331" y="2984675"/>
                </a:cubicBezTo>
                <a:cubicBezTo>
                  <a:pt x="3095732" y="3017128"/>
                  <a:pt x="3050692" y="3050728"/>
                  <a:pt x="3005652" y="3084736"/>
                </a:cubicBezTo>
                <a:cubicBezTo>
                  <a:pt x="2602495" y="3389096"/>
                  <a:pt x="2308249" y="3588642"/>
                  <a:pt x="1907213" y="3588642"/>
                </a:cubicBezTo>
                <a:cubicBezTo>
                  <a:pt x="1296158" y="3588642"/>
                  <a:pt x="863400" y="3343695"/>
                  <a:pt x="460242" y="2769559"/>
                </a:cubicBezTo>
                <a:cubicBezTo>
                  <a:pt x="407483" y="2694411"/>
                  <a:pt x="355911" y="2626066"/>
                  <a:pt x="306036" y="2560014"/>
                </a:cubicBezTo>
                <a:cubicBezTo>
                  <a:pt x="99326" y="2286139"/>
                  <a:pt x="0" y="2143712"/>
                  <a:pt x="0" y="1899831"/>
                </a:cubicBezTo>
                <a:cubicBezTo>
                  <a:pt x="0" y="1657671"/>
                  <a:pt x="62259" y="1418460"/>
                  <a:pt x="184911" y="1188839"/>
                </a:cubicBezTo>
                <a:cubicBezTo>
                  <a:pt x="304934" y="964216"/>
                  <a:pt x="476527" y="758606"/>
                  <a:pt x="694859" y="577907"/>
                </a:cubicBezTo>
                <a:cubicBezTo>
                  <a:pt x="909458" y="400240"/>
                  <a:pt x="1164345" y="253716"/>
                  <a:pt x="1432127" y="154228"/>
                </a:cubicBezTo>
                <a:cubicBezTo>
                  <a:pt x="1707119" y="51875"/>
                  <a:pt x="1986436" y="0"/>
                  <a:pt x="2262021" y="0"/>
                </a:cubicBez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77"/>
                                        </p:tgtEl>
                                        <p:attrNameLst>
                                          <p:attrName>style.visibility</p:attrName>
                                        </p:attrNameLst>
                                      </p:cBhvr>
                                      <p:to>
                                        <p:strVal val="visible"/>
                                      </p:to>
                                    </p:set>
                                    <p:animEffect filter="fade" transition="in">
                                      <p:cBhvr>
                                        <p:cTn dur="700"/>
                                        <p:tgtEl>
                                          <p:spTgt spid="177"/>
                                        </p:tgtEl>
                                      </p:cBhvr>
                                    </p:animEffect>
                                  </p:childTnLst>
                                </p:cTn>
                              </p:par>
                              <p:par>
                                <p:cTn fill="hold" nodeType="withEffect" presetClass="entr" presetID="10" presetSubtype="0">
                                  <p:stCondLst>
                                    <p:cond delay="1500"/>
                                  </p:stCondLst>
                                  <p:childTnLst>
                                    <p:set>
                                      <p:cBhvr>
                                        <p:cTn dur="1" fill="hold">
                                          <p:stCondLst>
                                            <p:cond delay="0"/>
                                          </p:stCondLst>
                                        </p:cTn>
                                        <p:tgtEl>
                                          <p:spTgt spid="178">
                                            <p:txEl>
                                              <p:pRg end="0" st="0"/>
                                            </p:txEl>
                                          </p:spTgt>
                                        </p:tgtEl>
                                        <p:attrNameLst>
                                          <p:attrName>style.visibility</p:attrName>
                                        </p:attrNameLst>
                                      </p:cBhvr>
                                      <p:to>
                                        <p:strVal val="visible"/>
                                      </p:to>
                                    </p:set>
                                    <p:animEffect filter="fade" transition="in">
                                      <p:cBhvr>
                                        <p:cTn dur="700"/>
                                        <p:tgtEl>
                                          <p:spTgt spid="17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id-ID"/>
              <a:t>PENGERTIAN DASAR SAINS, TEKNOLOGI, DAN SENI</a:t>
            </a:r>
            <a:endParaRPr/>
          </a:p>
        </p:txBody>
      </p:sp>
      <p:pic>
        <p:nvPicPr>
          <p:cNvPr descr="A human head with colorful spheres exploding in the air&#10;&#10;Description automatically generated with medium confidence" id="188" name="Google Shape;188;p3"/>
          <p:cNvPicPr preferRelativeResize="0"/>
          <p:nvPr/>
        </p:nvPicPr>
        <p:blipFill rotWithShape="1">
          <a:blip r:embed="rId3">
            <a:alphaModFix/>
          </a:blip>
          <a:srcRect b="0" l="0" r="0" t="0"/>
          <a:stretch/>
        </p:blipFill>
        <p:spPr>
          <a:xfrm>
            <a:off x="8103476" y="2746543"/>
            <a:ext cx="3318642" cy="2102515"/>
          </a:xfrm>
          <a:prstGeom prst="rect">
            <a:avLst/>
          </a:prstGeom>
          <a:noFill/>
          <a:ln>
            <a:noFill/>
          </a:ln>
        </p:spPr>
      </p:pic>
      <p:grpSp>
        <p:nvGrpSpPr>
          <p:cNvPr id="189" name="Google Shape;189;p3"/>
          <p:cNvGrpSpPr/>
          <p:nvPr/>
        </p:nvGrpSpPr>
        <p:grpSpPr>
          <a:xfrm>
            <a:off x="769882" y="2213109"/>
            <a:ext cx="6939456" cy="4406254"/>
            <a:chOff x="0" y="2153"/>
            <a:chExt cx="6939456" cy="4406254"/>
          </a:xfrm>
        </p:grpSpPr>
        <p:cxnSp>
          <p:nvCxnSpPr>
            <p:cNvPr id="190" name="Google Shape;190;p3"/>
            <p:cNvCxnSpPr/>
            <p:nvPr/>
          </p:nvCxnSpPr>
          <p:spPr>
            <a:xfrm>
              <a:off x="0" y="2153"/>
              <a:ext cx="6939456" cy="0"/>
            </a:xfrm>
            <a:prstGeom prst="straightConnector1">
              <a:avLst/>
            </a:prstGeom>
            <a:solidFill>
              <a:srgbClr val="335A74"/>
            </a:solidFill>
            <a:ln cap="flat" cmpd="sng" w="15875">
              <a:solidFill>
                <a:srgbClr val="335A74"/>
              </a:solidFill>
              <a:prstDash val="solid"/>
              <a:round/>
              <a:headEnd len="sm" w="sm" type="none"/>
              <a:tailEnd len="sm" w="sm" type="none"/>
            </a:ln>
          </p:spPr>
        </p:cxnSp>
        <p:sp>
          <p:nvSpPr>
            <p:cNvPr id="191" name="Google Shape;191;p3"/>
            <p:cNvSpPr/>
            <p:nvPr/>
          </p:nvSpPr>
          <p:spPr>
            <a:xfrm>
              <a:off x="0" y="2153"/>
              <a:ext cx="1387891" cy="146875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
            <p:cNvSpPr txBox="1"/>
            <p:nvPr/>
          </p:nvSpPr>
          <p:spPr>
            <a:xfrm>
              <a:off x="0" y="2153"/>
              <a:ext cx="1387891" cy="1468751"/>
            </a:xfrm>
            <a:prstGeom prst="rect">
              <a:avLst/>
            </a:prstGeom>
            <a:noFill/>
            <a:ln>
              <a:noFill/>
            </a:ln>
          </p:spPr>
          <p:txBody>
            <a:bodyPr anchorCtr="0" anchor="t" bIns="95250" lIns="95250" spcFirstLastPara="1" rIns="95250" wrap="square" tIns="95250">
              <a:noAutofit/>
            </a:bodyPr>
            <a:lstStyle/>
            <a:p>
              <a:pPr indent="0" lvl="0" marL="0" marR="0" rtl="0" algn="l">
                <a:lnSpc>
                  <a:spcPct val="90000"/>
                </a:lnSpc>
                <a:spcBef>
                  <a:spcPts val="0"/>
                </a:spcBef>
                <a:spcAft>
                  <a:spcPts val="0"/>
                </a:spcAft>
                <a:buClr>
                  <a:schemeClr val="dk1"/>
                </a:buClr>
                <a:buSzPts val="2500"/>
                <a:buFont typeface="Twentieth Century"/>
                <a:buNone/>
              </a:pPr>
              <a:r>
                <a:rPr b="0" i="0" lang="id-ID" sz="2500" u="none" cap="none" strike="noStrike">
                  <a:solidFill>
                    <a:schemeClr val="dk1"/>
                  </a:solidFill>
                  <a:latin typeface="Twentieth Century"/>
                  <a:ea typeface="Twentieth Century"/>
                  <a:cs typeface="Twentieth Century"/>
                  <a:sym typeface="Twentieth Century"/>
                </a:rPr>
                <a:t>Sains</a:t>
              </a:r>
              <a:endParaRPr b="0" i="0" sz="2500" u="none" cap="none" strike="noStrike">
                <a:solidFill>
                  <a:schemeClr val="dk1"/>
                </a:solidFill>
                <a:latin typeface="Twentieth Century"/>
                <a:ea typeface="Twentieth Century"/>
                <a:cs typeface="Twentieth Century"/>
                <a:sym typeface="Twentieth Century"/>
              </a:endParaRPr>
            </a:p>
          </p:txBody>
        </p:sp>
        <p:sp>
          <p:nvSpPr>
            <p:cNvPr id="193" name="Google Shape;193;p3"/>
            <p:cNvSpPr/>
            <p:nvPr/>
          </p:nvSpPr>
          <p:spPr>
            <a:xfrm>
              <a:off x="1491983" y="68849"/>
              <a:ext cx="5447472" cy="13339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txBox="1"/>
            <p:nvPr/>
          </p:nvSpPr>
          <p:spPr>
            <a:xfrm>
              <a:off x="1491983" y="68849"/>
              <a:ext cx="5447472" cy="1333924"/>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b="0" i="0" lang="id-ID" sz="2100" u="none" cap="none" strike="noStrike">
                  <a:solidFill>
                    <a:schemeClr val="dk1"/>
                  </a:solidFill>
                  <a:latin typeface="Twentieth Century"/>
                  <a:ea typeface="Twentieth Century"/>
                  <a:cs typeface="Twentieth Century"/>
                  <a:sym typeface="Twentieth Century"/>
                </a:rPr>
                <a:t>Model penyelidikan yang sistematis berdasar eksperimentasi yang menciptakan sebuah hasil yang dapat direka ulang, serta berlaku universal.</a:t>
              </a:r>
              <a:endParaRPr b="0" i="0" sz="1400" u="none" cap="none" strike="noStrike">
                <a:solidFill>
                  <a:srgbClr val="000000"/>
                </a:solidFill>
                <a:latin typeface="Arial"/>
                <a:ea typeface="Arial"/>
                <a:cs typeface="Arial"/>
                <a:sym typeface="Arial"/>
              </a:endParaRPr>
            </a:p>
          </p:txBody>
        </p:sp>
        <p:cxnSp>
          <p:nvCxnSpPr>
            <p:cNvPr id="195" name="Google Shape;195;p3"/>
            <p:cNvCxnSpPr/>
            <p:nvPr/>
          </p:nvCxnSpPr>
          <p:spPr>
            <a:xfrm>
              <a:off x="1387891" y="1402774"/>
              <a:ext cx="5551564" cy="0"/>
            </a:xfrm>
            <a:prstGeom prst="straightConnector1">
              <a:avLst/>
            </a:prstGeom>
            <a:solidFill>
              <a:srgbClr val="335A74"/>
            </a:solidFill>
            <a:ln cap="flat" cmpd="sng" w="15875">
              <a:solidFill>
                <a:srgbClr val="BDC3C8"/>
              </a:solidFill>
              <a:prstDash val="solid"/>
              <a:round/>
              <a:headEnd len="sm" w="sm" type="none"/>
              <a:tailEnd len="sm" w="sm" type="none"/>
            </a:ln>
          </p:spPr>
        </p:cxnSp>
        <p:cxnSp>
          <p:nvCxnSpPr>
            <p:cNvPr id="196" name="Google Shape;196;p3"/>
            <p:cNvCxnSpPr/>
            <p:nvPr/>
          </p:nvCxnSpPr>
          <p:spPr>
            <a:xfrm>
              <a:off x="0" y="1470905"/>
              <a:ext cx="6939456" cy="0"/>
            </a:xfrm>
            <a:prstGeom prst="straightConnector1">
              <a:avLst/>
            </a:prstGeom>
            <a:solidFill>
              <a:srgbClr val="335A74"/>
            </a:solidFill>
            <a:ln cap="flat" cmpd="sng" w="15875">
              <a:solidFill>
                <a:srgbClr val="335A74"/>
              </a:solidFill>
              <a:prstDash val="solid"/>
              <a:round/>
              <a:headEnd len="sm" w="sm" type="none"/>
              <a:tailEnd len="sm" w="sm" type="none"/>
            </a:ln>
          </p:spPr>
        </p:cxnSp>
        <p:sp>
          <p:nvSpPr>
            <p:cNvPr id="197" name="Google Shape;197;p3"/>
            <p:cNvSpPr/>
            <p:nvPr/>
          </p:nvSpPr>
          <p:spPr>
            <a:xfrm>
              <a:off x="0" y="1470905"/>
              <a:ext cx="1387891" cy="146875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
            <p:cNvSpPr txBox="1"/>
            <p:nvPr/>
          </p:nvSpPr>
          <p:spPr>
            <a:xfrm>
              <a:off x="0" y="1470905"/>
              <a:ext cx="1387891" cy="1468751"/>
            </a:xfrm>
            <a:prstGeom prst="rect">
              <a:avLst/>
            </a:prstGeom>
            <a:noFill/>
            <a:ln>
              <a:noFill/>
            </a:ln>
          </p:spPr>
          <p:txBody>
            <a:bodyPr anchorCtr="0" anchor="t" bIns="95250" lIns="95250" spcFirstLastPara="1" rIns="95250" wrap="square" tIns="95250">
              <a:noAutofit/>
            </a:bodyPr>
            <a:lstStyle/>
            <a:p>
              <a:pPr indent="0" lvl="0" marL="0" marR="0" rtl="0" algn="l">
                <a:lnSpc>
                  <a:spcPct val="90000"/>
                </a:lnSpc>
                <a:spcBef>
                  <a:spcPts val="0"/>
                </a:spcBef>
                <a:spcAft>
                  <a:spcPts val="0"/>
                </a:spcAft>
                <a:buClr>
                  <a:schemeClr val="dk1"/>
                </a:buClr>
                <a:buSzPts val="2500"/>
                <a:buFont typeface="Twentieth Century"/>
                <a:buNone/>
              </a:pPr>
              <a:r>
                <a:rPr b="0" i="0" lang="id-ID" sz="2500" u="none" cap="none" strike="noStrike">
                  <a:solidFill>
                    <a:schemeClr val="dk1"/>
                  </a:solidFill>
                  <a:latin typeface="Twentieth Century"/>
                  <a:ea typeface="Twentieth Century"/>
                  <a:cs typeface="Twentieth Century"/>
                  <a:sym typeface="Twentieth Century"/>
                </a:rPr>
                <a:t>Teknologi</a:t>
              </a:r>
              <a:endParaRPr b="0" i="0" sz="2500" u="none" cap="none" strike="noStrike">
                <a:solidFill>
                  <a:schemeClr val="dk1"/>
                </a:solidFill>
                <a:latin typeface="Twentieth Century"/>
                <a:ea typeface="Twentieth Century"/>
                <a:cs typeface="Twentieth Century"/>
                <a:sym typeface="Twentieth Century"/>
              </a:endParaRPr>
            </a:p>
          </p:txBody>
        </p:sp>
        <p:sp>
          <p:nvSpPr>
            <p:cNvPr id="199" name="Google Shape;199;p3"/>
            <p:cNvSpPr/>
            <p:nvPr/>
          </p:nvSpPr>
          <p:spPr>
            <a:xfrm>
              <a:off x="1491983" y="1537601"/>
              <a:ext cx="5447472" cy="13339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
            <p:cNvSpPr txBox="1"/>
            <p:nvPr/>
          </p:nvSpPr>
          <p:spPr>
            <a:xfrm>
              <a:off x="1491983" y="1537601"/>
              <a:ext cx="5447472" cy="1333924"/>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b="0" i="0" lang="id-ID" sz="2100" u="none" cap="none" strike="noStrike">
                  <a:solidFill>
                    <a:schemeClr val="dk1"/>
                  </a:solidFill>
                  <a:latin typeface="Twentieth Century"/>
                  <a:ea typeface="Twentieth Century"/>
                  <a:cs typeface="Twentieth Century"/>
                  <a:sym typeface="Twentieth Century"/>
                </a:rPr>
                <a:t>Penerapan pengetahuan saintifik dan pengetahuan lainnya untuk tujuan praktis melalui sistem atau produk fisik.</a:t>
              </a:r>
              <a:endParaRPr b="0" i="0" sz="2100" u="none" cap="none" strike="noStrike">
                <a:solidFill>
                  <a:schemeClr val="dk1"/>
                </a:solidFill>
                <a:latin typeface="Twentieth Century"/>
                <a:ea typeface="Twentieth Century"/>
                <a:cs typeface="Twentieth Century"/>
                <a:sym typeface="Twentieth Century"/>
              </a:endParaRPr>
            </a:p>
          </p:txBody>
        </p:sp>
        <p:cxnSp>
          <p:nvCxnSpPr>
            <p:cNvPr id="201" name="Google Shape;201;p3"/>
            <p:cNvCxnSpPr/>
            <p:nvPr/>
          </p:nvCxnSpPr>
          <p:spPr>
            <a:xfrm>
              <a:off x="1387891" y="2871526"/>
              <a:ext cx="5551564" cy="0"/>
            </a:xfrm>
            <a:prstGeom prst="straightConnector1">
              <a:avLst/>
            </a:prstGeom>
            <a:solidFill>
              <a:srgbClr val="335A74"/>
            </a:solidFill>
            <a:ln cap="flat" cmpd="sng" w="15875">
              <a:solidFill>
                <a:srgbClr val="BDC3C8"/>
              </a:solidFill>
              <a:prstDash val="solid"/>
              <a:round/>
              <a:headEnd len="sm" w="sm" type="none"/>
              <a:tailEnd len="sm" w="sm" type="none"/>
            </a:ln>
          </p:spPr>
        </p:cxnSp>
        <p:cxnSp>
          <p:nvCxnSpPr>
            <p:cNvPr id="202" name="Google Shape;202;p3"/>
            <p:cNvCxnSpPr/>
            <p:nvPr/>
          </p:nvCxnSpPr>
          <p:spPr>
            <a:xfrm>
              <a:off x="0" y="2939656"/>
              <a:ext cx="6939456" cy="0"/>
            </a:xfrm>
            <a:prstGeom prst="straightConnector1">
              <a:avLst/>
            </a:prstGeom>
            <a:solidFill>
              <a:srgbClr val="335A74"/>
            </a:solidFill>
            <a:ln cap="flat" cmpd="sng" w="15875">
              <a:solidFill>
                <a:srgbClr val="335A74"/>
              </a:solidFill>
              <a:prstDash val="solid"/>
              <a:round/>
              <a:headEnd len="sm" w="sm" type="none"/>
              <a:tailEnd len="sm" w="sm" type="none"/>
            </a:ln>
          </p:spPr>
        </p:cxnSp>
        <p:sp>
          <p:nvSpPr>
            <p:cNvPr id="203" name="Google Shape;203;p3"/>
            <p:cNvSpPr/>
            <p:nvPr/>
          </p:nvSpPr>
          <p:spPr>
            <a:xfrm>
              <a:off x="0" y="2939656"/>
              <a:ext cx="1387891" cy="146875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
            <p:cNvSpPr txBox="1"/>
            <p:nvPr/>
          </p:nvSpPr>
          <p:spPr>
            <a:xfrm>
              <a:off x="0" y="2939656"/>
              <a:ext cx="1387891" cy="1468751"/>
            </a:xfrm>
            <a:prstGeom prst="rect">
              <a:avLst/>
            </a:prstGeom>
            <a:noFill/>
            <a:ln>
              <a:noFill/>
            </a:ln>
          </p:spPr>
          <p:txBody>
            <a:bodyPr anchorCtr="0" anchor="t" bIns="95250" lIns="95250" spcFirstLastPara="1" rIns="95250" wrap="square" tIns="95250">
              <a:noAutofit/>
            </a:bodyPr>
            <a:lstStyle/>
            <a:p>
              <a:pPr indent="0" lvl="0" marL="0" marR="0" rtl="0" algn="l">
                <a:lnSpc>
                  <a:spcPct val="90000"/>
                </a:lnSpc>
                <a:spcBef>
                  <a:spcPts val="0"/>
                </a:spcBef>
                <a:spcAft>
                  <a:spcPts val="0"/>
                </a:spcAft>
                <a:buClr>
                  <a:schemeClr val="dk1"/>
                </a:buClr>
                <a:buSzPts val="2500"/>
                <a:buFont typeface="Twentieth Century"/>
                <a:buNone/>
              </a:pPr>
              <a:r>
                <a:rPr b="0" i="0" lang="id-ID" sz="2500" u="none" cap="none" strike="noStrike">
                  <a:solidFill>
                    <a:schemeClr val="dk1"/>
                  </a:solidFill>
                  <a:latin typeface="Twentieth Century"/>
                  <a:ea typeface="Twentieth Century"/>
                  <a:cs typeface="Twentieth Century"/>
                  <a:sym typeface="Twentieth Century"/>
                </a:rPr>
                <a:t>Seni</a:t>
              </a:r>
              <a:endParaRPr b="0" i="0" sz="2500" u="none" cap="none" strike="noStrike">
                <a:solidFill>
                  <a:schemeClr val="dk1"/>
                </a:solidFill>
                <a:latin typeface="Twentieth Century"/>
                <a:ea typeface="Twentieth Century"/>
                <a:cs typeface="Twentieth Century"/>
                <a:sym typeface="Twentieth Century"/>
              </a:endParaRPr>
            </a:p>
          </p:txBody>
        </p:sp>
        <p:sp>
          <p:nvSpPr>
            <p:cNvPr id="205" name="Google Shape;205;p3"/>
            <p:cNvSpPr/>
            <p:nvPr/>
          </p:nvSpPr>
          <p:spPr>
            <a:xfrm>
              <a:off x="1491983" y="3006353"/>
              <a:ext cx="5447472" cy="13339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
            <p:cNvSpPr txBox="1"/>
            <p:nvPr/>
          </p:nvSpPr>
          <p:spPr>
            <a:xfrm>
              <a:off x="1491983" y="3006353"/>
              <a:ext cx="5447472" cy="1333924"/>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Twentieth Century"/>
                <a:buNone/>
              </a:pPr>
              <a:r>
                <a:rPr b="0" i="0" lang="id-ID" sz="2100" u="none" cap="none" strike="noStrike">
                  <a:solidFill>
                    <a:schemeClr val="dk1"/>
                  </a:solidFill>
                  <a:latin typeface="Twentieth Century"/>
                  <a:ea typeface="Twentieth Century"/>
                  <a:cs typeface="Twentieth Century"/>
                  <a:sym typeface="Twentieth Century"/>
                </a:rPr>
                <a:t>Kemampuan untuk membuat sesuatu yang berkualitas dilihat dari sisi estetika dan keindahan.</a:t>
              </a:r>
              <a:endParaRPr b="0" i="0" sz="2100" u="none" cap="none" strike="noStrike">
                <a:solidFill>
                  <a:schemeClr val="dk1"/>
                </a:solidFill>
                <a:latin typeface="Twentieth Century"/>
                <a:ea typeface="Twentieth Century"/>
                <a:cs typeface="Twentieth Century"/>
                <a:sym typeface="Twentieth Century"/>
              </a:endParaRPr>
            </a:p>
          </p:txBody>
        </p:sp>
        <p:cxnSp>
          <p:nvCxnSpPr>
            <p:cNvPr id="207" name="Google Shape;207;p3"/>
            <p:cNvCxnSpPr/>
            <p:nvPr/>
          </p:nvCxnSpPr>
          <p:spPr>
            <a:xfrm>
              <a:off x="1387891" y="4340277"/>
              <a:ext cx="5551564" cy="0"/>
            </a:xfrm>
            <a:prstGeom prst="straightConnector1">
              <a:avLst/>
            </a:prstGeom>
            <a:solidFill>
              <a:srgbClr val="335A74"/>
            </a:solidFill>
            <a:ln cap="flat" cmpd="sng" w="15875">
              <a:solidFill>
                <a:srgbClr val="BDC3C8"/>
              </a:solidFill>
              <a:prstDash val="solid"/>
              <a:round/>
              <a:headEnd len="sm" w="sm" type="none"/>
              <a:tailEnd len="sm" w="sm" type="none"/>
            </a:ln>
          </p:spPr>
        </p:cxn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sp>
        <p:nvSpPr>
          <p:cNvPr id="212" name="Google Shape;212;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 name="Google Shape;213;p2"/>
          <p:cNvSpPr txBox="1"/>
          <p:nvPr>
            <p:ph type="title"/>
          </p:nvPr>
        </p:nvSpPr>
        <p:spPr>
          <a:xfrm>
            <a:off x="1524000" y="4370227"/>
            <a:ext cx="9144000" cy="119313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id-ID"/>
              <a:t>Apa itu Sains, Teknologi, dan Seni?</a:t>
            </a:r>
            <a:endParaRPr/>
          </a:p>
        </p:txBody>
      </p:sp>
      <p:pic>
        <p:nvPicPr>
          <p:cNvPr descr="A close-up of a science experiment&#10;&#10;Description automatically generated" id="214" name="Google Shape;214;p2"/>
          <p:cNvPicPr preferRelativeResize="0"/>
          <p:nvPr/>
        </p:nvPicPr>
        <p:blipFill rotWithShape="1">
          <a:blip r:embed="rId3">
            <a:alphaModFix/>
          </a:blip>
          <a:srcRect b="4096" l="0" r="1" t="15701"/>
          <a:stretch/>
        </p:blipFill>
        <p:spPr>
          <a:xfrm>
            <a:off x="1690046" y="386205"/>
            <a:ext cx="8903441" cy="3766876"/>
          </a:xfrm>
          <a:custGeom>
            <a:rect b="b" l="l" r="r" t="t"/>
            <a:pathLst>
              <a:path extrusionOk="0" h="3766876" w="8903441">
                <a:moveTo>
                  <a:pt x="8890380" y="1667288"/>
                </a:moveTo>
                <a:lnTo>
                  <a:pt x="8895460" y="1677046"/>
                </a:lnTo>
                <a:cubicBezTo>
                  <a:pt x="8905866" y="1703466"/>
                  <a:pt x="8906717" y="1724063"/>
                  <a:pt x="8894323" y="1729738"/>
                </a:cubicBezTo>
                <a:lnTo>
                  <a:pt x="8891365" y="1729349"/>
                </a:lnTo>
                <a:lnTo>
                  <a:pt x="8891421" y="1712412"/>
                </a:lnTo>
                <a:cubicBezTo>
                  <a:pt x="8891337" y="1700170"/>
                  <a:pt x="8891138" y="1688653"/>
                  <a:pt x="8890856" y="1678595"/>
                </a:cubicBezTo>
                <a:close/>
                <a:moveTo>
                  <a:pt x="8888451" y="1641624"/>
                </a:moveTo>
                <a:cubicBezTo>
                  <a:pt x="8888927" y="1642911"/>
                  <a:pt x="8889388" y="1647125"/>
                  <a:pt x="8889800" y="1653531"/>
                </a:cubicBezTo>
                <a:lnTo>
                  <a:pt x="8890380" y="1667288"/>
                </a:lnTo>
                <a:lnTo>
                  <a:pt x="8884645" y="1656272"/>
                </a:lnTo>
                <a:lnTo>
                  <a:pt x="8886368" y="1643902"/>
                </a:lnTo>
                <a:cubicBezTo>
                  <a:pt x="8887058" y="1640758"/>
                  <a:pt x="8887743" y="1639762"/>
                  <a:pt x="8888451" y="1641624"/>
                </a:cubicBezTo>
                <a:close/>
                <a:moveTo>
                  <a:pt x="999724" y="1241031"/>
                </a:moveTo>
                <a:cubicBezTo>
                  <a:pt x="998379" y="1242269"/>
                  <a:pt x="996554" y="1243547"/>
                  <a:pt x="995210" y="1244785"/>
                </a:cubicBezTo>
                <a:cubicBezTo>
                  <a:pt x="1005261" y="1248940"/>
                  <a:pt x="1015746" y="1252497"/>
                  <a:pt x="1025774" y="1256374"/>
                </a:cubicBezTo>
                <a:cubicBezTo>
                  <a:pt x="1037480" y="1257305"/>
                  <a:pt x="1049668" y="1258195"/>
                  <a:pt x="1060894" y="1259168"/>
                </a:cubicBezTo>
                <a:cubicBezTo>
                  <a:pt x="1040504" y="1253123"/>
                  <a:pt x="1020115" y="1247076"/>
                  <a:pt x="999724" y="1241031"/>
                </a:cubicBezTo>
                <a:close/>
                <a:moveTo>
                  <a:pt x="1319296" y="820371"/>
                </a:moveTo>
                <a:cubicBezTo>
                  <a:pt x="1421680" y="872109"/>
                  <a:pt x="1548101" y="905226"/>
                  <a:pt x="1681342" y="933268"/>
                </a:cubicBezTo>
                <a:cubicBezTo>
                  <a:pt x="1683167" y="931988"/>
                  <a:pt x="1684512" y="930751"/>
                  <a:pt x="1686338" y="929471"/>
                </a:cubicBezTo>
                <a:cubicBezTo>
                  <a:pt x="1563998" y="893197"/>
                  <a:pt x="1441635" y="856646"/>
                  <a:pt x="1319296" y="820371"/>
                </a:cubicBezTo>
                <a:close/>
                <a:moveTo>
                  <a:pt x="7894848" y="858"/>
                </a:moveTo>
                <a:cubicBezTo>
                  <a:pt x="7906700" y="3455"/>
                  <a:pt x="7910528" y="8436"/>
                  <a:pt x="7907341" y="16271"/>
                </a:cubicBezTo>
                <a:cubicBezTo>
                  <a:pt x="7902882" y="26177"/>
                  <a:pt x="7893520" y="35394"/>
                  <a:pt x="7882642" y="43904"/>
                </a:cubicBezTo>
                <a:cubicBezTo>
                  <a:pt x="7831903" y="83897"/>
                  <a:pt x="7856047" y="94090"/>
                  <a:pt x="7927648" y="93123"/>
                </a:cubicBezTo>
                <a:cubicBezTo>
                  <a:pt x="7991511" y="92274"/>
                  <a:pt x="8055318" y="85274"/>
                  <a:pt x="8119655" y="78787"/>
                </a:cubicBezTo>
                <a:cubicBezTo>
                  <a:pt x="8151329" y="75447"/>
                  <a:pt x="8152942" y="77265"/>
                  <a:pt x="8141786" y="93635"/>
                </a:cubicBezTo>
                <a:cubicBezTo>
                  <a:pt x="8123815" y="120677"/>
                  <a:pt x="8122595" y="145410"/>
                  <a:pt x="8151055" y="166138"/>
                </a:cubicBezTo>
                <a:cubicBezTo>
                  <a:pt x="8157767" y="170866"/>
                  <a:pt x="8162605" y="176318"/>
                  <a:pt x="8160811" y="183471"/>
                </a:cubicBezTo>
                <a:cubicBezTo>
                  <a:pt x="8152723" y="212724"/>
                  <a:pt x="8169841" y="236686"/>
                  <a:pt x="8187466" y="260884"/>
                </a:cubicBezTo>
                <a:cubicBezTo>
                  <a:pt x="8217175" y="301371"/>
                  <a:pt x="8254836" y="338641"/>
                  <a:pt x="8295790" y="374783"/>
                </a:cubicBezTo>
                <a:cubicBezTo>
                  <a:pt x="8324664" y="400232"/>
                  <a:pt x="8342922" y="431650"/>
                  <a:pt x="8406170" y="440370"/>
                </a:cubicBezTo>
                <a:cubicBezTo>
                  <a:pt x="8421364" y="442394"/>
                  <a:pt x="8426373" y="449790"/>
                  <a:pt x="8420903" y="459225"/>
                </a:cubicBezTo>
                <a:cubicBezTo>
                  <a:pt x="8402820" y="490474"/>
                  <a:pt x="8417534" y="514648"/>
                  <a:pt x="8450800" y="534955"/>
                </a:cubicBezTo>
                <a:cubicBezTo>
                  <a:pt x="8462563" y="542037"/>
                  <a:pt x="8458146" y="546902"/>
                  <a:pt x="8442097" y="551669"/>
                </a:cubicBezTo>
                <a:cubicBezTo>
                  <a:pt x="8423667" y="556925"/>
                  <a:pt x="8409328" y="564619"/>
                  <a:pt x="8398067" y="574282"/>
                </a:cubicBezTo>
                <a:cubicBezTo>
                  <a:pt x="8379577" y="589897"/>
                  <a:pt x="8370872" y="606612"/>
                  <a:pt x="8363634" y="623477"/>
                </a:cubicBezTo>
                <a:cubicBezTo>
                  <a:pt x="8352394" y="649929"/>
                  <a:pt x="8339133" y="675439"/>
                  <a:pt x="8295388" y="695789"/>
                </a:cubicBezTo>
                <a:cubicBezTo>
                  <a:pt x="8282368" y="701969"/>
                  <a:pt x="8271923" y="709882"/>
                  <a:pt x="8260972" y="717559"/>
                </a:cubicBezTo>
                <a:cubicBezTo>
                  <a:pt x="8264466" y="724248"/>
                  <a:pt x="8273101" y="728807"/>
                  <a:pt x="8289132" y="729358"/>
                </a:cubicBezTo>
                <a:cubicBezTo>
                  <a:pt x="8391169" y="732995"/>
                  <a:pt x="8386647" y="769770"/>
                  <a:pt x="8387346" y="810845"/>
                </a:cubicBezTo>
                <a:cubicBezTo>
                  <a:pt x="8388418" y="861681"/>
                  <a:pt x="8330862" y="890238"/>
                  <a:pt x="8259532" y="916368"/>
                </a:cubicBezTo>
                <a:cubicBezTo>
                  <a:pt x="8235122" y="925226"/>
                  <a:pt x="8199529" y="928071"/>
                  <a:pt x="8191769" y="950020"/>
                </a:cubicBezTo>
                <a:cubicBezTo>
                  <a:pt x="8234379" y="966427"/>
                  <a:pt x="8282955" y="945934"/>
                  <a:pt x="8327664" y="947606"/>
                </a:cubicBezTo>
                <a:cubicBezTo>
                  <a:pt x="8364609" y="949119"/>
                  <a:pt x="8424473" y="941347"/>
                  <a:pt x="8378206" y="982626"/>
                </a:cubicBezTo>
                <a:cubicBezTo>
                  <a:pt x="8364736" y="994722"/>
                  <a:pt x="8382242" y="1001021"/>
                  <a:pt x="8400605" y="1000529"/>
                </a:cubicBezTo>
                <a:cubicBezTo>
                  <a:pt x="8549357" y="995586"/>
                  <a:pt x="8487684" y="1076555"/>
                  <a:pt x="8538706" y="1111533"/>
                </a:cubicBezTo>
                <a:cubicBezTo>
                  <a:pt x="8553092" y="1120905"/>
                  <a:pt x="8540810" y="1141011"/>
                  <a:pt x="8520556" y="1147547"/>
                </a:cubicBezTo>
                <a:cubicBezTo>
                  <a:pt x="8392015" y="1189611"/>
                  <a:pt x="8380569" y="1263373"/>
                  <a:pt x="8322605" y="1331423"/>
                </a:cubicBezTo>
                <a:cubicBezTo>
                  <a:pt x="8393509" y="1350105"/>
                  <a:pt x="8476647" y="1348124"/>
                  <a:pt x="8552563" y="1357692"/>
                </a:cubicBezTo>
                <a:cubicBezTo>
                  <a:pt x="8631413" y="1367560"/>
                  <a:pt x="8632510" y="1380057"/>
                  <a:pt x="8572872" y="1434543"/>
                </a:cubicBezTo>
                <a:cubicBezTo>
                  <a:pt x="8740108" y="1430496"/>
                  <a:pt x="8740108" y="1430496"/>
                  <a:pt x="8695911" y="1511890"/>
                </a:cubicBezTo>
                <a:cubicBezTo>
                  <a:pt x="8766152" y="1509223"/>
                  <a:pt x="8835070" y="1574251"/>
                  <a:pt x="8873147" y="1634187"/>
                </a:cubicBezTo>
                <a:lnTo>
                  <a:pt x="8884645" y="1656272"/>
                </a:lnTo>
                <a:lnTo>
                  <a:pt x="8884254" y="1659075"/>
                </a:lnTo>
                <a:cubicBezTo>
                  <a:pt x="8882795" y="1672543"/>
                  <a:pt x="8881198" y="1691773"/>
                  <a:pt x="8879232" y="1711097"/>
                </a:cubicBezTo>
                <a:lnTo>
                  <a:pt x="8877347" y="1727504"/>
                </a:lnTo>
                <a:lnTo>
                  <a:pt x="8865337" y="1725923"/>
                </a:lnTo>
                <a:cubicBezTo>
                  <a:pt x="8855639" y="1721668"/>
                  <a:pt x="8848716" y="1720054"/>
                  <a:pt x="8843722" y="1720152"/>
                </a:cubicBezTo>
                <a:cubicBezTo>
                  <a:pt x="8828739" y="1720444"/>
                  <a:pt x="8831115" y="1736133"/>
                  <a:pt x="8828004" y="1742073"/>
                </a:cubicBezTo>
                <a:cubicBezTo>
                  <a:pt x="8817547" y="1760900"/>
                  <a:pt x="8843589" y="1770647"/>
                  <a:pt x="8861127" y="1782820"/>
                </a:cubicBezTo>
                <a:cubicBezTo>
                  <a:pt x="8867694" y="1787281"/>
                  <a:pt x="8872382" y="1766445"/>
                  <a:pt x="8875975" y="1739445"/>
                </a:cubicBezTo>
                <a:lnTo>
                  <a:pt x="8877347" y="1727504"/>
                </a:lnTo>
                <a:lnTo>
                  <a:pt x="8891365" y="1729349"/>
                </a:lnTo>
                <a:lnTo>
                  <a:pt x="8891294" y="1750579"/>
                </a:lnTo>
                <a:cubicBezTo>
                  <a:pt x="8890576" y="1802412"/>
                  <a:pt x="8887485" y="1854103"/>
                  <a:pt x="8879895" y="1858687"/>
                </a:cubicBezTo>
                <a:cubicBezTo>
                  <a:pt x="8799411" y="1907447"/>
                  <a:pt x="8858072" y="1996322"/>
                  <a:pt x="8700018" y="2022228"/>
                </a:cubicBezTo>
                <a:cubicBezTo>
                  <a:pt x="8628887" y="2034069"/>
                  <a:pt x="8597252" y="2070985"/>
                  <a:pt x="8546517" y="2094468"/>
                </a:cubicBezTo>
                <a:cubicBezTo>
                  <a:pt x="8369592" y="2175758"/>
                  <a:pt x="8254890" y="2270617"/>
                  <a:pt x="8208310" y="2391116"/>
                </a:cubicBezTo>
                <a:cubicBezTo>
                  <a:pt x="8195251" y="2424444"/>
                  <a:pt x="8137916" y="2455501"/>
                  <a:pt x="8101924" y="2486924"/>
                </a:cubicBezTo>
                <a:cubicBezTo>
                  <a:pt x="8122498" y="2506105"/>
                  <a:pt x="8219539" y="2452814"/>
                  <a:pt x="8188722" y="2510086"/>
                </a:cubicBezTo>
                <a:cubicBezTo>
                  <a:pt x="8165388" y="2553270"/>
                  <a:pt x="8098391" y="2584616"/>
                  <a:pt x="8035596" y="2614194"/>
                </a:cubicBezTo>
                <a:cubicBezTo>
                  <a:pt x="7963481" y="2647947"/>
                  <a:pt x="7883214" y="2677100"/>
                  <a:pt x="7854509" y="2730830"/>
                </a:cubicBezTo>
                <a:cubicBezTo>
                  <a:pt x="7848249" y="2742293"/>
                  <a:pt x="6341566" y="3671513"/>
                  <a:pt x="4141410" y="3763614"/>
                </a:cubicBezTo>
                <a:cubicBezTo>
                  <a:pt x="3781875" y="3778662"/>
                  <a:pt x="2353277" y="3737838"/>
                  <a:pt x="2161737" y="3718831"/>
                </a:cubicBezTo>
                <a:cubicBezTo>
                  <a:pt x="1964811" y="3699179"/>
                  <a:pt x="1793107" y="3646810"/>
                  <a:pt x="1591600" y="3635674"/>
                </a:cubicBezTo>
                <a:cubicBezTo>
                  <a:pt x="1485018" y="3629919"/>
                  <a:pt x="1381185" y="3611329"/>
                  <a:pt x="1390654" y="3531585"/>
                </a:cubicBezTo>
                <a:cubicBezTo>
                  <a:pt x="1393510" y="3508948"/>
                  <a:pt x="1364047" y="3493344"/>
                  <a:pt x="1320867" y="3503571"/>
                </a:cubicBezTo>
                <a:cubicBezTo>
                  <a:pt x="1239265" y="3523046"/>
                  <a:pt x="1198946" y="3494124"/>
                  <a:pt x="1150681" y="3474015"/>
                </a:cubicBezTo>
                <a:cubicBezTo>
                  <a:pt x="1065213" y="3438422"/>
                  <a:pt x="982868" y="3399757"/>
                  <a:pt x="851974" y="3403971"/>
                </a:cubicBezTo>
                <a:cubicBezTo>
                  <a:pt x="873994" y="3367898"/>
                  <a:pt x="917237" y="3369420"/>
                  <a:pt x="956780" y="3372944"/>
                </a:cubicBezTo>
                <a:cubicBezTo>
                  <a:pt x="1061276" y="3382521"/>
                  <a:pt x="1164043" y="3394488"/>
                  <a:pt x="1268515" y="3403788"/>
                </a:cubicBezTo>
                <a:cubicBezTo>
                  <a:pt x="1336376" y="3409863"/>
                  <a:pt x="1404651" y="3420660"/>
                  <a:pt x="1492884" y="3399484"/>
                </a:cubicBezTo>
                <a:cubicBezTo>
                  <a:pt x="1410006" y="3338199"/>
                  <a:pt x="1277736" y="3337777"/>
                  <a:pt x="1169657" y="3325996"/>
                </a:cubicBezTo>
                <a:cubicBezTo>
                  <a:pt x="1034677" y="3311259"/>
                  <a:pt x="951965" y="3268429"/>
                  <a:pt x="853866" y="3221353"/>
                </a:cubicBezTo>
                <a:cubicBezTo>
                  <a:pt x="950752" y="3199416"/>
                  <a:pt x="1014418" y="3234964"/>
                  <a:pt x="1090648" y="3226034"/>
                </a:cubicBezTo>
                <a:cubicBezTo>
                  <a:pt x="1094340" y="3218434"/>
                  <a:pt x="1100169" y="3207568"/>
                  <a:pt x="1099183" y="3207375"/>
                </a:cubicBezTo>
                <a:cubicBezTo>
                  <a:pt x="971072" y="3188118"/>
                  <a:pt x="907890" y="3136018"/>
                  <a:pt x="882137" y="3068880"/>
                </a:cubicBezTo>
                <a:cubicBezTo>
                  <a:pt x="868924" y="3034221"/>
                  <a:pt x="822286" y="3027121"/>
                  <a:pt x="776145" y="3014660"/>
                </a:cubicBezTo>
                <a:cubicBezTo>
                  <a:pt x="613874" y="2970419"/>
                  <a:pt x="443486" y="2933046"/>
                  <a:pt x="307191" y="2864697"/>
                </a:cubicBezTo>
                <a:cubicBezTo>
                  <a:pt x="457123" y="2862170"/>
                  <a:pt x="581367" y="2903594"/>
                  <a:pt x="743379" y="2911759"/>
                </a:cubicBezTo>
                <a:cubicBezTo>
                  <a:pt x="608349" y="2835743"/>
                  <a:pt x="439124" y="2806104"/>
                  <a:pt x="284020" y="2766269"/>
                </a:cubicBezTo>
                <a:cubicBezTo>
                  <a:pt x="213164" y="2748143"/>
                  <a:pt x="147010" y="2722889"/>
                  <a:pt x="63190" y="2717094"/>
                </a:cubicBezTo>
                <a:cubicBezTo>
                  <a:pt x="33455" y="2714947"/>
                  <a:pt x="-16425" y="2709531"/>
                  <a:pt x="5340" y="2681595"/>
                </a:cubicBezTo>
                <a:cubicBezTo>
                  <a:pt x="23652" y="2658441"/>
                  <a:pt x="63627" y="2661368"/>
                  <a:pt x="100237" y="2664591"/>
                </a:cubicBezTo>
                <a:cubicBezTo>
                  <a:pt x="188123" y="2672547"/>
                  <a:pt x="277551" y="2664977"/>
                  <a:pt x="394328" y="2654447"/>
                </a:cubicBezTo>
                <a:cubicBezTo>
                  <a:pt x="290057" y="2592242"/>
                  <a:pt x="112140" y="2629127"/>
                  <a:pt x="21491" y="2562088"/>
                </a:cubicBezTo>
                <a:cubicBezTo>
                  <a:pt x="125636" y="2540073"/>
                  <a:pt x="208727" y="2559644"/>
                  <a:pt x="294268" y="2557453"/>
                </a:cubicBezTo>
                <a:cubicBezTo>
                  <a:pt x="371589" y="2555423"/>
                  <a:pt x="389695" y="2540961"/>
                  <a:pt x="367847" y="2501743"/>
                </a:cubicBezTo>
                <a:cubicBezTo>
                  <a:pt x="333905" y="2440640"/>
                  <a:pt x="373328" y="2404160"/>
                  <a:pt x="486858" y="2411824"/>
                </a:cubicBezTo>
                <a:cubicBezTo>
                  <a:pt x="592120" y="2419095"/>
                  <a:pt x="600599" y="2394285"/>
                  <a:pt x="570008" y="2360312"/>
                </a:cubicBezTo>
                <a:cubicBezTo>
                  <a:pt x="525457" y="2310774"/>
                  <a:pt x="567057" y="2265987"/>
                  <a:pt x="594400" y="2218813"/>
                </a:cubicBezTo>
                <a:cubicBezTo>
                  <a:pt x="635581" y="2147198"/>
                  <a:pt x="612469" y="2115647"/>
                  <a:pt x="505675" y="2074370"/>
                </a:cubicBezTo>
                <a:cubicBezTo>
                  <a:pt x="445534" y="2051386"/>
                  <a:pt x="381431" y="2032947"/>
                  <a:pt x="295650" y="2015851"/>
                </a:cubicBezTo>
                <a:cubicBezTo>
                  <a:pt x="487251" y="1985881"/>
                  <a:pt x="281423" y="1958614"/>
                  <a:pt x="346760" y="1924896"/>
                </a:cubicBezTo>
                <a:cubicBezTo>
                  <a:pt x="481788" y="1901571"/>
                  <a:pt x="600623" y="1980687"/>
                  <a:pt x="783461" y="1939173"/>
                </a:cubicBezTo>
                <a:cubicBezTo>
                  <a:pt x="547912" y="1882335"/>
                  <a:pt x="287006" y="1807013"/>
                  <a:pt x="112183" y="1719100"/>
                </a:cubicBezTo>
                <a:cubicBezTo>
                  <a:pt x="148588" y="1692398"/>
                  <a:pt x="188462" y="1710725"/>
                  <a:pt x="219936" y="1699568"/>
                </a:cubicBezTo>
                <a:cubicBezTo>
                  <a:pt x="218006" y="1694140"/>
                  <a:pt x="220184" y="1685834"/>
                  <a:pt x="214196" y="1683841"/>
                </a:cubicBezTo>
                <a:cubicBezTo>
                  <a:pt x="85284" y="1638910"/>
                  <a:pt x="83720" y="1637648"/>
                  <a:pt x="212296" y="1584947"/>
                </a:cubicBezTo>
                <a:cubicBezTo>
                  <a:pt x="257172" y="1566456"/>
                  <a:pt x="252206" y="1554019"/>
                  <a:pt x="226108" y="1538121"/>
                </a:cubicBezTo>
                <a:cubicBezTo>
                  <a:pt x="207682" y="1526866"/>
                  <a:pt x="185078" y="1517656"/>
                  <a:pt x="192710" y="1488723"/>
                </a:cubicBezTo>
                <a:cubicBezTo>
                  <a:pt x="268435" y="1518175"/>
                  <a:pt x="624154" y="1547955"/>
                  <a:pt x="685843" y="1538903"/>
                </a:cubicBezTo>
                <a:cubicBezTo>
                  <a:pt x="755173" y="1528619"/>
                  <a:pt x="994201" y="1520231"/>
                  <a:pt x="1067153" y="1523622"/>
                </a:cubicBezTo>
                <a:cubicBezTo>
                  <a:pt x="1063138" y="1522015"/>
                  <a:pt x="1059122" y="1520410"/>
                  <a:pt x="1055106" y="1518803"/>
                </a:cubicBezTo>
                <a:cubicBezTo>
                  <a:pt x="983007" y="1486514"/>
                  <a:pt x="909946" y="1454310"/>
                  <a:pt x="864245" y="1408231"/>
                </a:cubicBezTo>
                <a:cubicBezTo>
                  <a:pt x="862153" y="1406456"/>
                  <a:pt x="861045" y="1404874"/>
                  <a:pt x="856768" y="1405809"/>
                </a:cubicBezTo>
                <a:cubicBezTo>
                  <a:pt x="819307" y="1414974"/>
                  <a:pt x="822846" y="1400112"/>
                  <a:pt x="821342" y="1388491"/>
                </a:cubicBezTo>
                <a:cubicBezTo>
                  <a:pt x="819813" y="1376592"/>
                  <a:pt x="812736" y="1367699"/>
                  <a:pt x="784954" y="1371257"/>
                </a:cubicBezTo>
                <a:cubicBezTo>
                  <a:pt x="783512" y="1371384"/>
                  <a:pt x="781566" y="1371274"/>
                  <a:pt x="779619" y="1371165"/>
                </a:cubicBezTo>
                <a:cubicBezTo>
                  <a:pt x="766469" y="1370361"/>
                  <a:pt x="722835" y="1342290"/>
                  <a:pt x="728571" y="1335910"/>
                </a:cubicBezTo>
                <a:cubicBezTo>
                  <a:pt x="741389" y="1321912"/>
                  <a:pt x="726409" y="1316791"/>
                  <a:pt x="713734" y="1310348"/>
                </a:cubicBezTo>
                <a:cubicBezTo>
                  <a:pt x="696009" y="1301550"/>
                  <a:pt x="678333" y="1293308"/>
                  <a:pt x="659695" y="1285149"/>
                </a:cubicBezTo>
                <a:cubicBezTo>
                  <a:pt x="641562" y="1277227"/>
                  <a:pt x="622997" y="1269901"/>
                  <a:pt x="604409" y="1262299"/>
                </a:cubicBezTo>
                <a:cubicBezTo>
                  <a:pt x="561305" y="1256847"/>
                  <a:pt x="517819" y="1252549"/>
                  <a:pt x="472556" y="1250086"/>
                </a:cubicBezTo>
                <a:cubicBezTo>
                  <a:pt x="438951" y="1247999"/>
                  <a:pt x="401379" y="1244860"/>
                  <a:pt x="382690" y="1214040"/>
                </a:cubicBezTo>
                <a:cubicBezTo>
                  <a:pt x="418096" y="1214570"/>
                  <a:pt x="453575" y="1215933"/>
                  <a:pt x="489053" y="1217296"/>
                </a:cubicBezTo>
                <a:cubicBezTo>
                  <a:pt x="454954" y="1204059"/>
                  <a:pt x="421816" y="1190737"/>
                  <a:pt x="390047" y="1176456"/>
                </a:cubicBezTo>
                <a:cubicBezTo>
                  <a:pt x="363810" y="1164487"/>
                  <a:pt x="342232" y="1150431"/>
                  <a:pt x="333292" y="1131347"/>
                </a:cubicBezTo>
                <a:cubicBezTo>
                  <a:pt x="330930" y="1126518"/>
                  <a:pt x="329025" y="1121368"/>
                  <a:pt x="337841" y="1116956"/>
                </a:cubicBezTo>
                <a:cubicBezTo>
                  <a:pt x="347569" y="1111905"/>
                  <a:pt x="355552" y="1114562"/>
                  <a:pt x="363031" y="1116984"/>
                </a:cubicBezTo>
                <a:cubicBezTo>
                  <a:pt x="393929" y="1126864"/>
                  <a:pt x="425283" y="1136425"/>
                  <a:pt x="455724" y="1146625"/>
                </a:cubicBezTo>
                <a:cubicBezTo>
                  <a:pt x="496146" y="1160147"/>
                  <a:pt x="536111" y="1173989"/>
                  <a:pt x="576050" y="1187553"/>
                </a:cubicBezTo>
                <a:cubicBezTo>
                  <a:pt x="519650" y="1157524"/>
                  <a:pt x="457798" y="1131612"/>
                  <a:pt x="391358" y="1108621"/>
                </a:cubicBezTo>
                <a:cubicBezTo>
                  <a:pt x="343386" y="1091844"/>
                  <a:pt x="295414" y="1075067"/>
                  <a:pt x="258466" y="1051446"/>
                </a:cubicBezTo>
                <a:cubicBezTo>
                  <a:pt x="239512" y="1039678"/>
                  <a:pt x="230024" y="1025400"/>
                  <a:pt x="227119" y="1008864"/>
                </a:cubicBezTo>
                <a:cubicBezTo>
                  <a:pt x="226729" y="1004421"/>
                  <a:pt x="227253" y="999338"/>
                  <a:pt x="237176" y="996508"/>
                </a:cubicBezTo>
                <a:cubicBezTo>
                  <a:pt x="247123" y="993956"/>
                  <a:pt x="253208" y="997060"/>
                  <a:pt x="257395" y="1000610"/>
                </a:cubicBezTo>
                <a:cubicBezTo>
                  <a:pt x="262111" y="1004674"/>
                  <a:pt x="267716" y="1007820"/>
                  <a:pt x="275649" y="1009921"/>
                </a:cubicBezTo>
                <a:cubicBezTo>
                  <a:pt x="345186" y="1029563"/>
                  <a:pt x="406508" y="1054962"/>
                  <a:pt x="469199" y="1079402"/>
                </a:cubicBezTo>
                <a:cubicBezTo>
                  <a:pt x="558968" y="1114336"/>
                  <a:pt x="647368" y="1150231"/>
                  <a:pt x="753033" y="1173138"/>
                </a:cubicBezTo>
                <a:cubicBezTo>
                  <a:pt x="793015" y="1181661"/>
                  <a:pt x="834292" y="1188391"/>
                  <a:pt x="865682" y="1187316"/>
                </a:cubicBezTo>
                <a:cubicBezTo>
                  <a:pt x="750261" y="1147076"/>
                  <a:pt x="641375" y="1104025"/>
                  <a:pt x="543487" y="1053852"/>
                </a:cubicBezTo>
                <a:cubicBezTo>
                  <a:pt x="444589" y="1003208"/>
                  <a:pt x="357848" y="947579"/>
                  <a:pt x="295297" y="880592"/>
                </a:cubicBezTo>
                <a:cubicBezTo>
                  <a:pt x="288871" y="873601"/>
                  <a:pt x="284873" y="866676"/>
                  <a:pt x="264758" y="869281"/>
                </a:cubicBezTo>
                <a:cubicBezTo>
                  <a:pt x="255650" y="870360"/>
                  <a:pt x="252375" y="866170"/>
                  <a:pt x="254388" y="861516"/>
                </a:cubicBezTo>
                <a:cubicBezTo>
                  <a:pt x="266992" y="828509"/>
                  <a:pt x="236853" y="810726"/>
                  <a:pt x="190786" y="799099"/>
                </a:cubicBezTo>
                <a:cubicBezTo>
                  <a:pt x="176408" y="795324"/>
                  <a:pt x="175031" y="790688"/>
                  <a:pt x="184973" y="782539"/>
                </a:cubicBezTo>
                <a:cubicBezTo>
                  <a:pt x="198516" y="771277"/>
                  <a:pt x="196123" y="760574"/>
                  <a:pt x="187530" y="750974"/>
                </a:cubicBezTo>
                <a:cubicBezTo>
                  <a:pt x="182644" y="744967"/>
                  <a:pt x="176339" y="739364"/>
                  <a:pt x="170996" y="733676"/>
                </a:cubicBezTo>
                <a:cubicBezTo>
                  <a:pt x="167290" y="730083"/>
                  <a:pt x="161157" y="726424"/>
                  <a:pt x="169444" y="721499"/>
                </a:cubicBezTo>
                <a:cubicBezTo>
                  <a:pt x="177298" y="717172"/>
                  <a:pt x="185665" y="718676"/>
                  <a:pt x="193501" y="719668"/>
                </a:cubicBezTo>
                <a:cubicBezTo>
                  <a:pt x="231170" y="723917"/>
                  <a:pt x="254043" y="736181"/>
                  <a:pt x="265436" y="755609"/>
                </a:cubicBezTo>
                <a:cubicBezTo>
                  <a:pt x="273963" y="769971"/>
                  <a:pt x="281726" y="770130"/>
                  <a:pt x="302333" y="756567"/>
                </a:cubicBezTo>
                <a:cubicBezTo>
                  <a:pt x="317894" y="746247"/>
                  <a:pt x="332387" y="745814"/>
                  <a:pt x="346481" y="751853"/>
                </a:cubicBezTo>
                <a:cubicBezTo>
                  <a:pt x="354007" y="754830"/>
                  <a:pt x="358771" y="759448"/>
                  <a:pt x="364449" y="763428"/>
                </a:cubicBezTo>
                <a:cubicBezTo>
                  <a:pt x="392910" y="784156"/>
                  <a:pt x="422762" y="804202"/>
                  <a:pt x="467363" y="815678"/>
                </a:cubicBezTo>
                <a:cubicBezTo>
                  <a:pt x="487199" y="820933"/>
                  <a:pt x="508355" y="824672"/>
                  <a:pt x="537693" y="816781"/>
                </a:cubicBezTo>
                <a:cubicBezTo>
                  <a:pt x="518386" y="812039"/>
                  <a:pt x="499567" y="812852"/>
                  <a:pt x="482019" y="811593"/>
                </a:cubicBezTo>
                <a:cubicBezTo>
                  <a:pt x="464472" y="810335"/>
                  <a:pt x="454949" y="806693"/>
                  <a:pt x="467050" y="795557"/>
                </a:cubicBezTo>
                <a:cubicBezTo>
                  <a:pt x="473772" y="789371"/>
                  <a:pt x="472878" y="784693"/>
                  <a:pt x="465734" y="780562"/>
                </a:cubicBezTo>
                <a:cubicBezTo>
                  <a:pt x="442763" y="767188"/>
                  <a:pt x="430336" y="747011"/>
                  <a:pt x="384526" y="749353"/>
                </a:cubicBezTo>
                <a:cubicBezTo>
                  <a:pt x="382123" y="749564"/>
                  <a:pt x="379622" y="748664"/>
                  <a:pt x="377146" y="748041"/>
                </a:cubicBezTo>
                <a:cubicBezTo>
                  <a:pt x="367744" y="745789"/>
                  <a:pt x="357358" y="743342"/>
                  <a:pt x="360089" y="735827"/>
                </a:cubicBezTo>
                <a:cubicBezTo>
                  <a:pt x="363301" y="728269"/>
                  <a:pt x="375652" y="725506"/>
                  <a:pt x="386634" y="723703"/>
                </a:cubicBezTo>
                <a:cubicBezTo>
                  <a:pt x="414823" y="719269"/>
                  <a:pt x="437543" y="724271"/>
                  <a:pt x="459375" y="730191"/>
                </a:cubicBezTo>
                <a:cubicBezTo>
                  <a:pt x="512487" y="744837"/>
                  <a:pt x="556932" y="765561"/>
                  <a:pt x="603200" y="785006"/>
                </a:cubicBezTo>
                <a:cubicBezTo>
                  <a:pt x="672604" y="814173"/>
                  <a:pt x="734250" y="848778"/>
                  <a:pt x="810521" y="873425"/>
                </a:cubicBezTo>
                <a:cubicBezTo>
                  <a:pt x="1037317" y="946423"/>
                  <a:pt x="1260943" y="1021938"/>
                  <a:pt x="1494102" y="1090180"/>
                </a:cubicBezTo>
                <a:cubicBezTo>
                  <a:pt x="1580109" y="1115371"/>
                  <a:pt x="1667892" y="1138728"/>
                  <a:pt x="1756565" y="1161167"/>
                </a:cubicBezTo>
                <a:cubicBezTo>
                  <a:pt x="1756899" y="1159458"/>
                  <a:pt x="1757282" y="1158305"/>
                  <a:pt x="1757592" y="1156319"/>
                </a:cubicBezTo>
                <a:cubicBezTo>
                  <a:pt x="1757470" y="1154931"/>
                  <a:pt x="1757324" y="1153264"/>
                  <a:pt x="1757202" y="1151876"/>
                </a:cubicBezTo>
                <a:cubicBezTo>
                  <a:pt x="1694452" y="1137796"/>
                  <a:pt x="1632540" y="1122242"/>
                  <a:pt x="1572453" y="1105409"/>
                </a:cubicBezTo>
                <a:cubicBezTo>
                  <a:pt x="1424942" y="1063789"/>
                  <a:pt x="1288864" y="1014450"/>
                  <a:pt x="1171972" y="951953"/>
                </a:cubicBezTo>
                <a:cubicBezTo>
                  <a:pt x="1162328" y="946924"/>
                  <a:pt x="1152112" y="946421"/>
                  <a:pt x="1137334" y="949118"/>
                </a:cubicBezTo>
                <a:cubicBezTo>
                  <a:pt x="1089682" y="958058"/>
                  <a:pt x="1074050" y="951035"/>
                  <a:pt x="1081493" y="925476"/>
                </a:cubicBezTo>
                <a:cubicBezTo>
                  <a:pt x="1083360" y="919155"/>
                  <a:pt x="1083403" y="914115"/>
                  <a:pt x="1074768" y="909555"/>
                </a:cubicBezTo>
                <a:cubicBezTo>
                  <a:pt x="1036165" y="889158"/>
                  <a:pt x="995714" y="869763"/>
                  <a:pt x="952019" y="852050"/>
                </a:cubicBezTo>
                <a:cubicBezTo>
                  <a:pt x="871170" y="819410"/>
                  <a:pt x="784821" y="790332"/>
                  <a:pt x="709017" y="754450"/>
                </a:cubicBezTo>
                <a:cubicBezTo>
                  <a:pt x="686747" y="743533"/>
                  <a:pt x="669617" y="730485"/>
                  <a:pt x="659046" y="714902"/>
                </a:cubicBezTo>
                <a:cubicBezTo>
                  <a:pt x="655674" y="709602"/>
                  <a:pt x="653624" y="702786"/>
                  <a:pt x="664793" y="697608"/>
                </a:cubicBezTo>
                <a:cubicBezTo>
                  <a:pt x="675483" y="692472"/>
                  <a:pt x="684069" y="696476"/>
                  <a:pt x="692052" y="699133"/>
                </a:cubicBezTo>
                <a:cubicBezTo>
                  <a:pt x="725451" y="709913"/>
                  <a:pt x="759355" y="720929"/>
                  <a:pt x="792779" y="731987"/>
                </a:cubicBezTo>
                <a:cubicBezTo>
                  <a:pt x="826682" y="743003"/>
                  <a:pt x="860155" y="754616"/>
                  <a:pt x="895574" y="766338"/>
                </a:cubicBezTo>
                <a:cubicBezTo>
                  <a:pt x="897416" y="759741"/>
                  <a:pt x="890085" y="758985"/>
                  <a:pt x="886044" y="757101"/>
                </a:cubicBezTo>
                <a:cubicBezTo>
                  <a:pt x="828975" y="730489"/>
                  <a:pt x="766861" y="707118"/>
                  <a:pt x="702924" y="685027"/>
                </a:cubicBezTo>
                <a:cubicBezTo>
                  <a:pt x="653460" y="667821"/>
                  <a:pt x="605342" y="649378"/>
                  <a:pt x="571540" y="622962"/>
                </a:cubicBezTo>
                <a:cubicBezTo>
                  <a:pt x="558524" y="612632"/>
                  <a:pt x="551227" y="601239"/>
                  <a:pt x="552940" y="587657"/>
                </a:cubicBezTo>
                <a:cubicBezTo>
                  <a:pt x="553537" y="583407"/>
                  <a:pt x="554132" y="579157"/>
                  <a:pt x="563623" y="576925"/>
                </a:cubicBezTo>
                <a:cubicBezTo>
                  <a:pt x="571217" y="575139"/>
                  <a:pt x="576243" y="577216"/>
                  <a:pt x="580332" y="579656"/>
                </a:cubicBezTo>
                <a:cubicBezTo>
                  <a:pt x="587500" y="584063"/>
                  <a:pt x="594668" y="588471"/>
                  <a:pt x="604623" y="591516"/>
                </a:cubicBezTo>
                <a:cubicBezTo>
                  <a:pt x="664350" y="609779"/>
                  <a:pt x="720426" y="630601"/>
                  <a:pt x="775136" y="652383"/>
                </a:cubicBezTo>
                <a:cubicBezTo>
                  <a:pt x="864952" y="687874"/>
                  <a:pt x="953882" y="724283"/>
                  <a:pt x="1057795" y="749301"/>
                </a:cubicBezTo>
                <a:cubicBezTo>
                  <a:pt x="1096889" y="758742"/>
                  <a:pt x="1137304" y="766668"/>
                  <a:pt x="1183454" y="768213"/>
                </a:cubicBezTo>
                <a:cubicBezTo>
                  <a:pt x="1181768" y="765563"/>
                  <a:pt x="1178737" y="764150"/>
                  <a:pt x="1175732" y="763015"/>
                </a:cubicBezTo>
                <a:cubicBezTo>
                  <a:pt x="1075170" y="726508"/>
                  <a:pt x="977850" y="688319"/>
                  <a:pt x="888743" y="644370"/>
                </a:cubicBezTo>
                <a:cubicBezTo>
                  <a:pt x="778881" y="590211"/>
                  <a:pt x="683912" y="529148"/>
                  <a:pt x="615490" y="455960"/>
                </a:cubicBezTo>
                <a:cubicBezTo>
                  <a:pt x="612312" y="452882"/>
                  <a:pt x="610122" y="449996"/>
                  <a:pt x="602432" y="450671"/>
                </a:cubicBezTo>
                <a:cubicBezTo>
                  <a:pt x="582748" y="452678"/>
                  <a:pt x="580338" y="447293"/>
                  <a:pt x="582418" y="437876"/>
                </a:cubicBezTo>
                <a:cubicBezTo>
                  <a:pt x="588134" y="414707"/>
                  <a:pt x="573498" y="396964"/>
                  <a:pt x="539211" y="387101"/>
                </a:cubicBezTo>
                <a:cubicBezTo>
                  <a:pt x="514350" y="379769"/>
                  <a:pt x="493430" y="373210"/>
                  <a:pt x="519748" y="352990"/>
                </a:cubicBezTo>
                <a:cubicBezTo>
                  <a:pt x="526113" y="348234"/>
                  <a:pt x="523173" y="342336"/>
                  <a:pt x="520282" y="336993"/>
                </a:cubicBezTo>
                <a:cubicBezTo>
                  <a:pt x="516186" y="328957"/>
                  <a:pt x="507910" y="322968"/>
                  <a:pt x="498650" y="316785"/>
                </a:cubicBezTo>
                <a:cubicBezTo>
                  <a:pt x="493501" y="313319"/>
                  <a:pt x="487271" y="308549"/>
                  <a:pt x="493610" y="303515"/>
                </a:cubicBezTo>
                <a:cubicBezTo>
                  <a:pt x="500838" y="297564"/>
                  <a:pt x="511247" y="300288"/>
                  <a:pt x="519565" y="301237"/>
                </a:cubicBezTo>
                <a:cubicBezTo>
                  <a:pt x="557715" y="305444"/>
                  <a:pt x="581118" y="318221"/>
                  <a:pt x="592560" y="338204"/>
                </a:cubicBezTo>
                <a:cubicBezTo>
                  <a:pt x="599979" y="350985"/>
                  <a:pt x="609184" y="351016"/>
                  <a:pt x="627076" y="339652"/>
                </a:cubicBezTo>
                <a:cubicBezTo>
                  <a:pt x="647275" y="326965"/>
                  <a:pt x="664147" y="326044"/>
                  <a:pt x="679640" y="336997"/>
                </a:cubicBezTo>
                <a:cubicBezTo>
                  <a:pt x="692054" y="345981"/>
                  <a:pt x="702112" y="355732"/>
                  <a:pt x="716352" y="363437"/>
                </a:cubicBezTo>
                <a:cubicBezTo>
                  <a:pt x="754546" y="384710"/>
                  <a:pt x="790508" y="408138"/>
                  <a:pt x="869745" y="400343"/>
                </a:cubicBezTo>
                <a:cubicBezTo>
                  <a:pt x="847718" y="392203"/>
                  <a:pt x="825656" y="394699"/>
                  <a:pt x="806641" y="393290"/>
                </a:cubicBezTo>
                <a:cubicBezTo>
                  <a:pt x="792988" y="392249"/>
                  <a:pt x="779165" y="389265"/>
                  <a:pt x="791435" y="380072"/>
                </a:cubicBezTo>
                <a:cubicBezTo>
                  <a:pt x="805532" y="369601"/>
                  <a:pt x="796441" y="365362"/>
                  <a:pt x="787709" y="359692"/>
                </a:cubicBezTo>
                <a:cubicBezTo>
                  <a:pt x="767647" y="346342"/>
                  <a:pt x="751260" y="330710"/>
                  <a:pt x="711071" y="330880"/>
                </a:cubicBezTo>
                <a:cubicBezTo>
                  <a:pt x="704773" y="330873"/>
                  <a:pt x="699699" y="328240"/>
                  <a:pt x="694722" y="326718"/>
                </a:cubicBezTo>
                <a:cubicBezTo>
                  <a:pt x="687749" y="324532"/>
                  <a:pt x="681713" y="321984"/>
                  <a:pt x="684613" y="316412"/>
                </a:cubicBezTo>
                <a:cubicBezTo>
                  <a:pt x="687565" y="311396"/>
                  <a:pt x="694531" y="307986"/>
                  <a:pt x="703615" y="306629"/>
                </a:cubicBezTo>
                <a:cubicBezTo>
                  <a:pt x="711738" y="305356"/>
                  <a:pt x="720365" y="304319"/>
                  <a:pt x="728585" y="304157"/>
                </a:cubicBezTo>
                <a:cubicBezTo>
                  <a:pt x="765287" y="302895"/>
                  <a:pt x="791378" y="313197"/>
                  <a:pt x="817397" y="322666"/>
                </a:cubicBezTo>
                <a:cubicBezTo>
                  <a:pt x="908436" y="355531"/>
                  <a:pt x="989341" y="394323"/>
                  <a:pt x="1073943" y="431110"/>
                </a:cubicBezTo>
                <a:cubicBezTo>
                  <a:pt x="1158521" y="467620"/>
                  <a:pt x="1256741" y="493978"/>
                  <a:pt x="1349484" y="524175"/>
                </a:cubicBezTo>
                <a:cubicBezTo>
                  <a:pt x="1563417" y="594105"/>
                  <a:pt x="1778287" y="663672"/>
                  <a:pt x="2004921" y="723811"/>
                </a:cubicBezTo>
                <a:cubicBezTo>
                  <a:pt x="2226580" y="782429"/>
                  <a:pt x="2967159" y="809769"/>
                  <a:pt x="3111348" y="808027"/>
                </a:cubicBezTo>
                <a:cubicBezTo>
                  <a:pt x="3295676" y="805559"/>
                  <a:pt x="3730204" y="773014"/>
                  <a:pt x="4173417" y="745585"/>
                </a:cubicBezTo>
                <a:cubicBezTo>
                  <a:pt x="4223504" y="742307"/>
                  <a:pt x="4272653" y="739393"/>
                  <a:pt x="4324760" y="737057"/>
                </a:cubicBezTo>
                <a:cubicBezTo>
                  <a:pt x="5801059" y="670156"/>
                  <a:pt x="6841344" y="326433"/>
                  <a:pt x="6893789" y="305879"/>
                </a:cubicBezTo>
                <a:cubicBezTo>
                  <a:pt x="6978091" y="273014"/>
                  <a:pt x="7258655" y="208091"/>
                  <a:pt x="7259184" y="208604"/>
                </a:cubicBezTo>
                <a:cubicBezTo>
                  <a:pt x="7265440" y="213652"/>
                  <a:pt x="7297274" y="217644"/>
                  <a:pt x="7323059" y="220312"/>
                </a:cubicBezTo>
                <a:lnTo>
                  <a:pt x="7347572" y="222730"/>
                </a:lnTo>
                <a:lnTo>
                  <a:pt x="7350636" y="224083"/>
                </a:lnTo>
                <a:cubicBezTo>
                  <a:pt x="7359607" y="224205"/>
                  <a:pt x="7359159" y="223929"/>
                  <a:pt x="7353245" y="223290"/>
                </a:cubicBezTo>
                <a:lnTo>
                  <a:pt x="7347572" y="222730"/>
                </a:lnTo>
                <a:lnTo>
                  <a:pt x="7342573" y="220523"/>
                </a:lnTo>
                <a:cubicBezTo>
                  <a:pt x="7341302" y="218466"/>
                  <a:pt x="7341191" y="215818"/>
                  <a:pt x="7341465" y="213415"/>
                </a:cubicBezTo>
                <a:cubicBezTo>
                  <a:pt x="7342771" y="200707"/>
                  <a:pt x="7352468" y="189782"/>
                  <a:pt x="7375606" y="182994"/>
                </a:cubicBezTo>
                <a:cubicBezTo>
                  <a:pt x="7397808" y="176568"/>
                  <a:pt x="7420538" y="170655"/>
                  <a:pt x="7443270" y="164742"/>
                </a:cubicBezTo>
                <a:cubicBezTo>
                  <a:pt x="7462204" y="159722"/>
                  <a:pt x="7475181" y="158583"/>
                  <a:pt x="7478299" y="172021"/>
                </a:cubicBezTo>
                <a:cubicBezTo>
                  <a:pt x="7481416" y="185460"/>
                  <a:pt x="7508389" y="189249"/>
                  <a:pt x="7524024" y="179761"/>
                </a:cubicBezTo>
                <a:cubicBezTo>
                  <a:pt x="7585174" y="142492"/>
                  <a:pt x="7658615" y="112820"/>
                  <a:pt x="7727944" y="80430"/>
                </a:cubicBezTo>
                <a:cubicBezTo>
                  <a:pt x="7776349" y="57992"/>
                  <a:pt x="7827303" y="37009"/>
                  <a:pt x="7867024" y="9456"/>
                </a:cubicBezTo>
                <a:cubicBezTo>
                  <a:pt x="7874326" y="4338"/>
                  <a:pt x="7880999" y="-2404"/>
                  <a:pt x="7894848" y="858"/>
                </a:cubicBez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13"/>
                                        </p:tgtEl>
                                        <p:attrNameLst>
                                          <p:attrName>style.visibility</p:attrName>
                                        </p:attrNameLst>
                                      </p:cBhvr>
                                      <p:to>
                                        <p:strVal val="visible"/>
                                      </p:to>
                                    </p:set>
                                    <p:animEffect filter="fade" transition="in">
                                      <p:cBhvr>
                                        <p:cTn dur="7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dk1"/>
              </a:buClr>
              <a:buSzPts val="4400"/>
              <a:buFont typeface="Twentieth Century"/>
              <a:buNone/>
            </a:pPr>
            <a:r>
              <a:rPr lang="id-ID">
                <a:solidFill>
                  <a:schemeClr val="dk1"/>
                </a:solidFill>
              </a:rPr>
              <a:t>MANFAAT SAINSTEKS BAGI MANUSIA</a:t>
            </a:r>
            <a:endParaRPr/>
          </a:p>
        </p:txBody>
      </p:sp>
      <p:grpSp>
        <p:nvGrpSpPr>
          <p:cNvPr id="220" name="Google Shape;220;p4"/>
          <p:cNvGrpSpPr/>
          <p:nvPr/>
        </p:nvGrpSpPr>
        <p:grpSpPr>
          <a:xfrm>
            <a:off x="772510" y="2084832"/>
            <a:ext cx="10515600" cy="4187951"/>
            <a:chOff x="0" y="0"/>
            <a:chExt cx="10515600" cy="4187951"/>
          </a:xfrm>
        </p:grpSpPr>
        <p:sp>
          <p:nvSpPr>
            <p:cNvPr id="221" name="Google Shape;221;p4"/>
            <p:cNvSpPr/>
            <p:nvPr/>
          </p:nvSpPr>
          <p:spPr>
            <a:xfrm>
              <a:off x="0" y="0"/>
              <a:ext cx="10515600" cy="1308735"/>
            </a:xfrm>
            <a:prstGeom prst="roundRect">
              <a:avLst>
                <a:gd fmla="val 10000" name="adj"/>
              </a:avLst>
            </a:prstGeom>
            <a:solidFill>
              <a:schemeClr val="lt1"/>
            </a:solidFill>
            <a:ln cap="flat" cmpd="sng" w="15875">
              <a:solidFill>
                <a:srgbClr val="169B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
            <p:cNvSpPr txBox="1"/>
            <p:nvPr/>
          </p:nvSpPr>
          <p:spPr>
            <a:xfrm>
              <a:off x="2233993" y="0"/>
              <a:ext cx="8281606" cy="1308735"/>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Twentieth Century"/>
                <a:buNone/>
              </a:pPr>
              <a:r>
                <a:rPr b="0" i="0" lang="id-ID" sz="2100" u="none" cap="none" strike="noStrike">
                  <a:solidFill>
                    <a:schemeClr val="dk1"/>
                  </a:solidFill>
                  <a:latin typeface="Twentieth Century"/>
                  <a:ea typeface="Twentieth Century"/>
                  <a:cs typeface="Twentieth Century"/>
                  <a:sym typeface="Twentieth Century"/>
                </a:rPr>
                <a:t>Melalui sains manusia mampu menyingkap berbagai rahasia fenomena alam dan hukum-hukummnya secara rasional-empiris, sehingga hal ini memungkinkannya untuk mengguasai dan menanggulangi berbagai rintangan alam. </a:t>
              </a:r>
              <a:endParaRPr b="0" i="0" sz="1400" u="none" cap="none" strike="noStrike">
                <a:solidFill>
                  <a:schemeClr val="dk1"/>
                </a:solidFill>
                <a:latin typeface="Arial"/>
                <a:ea typeface="Arial"/>
                <a:cs typeface="Arial"/>
                <a:sym typeface="Arial"/>
              </a:endParaRPr>
            </a:p>
          </p:txBody>
        </p:sp>
        <p:sp>
          <p:nvSpPr>
            <p:cNvPr id="223" name="Google Shape;223;p4"/>
            <p:cNvSpPr/>
            <p:nvPr/>
          </p:nvSpPr>
          <p:spPr>
            <a:xfrm>
              <a:off x="130873" y="130873"/>
              <a:ext cx="2103120" cy="1046988"/>
            </a:xfrm>
            <a:prstGeom prst="roundRect">
              <a:avLst>
                <a:gd fmla="val 10000" name="adj"/>
              </a:avLst>
            </a:prstGeom>
            <a:blipFill rotWithShape="1">
              <a:blip r:embed="rId3">
                <a:alphaModFix/>
              </a:blip>
              <a:stretch>
                <a:fillRect b="-17996" l="0" r="0" t="-17997"/>
              </a:stretch>
            </a:blipFill>
            <a:ln cap="flat" cmpd="sng" w="15875">
              <a:solidFill>
                <a:srgbClr val="169B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4"/>
            <p:cNvSpPr/>
            <p:nvPr/>
          </p:nvSpPr>
          <p:spPr>
            <a:xfrm>
              <a:off x="0" y="1439608"/>
              <a:ext cx="10515600" cy="1308735"/>
            </a:xfrm>
            <a:prstGeom prst="roundRect">
              <a:avLst>
                <a:gd fmla="val 10000" name="adj"/>
              </a:avLst>
            </a:prstGeom>
            <a:solidFill>
              <a:schemeClr val="lt1"/>
            </a:solidFill>
            <a:ln cap="flat" cmpd="sng" w="15875">
              <a:solidFill>
                <a:srgbClr val="169B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
            <p:cNvSpPr txBox="1"/>
            <p:nvPr/>
          </p:nvSpPr>
          <p:spPr>
            <a:xfrm>
              <a:off x="2233993" y="1439608"/>
              <a:ext cx="8281606" cy="1308735"/>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Twentieth Century"/>
                <a:buNone/>
              </a:pPr>
              <a:r>
                <a:rPr b="0" i="0" lang="id-ID" sz="2100" u="none" cap="none" strike="noStrike">
                  <a:solidFill>
                    <a:schemeClr val="dk1"/>
                  </a:solidFill>
                  <a:latin typeface="Twentieth Century"/>
                  <a:ea typeface="Twentieth Century"/>
                  <a:cs typeface="Twentieth Century"/>
                  <a:sym typeface="Twentieth Century"/>
                </a:rPr>
                <a:t>Ketika pengetahuan saintifik ini diterapkan pada suatu sistem atau produk fisik tertentu (Baca: teknologi) untuk tujuan praktis, maka hasilnya adalah apa yang dapat kita rasakan sekarang ini berupa berbagai kemudahan, kecepatan, dan kecanggihan pada hampir semua lini kehidupan</a:t>
              </a:r>
              <a:r>
                <a:rPr b="0" i="0" lang="id-ID" sz="2100" u="none" cap="none" strike="noStrike">
                  <a:solidFill>
                    <a:schemeClr val="lt1"/>
                  </a:solidFill>
                  <a:latin typeface="Twentieth Century"/>
                  <a:ea typeface="Twentieth Century"/>
                  <a:cs typeface="Twentieth Century"/>
                  <a:sym typeface="Twentieth Century"/>
                </a:rPr>
                <a:t>.</a:t>
              </a:r>
              <a:endParaRPr b="0" i="0" sz="1400" u="none" cap="none" strike="noStrike">
                <a:solidFill>
                  <a:srgbClr val="000000"/>
                </a:solidFill>
                <a:latin typeface="Arial"/>
                <a:ea typeface="Arial"/>
                <a:cs typeface="Arial"/>
                <a:sym typeface="Arial"/>
              </a:endParaRPr>
            </a:p>
          </p:txBody>
        </p:sp>
        <p:sp>
          <p:nvSpPr>
            <p:cNvPr id="226" name="Google Shape;226;p4"/>
            <p:cNvSpPr/>
            <p:nvPr/>
          </p:nvSpPr>
          <p:spPr>
            <a:xfrm>
              <a:off x="130873" y="1570482"/>
              <a:ext cx="2103120" cy="1046988"/>
            </a:xfrm>
            <a:prstGeom prst="roundRect">
              <a:avLst>
                <a:gd fmla="val 10000" name="adj"/>
              </a:avLst>
            </a:prstGeom>
            <a:blipFill rotWithShape="1">
              <a:blip r:embed="rId4">
                <a:alphaModFix/>
              </a:blip>
              <a:stretch>
                <a:fillRect b="-31994" l="0" r="0" t="-31996"/>
              </a:stretch>
            </a:blipFill>
            <a:ln cap="flat" cmpd="sng" w="15875">
              <a:solidFill>
                <a:srgbClr val="169B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4"/>
            <p:cNvSpPr/>
            <p:nvPr/>
          </p:nvSpPr>
          <p:spPr>
            <a:xfrm>
              <a:off x="0" y="2879216"/>
              <a:ext cx="10515600" cy="1308735"/>
            </a:xfrm>
            <a:prstGeom prst="roundRect">
              <a:avLst>
                <a:gd fmla="val 10000" name="adj"/>
              </a:avLst>
            </a:prstGeom>
            <a:solidFill>
              <a:schemeClr val="lt1"/>
            </a:solidFill>
            <a:ln cap="flat" cmpd="sng" w="15875">
              <a:solidFill>
                <a:srgbClr val="169B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4"/>
            <p:cNvSpPr txBox="1"/>
            <p:nvPr/>
          </p:nvSpPr>
          <p:spPr>
            <a:xfrm>
              <a:off x="2233993" y="2879216"/>
              <a:ext cx="8281606" cy="1308735"/>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Twentieth Century"/>
                <a:buNone/>
              </a:pPr>
              <a:r>
                <a:rPr b="0" i="0" lang="id-ID" sz="2100" u="none" cap="none" strike="noStrike">
                  <a:solidFill>
                    <a:schemeClr val="dk1"/>
                  </a:solidFill>
                  <a:latin typeface="Twentieth Century"/>
                  <a:ea typeface="Twentieth Century"/>
                  <a:cs typeface="Twentieth Century"/>
                  <a:sym typeface="Twentieth Century"/>
                </a:rPr>
                <a:t>Sementara seni membuat manusia mampu berekspresi, berkreasi dan berkarya menurut aspek emosi dan keindahan, sehingga ragam ekspresi, kreasi dan karyanya bisa diapresiasi dan dinikmati.   </a:t>
              </a:r>
              <a:endParaRPr b="0" i="0" sz="1400" u="none" cap="none" strike="noStrike">
                <a:solidFill>
                  <a:schemeClr val="dk1"/>
                </a:solidFill>
                <a:latin typeface="Arial"/>
                <a:ea typeface="Arial"/>
                <a:cs typeface="Arial"/>
                <a:sym typeface="Arial"/>
              </a:endParaRPr>
            </a:p>
          </p:txBody>
        </p:sp>
        <p:sp>
          <p:nvSpPr>
            <p:cNvPr id="229" name="Google Shape;229;p4"/>
            <p:cNvSpPr/>
            <p:nvPr/>
          </p:nvSpPr>
          <p:spPr>
            <a:xfrm>
              <a:off x="130873" y="3010090"/>
              <a:ext cx="2103120" cy="1046988"/>
            </a:xfrm>
            <a:prstGeom prst="roundRect">
              <a:avLst>
                <a:gd fmla="val 10000" name="adj"/>
              </a:avLst>
            </a:prstGeom>
            <a:blipFill rotWithShape="1">
              <a:blip r:embed="rId5">
                <a:alphaModFix/>
              </a:blip>
              <a:stretch>
                <a:fillRect b="0" l="-1997" r="-1998" t="0"/>
              </a:stretch>
            </a:blipFill>
            <a:ln cap="flat" cmpd="sng" w="15875">
              <a:solidFill>
                <a:srgbClr val="169B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3" name="Shape 233"/>
        <p:cNvGrpSpPr/>
        <p:nvPr/>
      </p:nvGrpSpPr>
      <p:grpSpPr>
        <a:xfrm>
          <a:off x="0" y="0"/>
          <a:ext cx="0" cy="0"/>
          <a:chOff x="0" y="0"/>
          <a:chExt cx="0" cy="0"/>
        </a:xfrm>
      </p:grpSpPr>
      <p:sp>
        <p:nvSpPr>
          <p:cNvPr id="234" name="Google Shape;234;p5"/>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35" name="Google Shape;235;p5"/>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236" name="Google Shape;236;p5"/>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37" name="Google Shape;237;p5"/>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p>
            <a:pPr indent="0" lvl="0" marL="0" rtl="0" algn="r">
              <a:lnSpc>
                <a:spcPct val="80000"/>
              </a:lnSpc>
              <a:spcBef>
                <a:spcPts val="0"/>
              </a:spcBef>
              <a:spcAft>
                <a:spcPts val="0"/>
              </a:spcAft>
              <a:buClr>
                <a:srgbClr val="0C0C0C"/>
              </a:buClr>
              <a:buSzPts val="5000"/>
              <a:buFont typeface="Twentieth Century"/>
              <a:buNone/>
            </a:pPr>
            <a:r>
              <a:rPr lang="id-ID" sz="5000" cap="none">
                <a:solidFill>
                  <a:srgbClr val="0C0C0C"/>
                </a:solidFill>
                <a:latin typeface="Twentieth Century"/>
                <a:ea typeface="Twentieth Century"/>
                <a:cs typeface="Twentieth Century"/>
                <a:sym typeface="Twentieth Century"/>
              </a:rPr>
              <a:t>BAGAIMANA ISLAM </a:t>
            </a:r>
            <a:br>
              <a:rPr lang="id-ID" sz="5000" cap="none">
                <a:solidFill>
                  <a:srgbClr val="0C0C0C"/>
                </a:solidFill>
                <a:latin typeface="Twentieth Century"/>
                <a:ea typeface="Twentieth Century"/>
                <a:cs typeface="Twentieth Century"/>
                <a:sym typeface="Twentieth Century"/>
              </a:rPr>
            </a:br>
            <a:r>
              <a:rPr lang="id-ID" sz="5000" cap="none">
                <a:solidFill>
                  <a:srgbClr val="0C0C0C"/>
                </a:solidFill>
                <a:latin typeface="Twentieth Century"/>
                <a:ea typeface="Twentieth Century"/>
                <a:cs typeface="Twentieth Century"/>
                <a:sym typeface="Twentieth Century"/>
              </a:rPr>
              <a:t>MEMANDANG SAINTEKS?</a:t>
            </a:r>
            <a:endParaRPr/>
          </a:p>
        </p:txBody>
      </p:sp>
      <p:pic>
        <p:nvPicPr>
          <p:cNvPr descr="A diagram of a circle with lines and circles&#10;&#10;Description automatically generated with medium confidence" id="238" name="Google Shape;238;p5"/>
          <p:cNvPicPr preferRelativeResize="0"/>
          <p:nvPr/>
        </p:nvPicPr>
        <p:blipFill rotWithShape="1">
          <a:blip r:embed="rId3">
            <a:alphaModFix/>
          </a:blip>
          <a:srcRect b="13590" l="0" r="0" t="13592"/>
          <a:stretch/>
        </p:blipFill>
        <p:spPr>
          <a:xfrm>
            <a:off x="20" y="10"/>
            <a:ext cx="12191980" cy="45719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37"/>
                                        </p:tgtEl>
                                        <p:attrNameLst>
                                          <p:attrName>style.visibility</p:attrName>
                                        </p:attrNameLst>
                                      </p:cBhvr>
                                      <p:to>
                                        <p:strVal val="visible"/>
                                      </p:to>
                                    </p:set>
                                    <p:animEffect filter="fade" transition="in">
                                      <p:cBhvr>
                                        <p:cTn dur="7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dk1"/>
              </a:buClr>
              <a:buSzPts val="4400"/>
              <a:buFont typeface="Twentieth Century"/>
              <a:buNone/>
            </a:pPr>
            <a:r>
              <a:rPr lang="id-ID">
                <a:solidFill>
                  <a:schemeClr val="dk1"/>
                </a:solidFill>
              </a:rPr>
              <a:t> ISLAM MEMANDANG SAINSTEK</a:t>
            </a:r>
            <a:endParaRPr/>
          </a:p>
        </p:txBody>
      </p:sp>
      <p:pic>
        <p:nvPicPr>
          <p:cNvPr descr="Jusuf el-Kardavi - Wikipedia" id="244" name="Google Shape;244;p6"/>
          <p:cNvPicPr preferRelativeResize="0"/>
          <p:nvPr>
            <p:ph idx="1" type="body"/>
          </p:nvPr>
        </p:nvPicPr>
        <p:blipFill rotWithShape="1">
          <a:blip r:embed="rId3">
            <a:alphaModFix/>
          </a:blip>
          <a:srcRect b="0" l="0" r="0" t="0"/>
          <a:stretch/>
        </p:blipFill>
        <p:spPr>
          <a:xfrm>
            <a:off x="1621221" y="2084832"/>
            <a:ext cx="2815907" cy="4022725"/>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245" name="Google Shape;245;p6"/>
          <p:cNvSpPr txBox="1"/>
          <p:nvPr>
            <p:ph idx="4294967295" type="body"/>
          </p:nvPr>
        </p:nvSpPr>
        <p:spPr>
          <a:xfrm>
            <a:off x="5502166" y="2084832"/>
            <a:ext cx="5397062" cy="3125661"/>
          </a:xfrm>
          <a:prstGeom prst="rect">
            <a:avLst/>
          </a:prstGeom>
          <a:solidFill>
            <a:schemeClr val="accent2"/>
          </a:solidFill>
          <a:ln cap="flat" cmpd="sng" w="15875">
            <a:solidFill>
              <a:srgbClr val="124163"/>
            </a:solidFill>
            <a:prstDash val="solid"/>
            <a:round/>
            <a:headEnd len="sm" w="sm" type="none"/>
            <a:tailEnd len="sm" w="sm" type="none"/>
          </a:ln>
        </p:spPr>
        <p:txBody>
          <a:bodyPr anchorCtr="0" anchor="t" bIns="45700" lIns="45700" spcFirstLastPara="1" rIns="45700" wrap="square" tIns="45700">
            <a:normAutofit/>
          </a:bodyPr>
          <a:lstStyle/>
          <a:p>
            <a:pPr indent="-133350" lvl="0" marL="91440" rtl="0" algn="l">
              <a:lnSpc>
                <a:spcPct val="90000"/>
              </a:lnSpc>
              <a:spcBef>
                <a:spcPts val="0"/>
              </a:spcBef>
              <a:spcAft>
                <a:spcPts val="0"/>
              </a:spcAft>
              <a:buSzPts val="2100"/>
              <a:buChar char=" "/>
            </a:pPr>
            <a:r>
              <a:rPr lang="id-ID" sz="2100">
                <a:solidFill>
                  <a:schemeClr val="lt1"/>
                </a:solidFill>
                <a:latin typeface="Twentieth Century"/>
                <a:ea typeface="Twentieth Century"/>
                <a:cs typeface="Twentieth Century"/>
                <a:sym typeface="Twentieth Century"/>
              </a:rPr>
              <a:t>“Islam merupakan agama yang sangat menghargai akal dan mengajak kita untuk berfikir tentang jiwa dan semesta, fenomena-fenomena langit, bumi, dan segala ciptaan Allah lainnya. Oleh karenanya, Islam menyambut baik setiap ilmu yang bermanfaat, baik itu ilmu agama ataupun ilmu non-agama, bahkan mewajibkan umat untuk menguasainya secara kolektif (</a:t>
            </a:r>
            <a:r>
              <a:rPr i="1" lang="id-ID" sz="2100">
                <a:solidFill>
                  <a:schemeClr val="lt1"/>
                </a:solidFill>
                <a:latin typeface="Twentieth Century"/>
                <a:ea typeface="Twentieth Century"/>
                <a:cs typeface="Twentieth Century"/>
                <a:sym typeface="Twentieth Century"/>
              </a:rPr>
              <a:t>fardh al-kifayah</a:t>
            </a:r>
            <a:r>
              <a:rPr lang="id-ID" sz="2100">
                <a:solidFill>
                  <a:schemeClr val="lt1"/>
                </a:solidFill>
                <a:latin typeface="Twentieth Century"/>
                <a:ea typeface="Twentieth Century"/>
                <a:cs typeface="Twentieth Century"/>
                <a:sym typeface="Twentieth Century"/>
              </a:rPr>
              <a:t>), sesuai dengan kadar kebutuhan kaum muslim.”</a:t>
            </a:r>
            <a:endParaRPr/>
          </a:p>
          <a:p>
            <a:pPr indent="0" lvl="0" marL="91440" rtl="0" algn="l">
              <a:lnSpc>
                <a:spcPct val="90000"/>
              </a:lnSpc>
              <a:spcBef>
                <a:spcPts val="1400"/>
              </a:spcBef>
              <a:spcAft>
                <a:spcPts val="0"/>
              </a:spcAft>
              <a:buSzPts val="2000"/>
              <a:buNone/>
            </a:pPr>
            <a:r>
              <a:t/>
            </a:r>
            <a:endParaRPr/>
          </a:p>
        </p:txBody>
      </p:sp>
      <p:sp>
        <p:nvSpPr>
          <p:cNvPr id="246" name="Google Shape;246;p6"/>
          <p:cNvSpPr txBox="1"/>
          <p:nvPr/>
        </p:nvSpPr>
        <p:spPr>
          <a:xfrm>
            <a:off x="5502166" y="5557789"/>
            <a:ext cx="5397062" cy="584775"/>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Twentieth Century"/>
                <a:ea typeface="Twentieth Century"/>
                <a:cs typeface="Twentieth Century"/>
                <a:sym typeface="Twentieth Century"/>
              </a:rPr>
              <a:t>Yusuf al-Qaradawi</a:t>
            </a:r>
            <a:r>
              <a:rPr b="0" i="1" lang="id-ID" sz="1600" u="none" cap="none" strike="noStrike">
                <a:solidFill>
                  <a:schemeClr val="dk1"/>
                </a:solidFill>
                <a:latin typeface="Twentieth Century"/>
                <a:ea typeface="Twentieth Century"/>
                <a:cs typeface="Twentieth Century"/>
                <a:sym typeface="Twentieth Century"/>
              </a:rPr>
              <a:t>, al-Din fi-al-’Ashr al-’Ilmi </a:t>
            </a:r>
            <a:r>
              <a:rPr b="0" i="0" lang="id-ID" sz="1600" u="none" cap="none" strike="noStrike">
                <a:solidFill>
                  <a:schemeClr val="dk1"/>
                </a:solidFill>
                <a:latin typeface="Twentieth Century"/>
                <a:ea typeface="Twentieth Century"/>
                <a:cs typeface="Twentieth Century"/>
                <a:sym typeface="Twentieth Century"/>
              </a:rPr>
              <a:t>(Kairo: Mathba’ah al-Fanniyyah, 1993), 12.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7"/>
          <p:cNvSpPr/>
          <p:nvPr/>
        </p:nvSpPr>
        <p:spPr>
          <a:xfrm>
            <a:off x="0" y="0"/>
            <a:ext cx="6095998"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52" name="Google Shape;252;p7"/>
          <p:cNvSpPr txBox="1"/>
          <p:nvPr>
            <p:ph type="title"/>
          </p:nvPr>
        </p:nvSpPr>
        <p:spPr>
          <a:xfrm>
            <a:off x="762001" y="459317"/>
            <a:ext cx="5333994" cy="1749552"/>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070C0"/>
              </a:buClr>
              <a:buSzPts val="4400"/>
              <a:buFont typeface="Twentieth Century"/>
              <a:buNone/>
            </a:pPr>
            <a:r>
              <a:rPr i="1" lang="id-ID">
                <a:solidFill>
                  <a:srgbClr val="0070C0"/>
                </a:solidFill>
              </a:rPr>
              <a:t>SCIENCE YES, SCIENTISM NO!</a:t>
            </a:r>
            <a:endParaRPr/>
          </a:p>
        </p:txBody>
      </p:sp>
      <p:cxnSp>
        <p:nvCxnSpPr>
          <p:cNvPr id="253" name="Google Shape;253;p7"/>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54" name="Google Shape;254;p7"/>
          <p:cNvSpPr txBox="1"/>
          <p:nvPr>
            <p:ph idx="1" type="body"/>
          </p:nvPr>
        </p:nvSpPr>
        <p:spPr>
          <a:xfrm>
            <a:off x="762000" y="1986455"/>
            <a:ext cx="5118536" cy="4571999"/>
          </a:xfrm>
          <a:prstGeom prst="rect">
            <a:avLst/>
          </a:prstGeom>
          <a:noFill/>
          <a:ln>
            <a:noFill/>
          </a:ln>
        </p:spPr>
        <p:txBody>
          <a:bodyPr anchorCtr="0" anchor="t" bIns="45700" lIns="45700" spcFirstLastPara="1" rIns="45700" wrap="square" tIns="45700">
            <a:normAutofit/>
          </a:bodyPr>
          <a:lstStyle/>
          <a:p>
            <a:pPr indent="-133350" lvl="0" marL="91440" rtl="0" algn="l">
              <a:lnSpc>
                <a:spcPct val="90000"/>
              </a:lnSpc>
              <a:spcBef>
                <a:spcPts val="0"/>
              </a:spcBef>
              <a:spcAft>
                <a:spcPts val="0"/>
              </a:spcAft>
              <a:buSzPts val="2100"/>
              <a:buChar char=" "/>
            </a:pPr>
            <a:r>
              <a:rPr lang="id-ID" sz="2100"/>
              <a:t>Sains wajib kita pelajari dan kuasai, namun jangan sampai menjadikannya sebagai satu-satunya  barometer kebenaran. Inilah yang disebut dengan </a:t>
            </a:r>
            <a:r>
              <a:rPr b="1" lang="id-ID" sz="2100"/>
              <a:t>saintisme</a:t>
            </a:r>
            <a:r>
              <a:rPr lang="id-ID" sz="2100"/>
              <a:t>,  yakni sebuah aliran yang hendak memperluas penerapan paradigma sains untuk semua hal yang ada di alam semesta, termasuk kehidupan manusia dan masyarakat. Padahal, objek kajian sains terbatas pada alam empiris dan metode epistemiknya bertumpu pada metode eksperimentasi dan observasi. Akibatnya, hal-hal yang tidak bisa dipersepsi secara inderawi dan tidak bisa dibuktikan di laboraturium akan dianggap </a:t>
            </a:r>
            <a:r>
              <a:rPr i="1" lang="id-ID" sz="2100"/>
              <a:t>nonsense</a:t>
            </a:r>
            <a:r>
              <a:rPr lang="id-ID" sz="2100"/>
              <a:t>, atau bahkan tidak ada.</a:t>
            </a:r>
            <a:endParaRPr/>
          </a:p>
        </p:txBody>
      </p:sp>
      <p:pic>
        <p:nvPicPr>
          <p:cNvPr descr="A person kneeling in front of a computer&#10;&#10;Description automatically generated" id="255" name="Google Shape;255;p7"/>
          <p:cNvPicPr preferRelativeResize="0"/>
          <p:nvPr/>
        </p:nvPicPr>
        <p:blipFill rotWithShape="1">
          <a:blip r:embed="rId3">
            <a:alphaModFix/>
          </a:blip>
          <a:srcRect b="0" l="0" r="0" t="0"/>
          <a:stretch/>
        </p:blipFill>
        <p:spPr>
          <a:xfrm>
            <a:off x="7056116" y="1424721"/>
            <a:ext cx="4175762" cy="40116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p8"/>
          <p:cNvSpPr/>
          <p:nvPr/>
        </p:nvSpPr>
        <p:spPr>
          <a:xfrm>
            <a:off x="0" y="0"/>
            <a:ext cx="6095998"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62" name="Google Shape;262;p8"/>
          <p:cNvSpPr txBox="1"/>
          <p:nvPr>
            <p:ph type="title"/>
          </p:nvPr>
        </p:nvSpPr>
        <p:spPr>
          <a:xfrm>
            <a:off x="1024128" y="459317"/>
            <a:ext cx="4809110" cy="1749552"/>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400"/>
              <a:buFont typeface="Twentieth Century"/>
              <a:buNone/>
            </a:pPr>
            <a:r>
              <a:rPr lang="id-ID"/>
              <a:t>ISLAM MEMANDANG SENI</a:t>
            </a:r>
            <a:endParaRPr/>
          </a:p>
        </p:txBody>
      </p:sp>
      <p:cxnSp>
        <p:nvCxnSpPr>
          <p:cNvPr id="263" name="Google Shape;263;p8"/>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64" name="Google Shape;264;p8"/>
          <p:cNvSpPr txBox="1"/>
          <p:nvPr>
            <p:ph idx="1" type="body"/>
          </p:nvPr>
        </p:nvSpPr>
        <p:spPr>
          <a:xfrm>
            <a:off x="762000" y="1954925"/>
            <a:ext cx="5071241" cy="4443758"/>
          </a:xfrm>
          <a:prstGeom prst="rect">
            <a:avLst/>
          </a:prstGeom>
          <a:noFill/>
          <a:ln>
            <a:noFill/>
          </a:ln>
        </p:spPr>
        <p:txBody>
          <a:bodyPr anchorCtr="0" anchor="t" bIns="45700" lIns="45700" spcFirstLastPara="1" rIns="45700" wrap="square" tIns="45700">
            <a:noAutofit/>
          </a:bodyPr>
          <a:lstStyle/>
          <a:p>
            <a:pPr indent="-133350" lvl="0" marL="91440" rtl="0" algn="l">
              <a:lnSpc>
                <a:spcPct val="90000"/>
              </a:lnSpc>
              <a:spcBef>
                <a:spcPts val="0"/>
              </a:spcBef>
              <a:spcAft>
                <a:spcPts val="0"/>
              </a:spcAft>
              <a:buSzPts val="2100"/>
              <a:buChar char=" "/>
            </a:pPr>
            <a:r>
              <a:rPr lang="id-ID" sz="2100"/>
              <a:t>“Islam menghidupkan persepsi terhadap keindahan dan mendukung seni yang indah, namun dengan beberapa ketentuan, agar seni bersifat memperbaiki, tidak merusak; membangun, tidak menghancurkan ... Tidak perlu diperdebatkan lagi bahwa seni itu seperti ilmu; bisa digunakan untuk kebaikan dan pembangunan, ataupun untuk keburukan dan kehancuran. Karena seni adalah media menuju tujuan tertentu, maka status hukumya mengikuti hukum tujuannya. Jika digunakan untuk tujuan yang halal, maka seni menjadi boleh, namun jika digunakan untuk tujuan yang haram, maka seni menjadi tidak boleh.”    </a:t>
            </a:r>
            <a:endParaRPr/>
          </a:p>
        </p:txBody>
      </p:sp>
      <p:pic>
        <p:nvPicPr>
          <p:cNvPr descr="A close-up of a book cover&#10;&#10;Description automatically generated" id="265" name="Google Shape;265;p8"/>
          <p:cNvPicPr preferRelativeResize="0"/>
          <p:nvPr/>
        </p:nvPicPr>
        <p:blipFill rotWithShape="1">
          <a:blip r:embed="rId3">
            <a:alphaModFix/>
          </a:blip>
          <a:srcRect b="0" l="0" r="0" t="0"/>
          <a:stretch/>
        </p:blipFill>
        <p:spPr>
          <a:xfrm>
            <a:off x="7474052" y="952448"/>
            <a:ext cx="3339887" cy="4675842"/>
          </a:xfrm>
          <a:prstGeom prst="rect">
            <a:avLst/>
          </a:prstGeom>
          <a:noFill/>
          <a:ln>
            <a:noFill/>
          </a:ln>
        </p:spPr>
      </p:pic>
      <p:sp>
        <p:nvSpPr>
          <p:cNvPr id="266" name="Google Shape;266;p8"/>
          <p:cNvSpPr txBox="1"/>
          <p:nvPr/>
        </p:nvSpPr>
        <p:spPr>
          <a:xfrm>
            <a:off x="6670122" y="6031676"/>
            <a:ext cx="4947748" cy="584775"/>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Twentieth Century"/>
                <a:ea typeface="Twentieth Century"/>
                <a:cs typeface="Twentieth Century"/>
                <a:sym typeface="Twentieth Century"/>
              </a:rPr>
              <a:t>Yusuf al-Qaradawi, </a:t>
            </a:r>
            <a:r>
              <a:rPr b="0" i="1" lang="id-ID" sz="1600" u="none" cap="none" strike="noStrike">
                <a:solidFill>
                  <a:schemeClr val="dk1"/>
                </a:solidFill>
                <a:latin typeface="Twentieth Century"/>
                <a:ea typeface="Twentieth Century"/>
                <a:cs typeface="Twentieth Century"/>
                <a:sym typeface="Twentieth Century"/>
              </a:rPr>
              <a:t>al-Islam wa-al-Fann </a:t>
            </a:r>
            <a:r>
              <a:rPr b="0" i="0" lang="id-ID" sz="1600" u="none" cap="none" strike="noStrike">
                <a:solidFill>
                  <a:schemeClr val="dk1"/>
                </a:solidFill>
                <a:latin typeface="Twentieth Century"/>
                <a:ea typeface="Twentieth Century"/>
                <a:cs typeface="Twentieth Century"/>
                <a:sym typeface="Twentieth Century"/>
              </a:rPr>
              <a:t>(Kairo: Maktabah Wahbah, 2012), 6-7.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sp>
        <p:nvSpPr>
          <p:cNvPr id="271" name="Google Shape;271;p9"/>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72" name="Google Shape;272;p9"/>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273" name="Google Shape;273;p9"/>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74" name="Google Shape;274;p9"/>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p>
            <a:pPr indent="0" lvl="0" marL="0" rtl="0" algn="r">
              <a:lnSpc>
                <a:spcPct val="80000"/>
              </a:lnSpc>
              <a:spcBef>
                <a:spcPts val="0"/>
              </a:spcBef>
              <a:spcAft>
                <a:spcPts val="0"/>
              </a:spcAft>
              <a:buClr>
                <a:srgbClr val="0C0C0C"/>
              </a:buClr>
              <a:buSzPts val="4600"/>
              <a:buFont typeface="Twentieth Century"/>
              <a:buNone/>
            </a:pPr>
            <a:r>
              <a:rPr lang="id-ID" sz="4600" cap="none">
                <a:solidFill>
                  <a:srgbClr val="0C0C0C"/>
                </a:solidFill>
                <a:latin typeface="Twentieth Century"/>
                <a:ea typeface="Twentieth Century"/>
                <a:cs typeface="Twentieth Century"/>
                <a:sym typeface="Twentieth Century"/>
              </a:rPr>
              <a:t>ANTARA SAINS DAN ILMU</a:t>
            </a:r>
            <a:r>
              <a:rPr lang="id-ID" sz="4600"/>
              <a:t>:</a:t>
            </a:r>
            <a:br>
              <a:rPr lang="id-ID" sz="4600"/>
            </a:br>
            <a:r>
              <a:rPr lang="id-ID" sz="4600"/>
              <a:t> TINJAUAN FILSAFAT ISLAM  </a:t>
            </a:r>
            <a:endParaRPr sz="4600" cap="none">
              <a:solidFill>
                <a:srgbClr val="0C0C0C"/>
              </a:solidFill>
              <a:latin typeface="Twentieth Century"/>
              <a:ea typeface="Twentieth Century"/>
              <a:cs typeface="Twentieth Century"/>
              <a:sym typeface="Twentieth Century"/>
            </a:endParaRPr>
          </a:p>
        </p:txBody>
      </p:sp>
      <p:pic>
        <p:nvPicPr>
          <p:cNvPr descr="A painting of people in a room&#10;&#10;Description automatically generated" id="275" name="Google Shape;275;p9"/>
          <p:cNvPicPr preferRelativeResize="0"/>
          <p:nvPr/>
        </p:nvPicPr>
        <p:blipFill rotWithShape="1">
          <a:blip r:embed="rId3">
            <a:alphaModFix/>
          </a:blip>
          <a:srcRect b="24779" l="0" r="0" t="22954"/>
          <a:stretch/>
        </p:blipFill>
        <p:spPr>
          <a:xfrm>
            <a:off x="20" y="10"/>
            <a:ext cx="12191980" cy="45719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74"/>
                                        </p:tgtEl>
                                        <p:attrNameLst>
                                          <p:attrName>style.visibility</p:attrName>
                                        </p:attrNameLst>
                                      </p:cBhvr>
                                      <p:to>
                                        <p:strVal val="visible"/>
                                      </p:to>
                                    </p:set>
                                    <p:animEffect filter="fade" transition="in">
                                      <p:cBhvr>
                                        <p:cTn dur="700"/>
                                        <p:tgtEl>
                                          <p:spTgt spid="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500"/>
              <a:buFont typeface="Twentieth Century"/>
              <a:buNone/>
            </a:pPr>
            <a:r>
              <a:rPr lang="id-ID" sz="4500"/>
              <a:t>SAINS ‘VIS A VIS’ ILMU</a:t>
            </a:r>
            <a:endParaRPr/>
          </a:p>
        </p:txBody>
      </p:sp>
      <p:grpSp>
        <p:nvGrpSpPr>
          <p:cNvPr id="281" name="Google Shape;281;p10"/>
          <p:cNvGrpSpPr/>
          <p:nvPr/>
        </p:nvGrpSpPr>
        <p:grpSpPr>
          <a:xfrm>
            <a:off x="782751" y="1815487"/>
            <a:ext cx="10359114" cy="4454843"/>
            <a:chOff x="26006" y="2453"/>
            <a:chExt cx="10359114" cy="4454843"/>
          </a:xfrm>
        </p:grpSpPr>
        <p:sp>
          <p:nvSpPr>
            <p:cNvPr id="282" name="Google Shape;282;p10"/>
            <p:cNvSpPr/>
            <p:nvPr/>
          </p:nvSpPr>
          <p:spPr>
            <a:xfrm rot="-5400000">
              <a:off x="-1345366" y="2345159"/>
              <a:ext cx="3478605" cy="73585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0"/>
            <p:cNvSpPr txBox="1"/>
            <p:nvPr/>
          </p:nvSpPr>
          <p:spPr>
            <a:xfrm rot="-5400000">
              <a:off x="-1345366" y="2345159"/>
              <a:ext cx="3478605" cy="735858"/>
            </a:xfrm>
            <a:prstGeom prst="rect">
              <a:avLst/>
            </a:prstGeom>
            <a:noFill/>
            <a:ln>
              <a:noFill/>
            </a:ln>
          </p:spPr>
          <p:txBody>
            <a:bodyPr anchorCtr="0" anchor="t" bIns="0" lIns="0" spcFirstLastPara="1" rIns="648975" wrap="square" tIns="0">
              <a:noAutofit/>
            </a:bodyPr>
            <a:lstStyle/>
            <a:p>
              <a:pPr indent="0" lvl="0" marL="0" marR="0" rtl="0" algn="r">
                <a:lnSpc>
                  <a:spcPct val="90000"/>
                </a:lnSpc>
                <a:spcBef>
                  <a:spcPts val="0"/>
                </a:spcBef>
                <a:spcAft>
                  <a:spcPts val="0"/>
                </a:spcAft>
                <a:buClr>
                  <a:schemeClr val="dk1"/>
                </a:buClr>
                <a:buSzPts val="5900"/>
                <a:buFont typeface="Twentieth Century"/>
                <a:buNone/>
              </a:pPr>
              <a:r>
                <a:rPr b="0" i="0" lang="id-ID" sz="5900" u="none" cap="none" strike="noStrike">
                  <a:solidFill>
                    <a:schemeClr val="dk1"/>
                  </a:solidFill>
                  <a:latin typeface="Twentieth Century"/>
                  <a:ea typeface="Twentieth Century"/>
                  <a:cs typeface="Twentieth Century"/>
                  <a:sym typeface="Twentieth Century"/>
                </a:rPr>
                <a:t>Sains </a:t>
              </a:r>
              <a:endParaRPr b="0" i="0" sz="1400" u="none" cap="none" strike="noStrike">
                <a:solidFill>
                  <a:srgbClr val="000000"/>
                </a:solidFill>
                <a:latin typeface="Arial"/>
                <a:ea typeface="Arial"/>
                <a:cs typeface="Arial"/>
                <a:sym typeface="Arial"/>
              </a:endParaRPr>
            </a:p>
          </p:txBody>
        </p:sp>
        <p:sp>
          <p:nvSpPr>
            <p:cNvPr id="284" name="Google Shape;284;p10"/>
            <p:cNvSpPr/>
            <p:nvPr/>
          </p:nvSpPr>
          <p:spPr>
            <a:xfrm>
              <a:off x="622089" y="973786"/>
              <a:ext cx="4062904" cy="3478605"/>
            </a:xfrm>
            <a:prstGeom prst="rect">
              <a:avLst/>
            </a:prstGeom>
            <a:solidFill>
              <a:srgbClr val="24CED7"/>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0"/>
            <p:cNvSpPr txBox="1"/>
            <p:nvPr/>
          </p:nvSpPr>
          <p:spPr>
            <a:xfrm>
              <a:off x="622089" y="973786"/>
              <a:ext cx="4062904" cy="3478605"/>
            </a:xfrm>
            <a:prstGeom prst="rect">
              <a:avLst/>
            </a:prstGeom>
            <a:noFill/>
            <a:ln>
              <a:noFill/>
            </a:ln>
          </p:spPr>
          <p:txBody>
            <a:bodyPr anchorCtr="0" anchor="t" bIns="149350" lIns="149350" spcFirstLastPara="1" rIns="149350" wrap="square" tIns="648975">
              <a:noAutofit/>
            </a:bodyPr>
            <a:lstStyle/>
            <a:p>
              <a:pPr indent="-228600" lvl="1" marL="228600" marR="0" rtl="0" algn="l">
                <a:lnSpc>
                  <a:spcPct val="90000"/>
                </a:lnSpc>
                <a:spcBef>
                  <a:spcPts val="0"/>
                </a:spcBef>
                <a:spcAft>
                  <a:spcPts val="0"/>
                </a:spcAft>
                <a:buClr>
                  <a:schemeClr val="dk1"/>
                </a:buClr>
                <a:buSzPts val="2100"/>
                <a:buFont typeface="Twentieth Century"/>
                <a:buChar char="•"/>
              </a:pPr>
              <a:r>
                <a:rPr b="0" i="0" lang="id-ID" sz="2100" u="none" cap="none" strike="noStrike">
                  <a:solidFill>
                    <a:schemeClr val="dk1"/>
                  </a:solidFill>
                  <a:latin typeface="Twentieth Century"/>
                  <a:ea typeface="Twentieth Century"/>
                  <a:cs typeface="Twentieth Century"/>
                  <a:sym typeface="Twentieth Century"/>
                </a:rPr>
                <a:t>Secara bahasa, science diambil dari bahasa Yunani ‘scire’, yang berarti mengetahui (to know)</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315"/>
                </a:spcBef>
                <a:spcAft>
                  <a:spcPts val="0"/>
                </a:spcAft>
                <a:buClr>
                  <a:schemeClr val="dk1"/>
                </a:buClr>
                <a:buSzPts val="2100"/>
                <a:buFont typeface="Twentieth Century"/>
                <a:buChar char="•"/>
              </a:pPr>
              <a:r>
                <a:rPr b="0" i="0" lang="id-ID" sz="2100" u="none" cap="none" strike="noStrike">
                  <a:solidFill>
                    <a:schemeClr val="dk1"/>
                  </a:solidFill>
                  <a:latin typeface="Twentieth Century"/>
                  <a:ea typeface="Twentieth Century"/>
                  <a:cs typeface="Twentieth Century"/>
                  <a:sym typeface="Twentieth Century"/>
                </a:rPr>
                <a:t>Secara Istilah, sains didefinisikan sebagai “ a sytematic knowledge derived from observation, study, and experiments conducted to figure out the nature or principle of object under investigation.”</a:t>
              </a:r>
              <a:endParaRPr b="0" i="0" sz="1400" u="none" cap="none" strike="noStrike">
                <a:solidFill>
                  <a:srgbClr val="000000"/>
                </a:solidFill>
                <a:latin typeface="Arial"/>
                <a:ea typeface="Arial"/>
                <a:cs typeface="Arial"/>
                <a:sym typeface="Arial"/>
              </a:endParaRPr>
            </a:p>
          </p:txBody>
        </p:sp>
        <p:sp>
          <p:nvSpPr>
            <p:cNvPr id="286" name="Google Shape;286;p10"/>
            <p:cNvSpPr/>
            <p:nvPr/>
          </p:nvSpPr>
          <p:spPr>
            <a:xfrm>
              <a:off x="26006" y="2453"/>
              <a:ext cx="1471717" cy="1471717"/>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0"/>
            <p:cNvSpPr/>
            <p:nvPr/>
          </p:nvSpPr>
          <p:spPr>
            <a:xfrm rot="-5400000">
              <a:off x="4296780" y="2345159"/>
              <a:ext cx="3478605" cy="73585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0"/>
            <p:cNvSpPr txBox="1"/>
            <p:nvPr/>
          </p:nvSpPr>
          <p:spPr>
            <a:xfrm rot="-5400000">
              <a:off x="4296780" y="2345159"/>
              <a:ext cx="3478605" cy="735858"/>
            </a:xfrm>
            <a:prstGeom prst="rect">
              <a:avLst/>
            </a:prstGeom>
            <a:noFill/>
            <a:ln>
              <a:noFill/>
            </a:ln>
          </p:spPr>
          <p:txBody>
            <a:bodyPr anchorCtr="0" anchor="t" bIns="0" lIns="0" spcFirstLastPara="1" rIns="648975" wrap="square" tIns="0">
              <a:noAutofit/>
            </a:bodyPr>
            <a:lstStyle/>
            <a:p>
              <a:pPr indent="0" lvl="0" marL="0" marR="0" rtl="0" algn="r">
                <a:lnSpc>
                  <a:spcPct val="90000"/>
                </a:lnSpc>
                <a:spcBef>
                  <a:spcPts val="0"/>
                </a:spcBef>
                <a:spcAft>
                  <a:spcPts val="0"/>
                </a:spcAft>
                <a:buClr>
                  <a:schemeClr val="dk1"/>
                </a:buClr>
                <a:buSzPts val="5900"/>
                <a:buFont typeface="Twentieth Century"/>
                <a:buNone/>
              </a:pPr>
              <a:r>
                <a:rPr b="0" i="0" lang="id-ID" sz="5900" u="none" cap="none" strike="noStrike">
                  <a:solidFill>
                    <a:schemeClr val="dk1"/>
                  </a:solidFill>
                  <a:latin typeface="Twentieth Century"/>
                  <a:ea typeface="Twentieth Century"/>
                  <a:cs typeface="Twentieth Century"/>
                  <a:sym typeface="Twentieth Century"/>
                </a:rPr>
                <a:t>Ilmu</a:t>
              </a:r>
              <a:endParaRPr b="0" i="0" sz="1400" u="none" cap="none" strike="noStrike">
                <a:solidFill>
                  <a:srgbClr val="000000"/>
                </a:solidFill>
                <a:latin typeface="Arial"/>
                <a:ea typeface="Arial"/>
                <a:cs typeface="Arial"/>
                <a:sym typeface="Arial"/>
              </a:endParaRPr>
            </a:p>
          </p:txBody>
        </p:sp>
        <p:sp>
          <p:nvSpPr>
            <p:cNvPr id="289" name="Google Shape;289;p10"/>
            <p:cNvSpPr/>
            <p:nvPr/>
          </p:nvSpPr>
          <p:spPr>
            <a:xfrm>
              <a:off x="6206256" y="968882"/>
              <a:ext cx="4178864" cy="3488414"/>
            </a:xfrm>
            <a:prstGeom prst="rect">
              <a:avLst/>
            </a:prstGeom>
            <a:solidFill>
              <a:srgbClr val="40B995"/>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0"/>
            <p:cNvSpPr txBox="1"/>
            <p:nvPr/>
          </p:nvSpPr>
          <p:spPr>
            <a:xfrm>
              <a:off x="6206256" y="968882"/>
              <a:ext cx="4178864" cy="3488414"/>
            </a:xfrm>
            <a:prstGeom prst="rect">
              <a:avLst/>
            </a:prstGeom>
            <a:noFill/>
            <a:ln>
              <a:noFill/>
            </a:ln>
          </p:spPr>
          <p:txBody>
            <a:bodyPr anchorCtr="0" anchor="t" bIns="149350" lIns="149350" spcFirstLastPara="1" rIns="149350" wrap="square" tIns="648975">
              <a:noAutofit/>
            </a:bodyPr>
            <a:lstStyle/>
            <a:p>
              <a:pPr indent="-228600" lvl="1" marL="228600" marR="0" rtl="0" algn="l">
                <a:lnSpc>
                  <a:spcPct val="90000"/>
                </a:lnSpc>
                <a:spcBef>
                  <a:spcPts val="0"/>
                </a:spcBef>
                <a:spcAft>
                  <a:spcPts val="0"/>
                </a:spcAft>
                <a:buClr>
                  <a:schemeClr val="dk1"/>
                </a:buClr>
                <a:buSzPts val="2100"/>
                <a:buFont typeface="Twentieth Century"/>
                <a:buChar char="•"/>
              </a:pPr>
              <a:r>
                <a:rPr b="0" i="0" lang="id-ID" sz="2100" u="none" cap="none" strike="noStrike">
                  <a:solidFill>
                    <a:schemeClr val="dk1"/>
                  </a:solidFill>
                  <a:latin typeface="Twentieth Century"/>
                  <a:ea typeface="Twentieth Century"/>
                  <a:cs typeface="Twentieth Century"/>
                  <a:sym typeface="Twentieth Century"/>
                </a:rPr>
                <a:t>Secara bahasa, ilmu diambil dari bahasa Arab ‘alima-ya’lamu-‘ilman yang berati mengetahui.</a:t>
              </a:r>
              <a:endParaRPr b="0" i="0" sz="1400" u="none" cap="none" strike="noStrike">
                <a:solidFill>
                  <a:srgbClr val="000000"/>
                </a:solidFill>
                <a:latin typeface="Arial"/>
                <a:ea typeface="Arial"/>
                <a:cs typeface="Arial"/>
                <a:sym typeface="Arial"/>
              </a:endParaRPr>
            </a:p>
            <a:p>
              <a:pPr indent="-228600" lvl="1" marL="228600" marR="0" rtl="0" algn="l">
                <a:lnSpc>
                  <a:spcPct val="90000"/>
                </a:lnSpc>
                <a:spcBef>
                  <a:spcPts val="315"/>
                </a:spcBef>
                <a:spcAft>
                  <a:spcPts val="0"/>
                </a:spcAft>
                <a:buClr>
                  <a:schemeClr val="dk1"/>
                </a:buClr>
                <a:buSzPts val="2100"/>
                <a:buFont typeface="Twentieth Century"/>
                <a:buChar char="•"/>
              </a:pPr>
              <a:r>
                <a:rPr b="0" i="0" lang="id-ID" sz="2100" u="none" cap="none" strike="noStrike">
                  <a:solidFill>
                    <a:schemeClr val="dk1"/>
                  </a:solidFill>
                  <a:latin typeface="Twentieth Century"/>
                  <a:ea typeface="Twentieth Century"/>
                  <a:cs typeface="Twentieth Century"/>
                  <a:sym typeface="Twentieth Century"/>
                </a:rPr>
                <a:t>Secara istilah, Ilmu adalah “knowledge whose truth has been tried, proven, and established by facts and evidences, and not just an opinion or an assumption.”</a:t>
              </a:r>
              <a:endParaRPr b="0" i="0" sz="1400" u="none" cap="none" strike="noStrike">
                <a:solidFill>
                  <a:srgbClr val="000000"/>
                </a:solidFill>
                <a:latin typeface="Arial"/>
                <a:ea typeface="Arial"/>
                <a:cs typeface="Arial"/>
                <a:sym typeface="Arial"/>
              </a:endParaRPr>
            </a:p>
          </p:txBody>
        </p:sp>
        <p:sp>
          <p:nvSpPr>
            <p:cNvPr id="291" name="Google Shape;291;p10"/>
            <p:cNvSpPr/>
            <p:nvPr/>
          </p:nvSpPr>
          <p:spPr>
            <a:xfrm>
              <a:off x="5668153" y="2453"/>
              <a:ext cx="1471717" cy="1471717"/>
            </a:xfrm>
            <a:prstGeom prst="rect">
              <a:avLst/>
            </a:prstGeom>
            <a:blipFill rotWithShape="1">
              <a:blip r:embed="rId4">
                <a:alphaModFix/>
              </a:blip>
              <a:stretch>
                <a:fillRect b="0" l="-24995" r="-24994"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2" name="Google Shape;292;p10"/>
          <p:cNvSpPr txBox="1"/>
          <p:nvPr/>
        </p:nvSpPr>
        <p:spPr>
          <a:xfrm>
            <a:off x="6096000" y="292828"/>
            <a:ext cx="5412827" cy="584775"/>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Twentieth Century"/>
                <a:ea typeface="Twentieth Century"/>
                <a:cs typeface="Twentieth Century"/>
                <a:sym typeface="Twentieth Century"/>
              </a:rPr>
              <a:t>Mulyadi Kartanegara, </a:t>
            </a:r>
            <a:r>
              <a:rPr b="0" i="1" lang="id-ID" sz="1600" u="none" cap="none" strike="noStrike">
                <a:solidFill>
                  <a:schemeClr val="dk1"/>
                </a:solidFill>
                <a:latin typeface="Twentieth Century"/>
                <a:ea typeface="Twentieth Century"/>
                <a:cs typeface="Twentieth Century"/>
                <a:sym typeface="Twentieth Century"/>
              </a:rPr>
              <a:t>Essentials of Islamic Epistemology </a:t>
            </a:r>
            <a:r>
              <a:rPr b="0" i="0" lang="id-ID" sz="1600" u="none" cap="none" strike="noStrike">
                <a:solidFill>
                  <a:schemeClr val="dk1"/>
                </a:solidFill>
                <a:latin typeface="Twentieth Century"/>
                <a:ea typeface="Twentieth Century"/>
                <a:cs typeface="Twentieth Century"/>
                <a:sym typeface="Twentieth Century"/>
              </a:rPr>
              <a:t>(Bandar Sri Begawan: Universiti Brunei Darussalam Press, 2014), 9-11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 name="Shape 296"/>
        <p:cNvGrpSpPr/>
        <p:nvPr/>
      </p:nvGrpSpPr>
      <p:grpSpPr>
        <a:xfrm>
          <a:off x="0" y="0"/>
          <a:ext cx="0" cy="0"/>
          <a:chOff x="0" y="0"/>
          <a:chExt cx="0" cy="0"/>
        </a:xfrm>
      </p:grpSpPr>
      <p:sp>
        <p:nvSpPr>
          <p:cNvPr id="297" name="Google Shape;297;p1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8" name="Google Shape;29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200"/>
              <a:buFont typeface="Calibri"/>
              <a:buNone/>
            </a:pPr>
            <a:r>
              <a:rPr b="1" lang="id-ID" sz="4200"/>
              <a:t>Antara Sains dan Ilmu: Perbedaan Cakupan</a:t>
            </a:r>
            <a:endParaRPr/>
          </a:p>
        </p:txBody>
      </p:sp>
      <p:sp>
        <p:nvSpPr>
          <p:cNvPr id="299" name="Google Shape;299;p11"/>
          <p:cNvSpPr txBox="1"/>
          <p:nvPr>
            <p:ph idx="1" type="body"/>
          </p:nvPr>
        </p:nvSpPr>
        <p:spPr>
          <a:xfrm>
            <a:off x="838201" y="2013626"/>
            <a:ext cx="5269301" cy="3047106"/>
          </a:xfrm>
          <a:prstGeom prst="rect">
            <a:avLst/>
          </a:prstGeom>
          <a:solidFill>
            <a:srgbClr val="B2DDF2"/>
          </a:solid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100"/>
              <a:buChar char="•"/>
            </a:pPr>
            <a:r>
              <a:rPr lang="id-ID" sz="2100"/>
              <a:t>“Ilmu memiliki semua kriteria yang dimiliki oleh Sains sebagai pengetahuan yang disusun secara sistematis. Namun, penting untuk diingat bahwa ilmu memiliki perbedaan fundamental dari sains dalam aspek cakupannya. Sementara Sains membatasi dirinya pada ranah empiris-positivistik, ilmu mencakup tidak hanya ranah empiris, namun juga ranah non-empiris, seperti matematika dan metafisika.”</a:t>
            </a:r>
            <a:endParaRPr/>
          </a:p>
        </p:txBody>
      </p:sp>
      <p:pic>
        <p:nvPicPr>
          <p:cNvPr descr="A person sitting at a desk with a book&#10;&#10;Description automatically generated" id="300" name="Google Shape;300;p11"/>
          <p:cNvPicPr preferRelativeResize="0"/>
          <p:nvPr/>
        </p:nvPicPr>
        <p:blipFill rotWithShape="1">
          <a:blip r:embed="rId3">
            <a:alphaModFix/>
          </a:blip>
          <a:srcRect b="2" l="11966" r="1" t="0"/>
          <a:stretch/>
        </p:blipFill>
        <p:spPr>
          <a:xfrm>
            <a:off x="6573962" y="2013626"/>
            <a:ext cx="4488714" cy="3576825"/>
          </a:xfrm>
          <a:custGeom>
            <a:rect b="b" l="l" r="r" t="t"/>
            <a:pathLst>
              <a:path extrusionOk="0" h="3576825" w="4488714">
                <a:moveTo>
                  <a:pt x="713492" y="15"/>
                </a:moveTo>
                <a:cubicBezTo>
                  <a:pt x="723739" y="278"/>
                  <a:pt x="734339" y="3967"/>
                  <a:pt x="743942" y="5139"/>
                </a:cubicBezTo>
                <a:cubicBezTo>
                  <a:pt x="955929" y="31374"/>
                  <a:pt x="1167914" y="59717"/>
                  <a:pt x="1380134" y="84780"/>
                </a:cubicBezTo>
                <a:cubicBezTo>
                  <a:pt x="1578535" y="108204"/>
                  <a:pt x="1778340" y="113591"/>
                  <a:pt x="1977677" y="125771"/>
                </a:cubicBezTo>
                <a:cubicBezTo>
                  <a:pt x="2218942" y="140529"/>
                  <a:pt x="2459740" y="161377"/>
                  <a:pt x="2699600" y="194169"/>
                </a:cubicBezTo>
                <a:cubicBezTo>
                  <a:pt x="2866144" y="217126"/>
                  <a:pt x="3034328" y="233053"/>
                  <a:pt x="3203214" y="214783"/>
                </a:cubicBezTo>
                <a:cubicBezTo>
                  <a:pt x="3211646" y="213845"/>
                  <a:pt x="3221250" y="210801"/>
                  <a:pt x="3228277" y="213845"/>
                </a:cubicBezTo>
                <a:cubicBezTo>
                  <a:pt x="3310262" y="248045"/>
                  <a:pt x="3399740" y="223449"/>
                  <a:pt x="3484768" y="244999"/>
                </a:cubicBezTo>
                <a:cubicBezTo>
                  <a:pt x="3462984" y="328154"/>
                  <a:pt x="3369523" y="321361"/>
                  <a:pt x="3316820" y="378984"/>
                </a:cubicBezTo>
                <a:cubicBezTo>
                  <a:pt x="3402785" y="401939"/>
                  <a:pt x="3480084" y="425129"/>
                  <a:pt x="3558554" y="442462"/>
                </a:cubicBezTo>
                <a:cubicBezTo>
                  <a:pt x="3641709" y="460733"/>
                  <a:pt x="3712214" y="510158"/>
                  <a:pt x="3793494" y="532176"/>
                </a:cubicBezTo>
                <a:cubicBezTo>
                  <a:pt x="3810829" y="536861"/>
                  <a:pt x="3831676" y="553257"/>
                  <a:pt x="3837766" y="569186"/>
                </a:cubicBezTo>
                <a:cubicBezTo>
                  <a:pt x="3857442" y="620719"/>
                  <a:pt x="4250260" y="765244"/>
                  <a:pt x="4203881" y="811154"/>
                </a:cubicBezTo>
                <a:cubicBezTo>
                  <a:pt x="4184673" y="830128"/>
                  <a:pt x="4159844" y="843714"/>
                  <a:pt x="4133843" y="862453"/>
                </a:cubicBezTo>
                <a:cubicBezTo>
                  <a:pt x="4172962" y="897823"/>
                  <a:pt x="4216998" y="913283"/>
                  <a:pt x="4263846" y="923823"/>
                </a:cubicBezTo>
                <a:cubicBezTo>
                  <a:pt x="4277901" y="927103"/>
                  <a:pt x="4291721" y="933661"/>
                  <a:pt x="4293126" y="949590"/>
                </a:cubicBezTo>
                <a:cubicBezTo>
                  <a:pt x="4294531" y="966220"/>
                  <a:pt x="4280242" y="972778"/>
                  <a:pt x="4268297" y="980509"/>
                </a:cubicBezTo>
                <a:cubicBezTo>
                  <a:pt x="4251666" y="991283"/>
                  <a:pt x="4235503" y="1000654"/>
                  <a:pt x="4214422" y="1002059"/>
                </a:cubicBezTo>
                <a:cubicBezTo>
                  <a:pt x="4179754" y="1004167"/>
                  <a:pt x="4163124" y="1034149"/>
                  <a:pt x="4142980" y="1056636"/>
                </a:cubicBezTo>
                <a:cubicBezTo>
                  <a:pt x="4131736" y="1069286"/>
                  <a:pt x="4126114" y="1094817"/>
                  <a:pt x="4145790" y="1099268"/>
                </a:cubicBezTo>
                <a:cubicBezTo>
                  <a:pt x="4193106" y="1110043"/>
                  <a:pt x="4189358" y="1141197"/>
                  <a:pt x="4188188" y="1176567"/>
                </a:cubicBezTo>
                <a:cubicBezTo>
                  <a:pt x="4186548" y="1220370"/>
                  <a:pt x="4158673" y="1240514"/>
                  <a:pt x="4124474" y="1257380"/>
                </a:cubicBezTo>
                <a:cubicBezTo>
                  <a:pt x="4112762" y="1263235"/>
                  <a:pt x="4096132" y="1263000"/>
                  <a:pt x="4091680" y="1281271"/>
                </a:cubicBezTo>
                <a:cubicBezTo>
                  <a:pt x="4110888" y="1298606"/>
                  <a:pt x="4134312" y="1284551"/>
                  <a:pt x="4154926" y="1289469"/>
                </a:cubicBezTo>
                <a:cubicBezTo>
                  <a:pt x="4172025" y="1293452"/>
                  <a:pt x="4200368" y="1291344"/>
                  <a:pt x="4176944" y="1323200"/>
                </a:cubicBezTo>
                <a:cubicBezTo>
                  <a:pt x="4170150" y="1332335"/>
                  <a:pt x="4178114" y="1339363"/>
                  <a:pt x="4186782" y="1340066"/>
                </a:cubicBezTo>
                <a:cubicBezTo>
                  <a:pt x="4256117" y="1347327"/>
                  <a:pt x="4224260" y="1411743"/>
                  <a:pt x="4246513" y="1445708"/>
                </a:cubicBezTo>
                <a:cubicBezTo>
                  <a:pt x="4252602" y="1455076"/>
                  <a:pt x="4246044" y="1471239"/>
                  <a:pt x="4236440" y="1475221"/>
                </a:cubicBezTo>
                <a:cubicBezTo>
                  <a:pt x="4175069" y="1501456"/>
                  <a:pt x="4166637" y="1563998"/>
                  <a:pt x="4136888" y="1617873"/>
                </a:cubicBezTo>
                <a:cubicBezTo>
                  <a:pt x="4169214" y="1639188"/>
                  <a:pt x="4207863" y="1643873"/>
                  <a:pt x="4242764" y="1657693"/>
                </a:cubicBezTo>
                <a:cubicBezTo>
                  <a:pt x="4279072" y="1672216"/>
                  <a:pt x="4279072" y="1682991"/>
                  <a:pt x="4249089" y="1725153"/>
                </a:cubicBezTo>
                <a:cubicBezTo>
                  <a:pt x="4327090" y="1734290"/>
                  <a:pt x="4327090" y="1734290"/>
                  <a:pt x="4302964" y="1800579"/>
                </a:cubicBezTo>
                <a:cubicBezTo>
                  <a:pt x="4368318" y="1806669"/>
                  <a:pt x="4411417" y="1838057"/>
                  <a:pt x="4421488" y="1906689"/>
                </a:cubicBezTo>
                <a:cubicBezTo>
                  <a:pt x="4426408" y="1939951"/>
                  <a:pt x="4455922" y="1955644"/>
                  <a:pt x="4488714" y="1977897"/>
                </a:cubicBezTo>
                <a:cubicBezTo>
                  <a:pt x="4447958" y="1999448"/>
                  <a:pt x="4420318" y="2044421"/>
                  <a:pt x="4372767" y="1996870"/>
                </a:cubicBezTo>
                <a:cubicBezTo>
                  <a:pt x="4355434" y="1979537"/>
                  <a:pt x="4357072" y="2001555"/>
                  <a:pt x="4354731" y="2007880"/>
                </a:cubicBezTo>
                <a:cubicBezTo>
                  <a:pt x="4349110" y="2023339"/>
                  <a:pt x="4360820" y="2033646"/>
                  <a:pt x="4368551" y="2045357"/>
                </a:cubicBezTo>
                <a:cubicBezTo>
                  <a:pt x="4376046" y="2057070"/>
                  <a:pt x="4384948" y="2069484"/>
                  <a:pt x="4387056" y="2082603"/>
                </a:cubicBezTo>
                <a:cubicBezTo>
                  <a:pt x="4388460" y="2091738"/>
                  <a:pt x="4381668" y="2105088"/>
                  <a:pt x="4374173" y="2111882"/>
                </a:cubicBezTo>
                <a:cubicBezTo>
                  <a:pt x="4334820" y="2147720"/>
                  <a:pt x="4358244" y="2228299"/>
                  <a:pt x="4283756" y="2238606"/>
                </a:cubicBezTo>
                <a:cubicBezTo>
                  <a:pt x="4250260" y="2243289"/>
                  <a:pt x="4234098" y="2272804"/>
                  <a:pt x="4209503" y="2288966"/>
                </a:cubicBezTo>
                <a:cubicBezTo>
                  <a:pt x="4124006" y="2345418"/>
                  <a:pt x="4066851" y="2418032"/>
                  <a:pt x="4040383" y="2517817"/>
                </a:cubicBezTo>
                <a:cubicBezTo>
                  <a:pt x="4033122" y="2545457"/>
                  <a:pt x="4005246" y="2567711"/>
                  <a:pt x="3987210" y="2592071"/>
                </a:cubicBezTo>
                <a:cubicBezTo>
                  <a:pt x="3995878" y="2609873"/>
                  <a:pt x="4043193" y="2571458"/>
                  <a:pt x="4026563" y="2618305"/>
                </a:cubicBezTo>
                <a:cubicBezTo>
                  <a:pt x="4013914" y="2653442"/>
                  <a:pt x="3981588" y="2675226"/>
                  <a:pt x="3951137" y="2696074"/>
                </a:cubicBezTo>
                <a:cubicBezTo>
                  <a:pt x="3916470" y="2719731"/>
                  <a:pt x="3878055" y="2738704"/>
                  <a:pt x="3862360" y="2782506"/>
                </a:cubicBezTo>
                <a:cubicBezTo>
                  <a:pt x="3859081" y="2791877"/>
                  <a:pt x="3848540" y="2801714"/>
                  <a:pt x="3839172" y="2805463"/>
                </a:cubicBezTo>
                <a:cubicBezTo>
                  <a:pt x="3350549" y="3576343"/>
                  <a:pt x="2147734" y="3581495"/>
                  <a:pt x="2009066" y="3576107"/>
                </a:cubicBezTo>
                <a:cubicBezTo>
                  <a:pt x="1841116" y="3569315"/>
                  <a:pt x="1682302" y="3521764"/>
                  <a:pt x="1526534" y="3462502"/>
                </a:cubicBezTo>
                <a:cubicBezTo>
                  <a:pt x="1460712" y="3437439"/>
                  <a:pt x="1399577" y="3401835"/>
                  <a:pt x="1335628" y="3374195"/>
                </a:cubicBezTo>
                <a:cubicBezTo>
                  <a:pt x="1247321" y="3336013"/>
                  <a:pt x="1179158" y="3263165"/>
                  <a:pt x="1091084" y="3232479"/>
                </a:cubicBezTo>
                <a:cubicBezTo>
                  <a:pt x="1000434" y="3200857"/>
                  <a:pt x="922901" y="3143000"/>
                  <a:pt x="829673" y="3118405"/>
                </a:cubicBezTo>
                <a:cubicBezTo>
                  <a:pt x="780484" y="3105288"/>
                  <a:pt x="732933" y="3081631"/>
                  <a:pt x="740662" y="3013935"/>
                </a:cubicBezTo>
                <a:cubicBezTo>
                  <a:pt x="742771" y="2994727"/>
                  <a:pt x="729888" y="2979034"/>
                  <a:pt x="709509" y="2984656"/>
                </a:cubicBezTo>
                <a:cubicBezTo>
                  <a:pt x="670626" y="2995196"/>
                  <a:pt x="653058" y="2967321"/>
                  <a:pt x="631507" y="2946474"/>
                </a:cubicBezTo>
                <a:cubicBezTo>
                  <a:pt x="593093" y="2909465"/>
                  <a:pt x="556552" y="2870113"/>
                  <a:pt x="495415" y="2864022"/>
                </a:cubicBezTo>
                <a:cubicBezTo>
                  <a:pt x="507126" y="2834976"/>
                  <a:pt x="527037" y="2839193"/>
                  <a:pt x="545308" y="2845283"/>
                </a:cubicBezTo>
                <a:cubicBezTo>
                  <a:pt x="593327" y="2861212"/>
                  <a:pt x="640877" y="2879248"/>
                  <a:pt x="688896" y="2895176"/>
                </a:cubicBezTo>
                <a:cubicBezTo>
                  <a:pt x="720284" y="2905483"/>
                  <a:pt x="751438" y="2920006"/>
                  <a:pt x="793367" y="2908527"/>
                </a:cubicBezTo>
                <a:cubicBezTo>
                  <a:pt x="757294" y="2849968"/>
                  <a:pt x="695923" y="2839427"/>
                  <a:pt x="646265" y="2821391"/>
                </a:cubicBezTo>
                <a:cubicBezTo>
                  <a:pt x="584192" y="2798670"/>
                  <a:pt x="547651" y="2755803"/>
                  <a:pt x="503847" y="2708019"/>
                </a:cubicBezTo>
                <a:cubicBezTo>
                  <a:pt x="549524" y="2696541"/>
                  <a:pt x="577867" y="2731678"/>
                  <a:pt x="613705" y="2729803"/>
                </a:cubicBezTo>
                <a:cubicBezTo>
                  <a:pt x="615580" y="2723714"/>
                  <a:pt x="618859" y="2714813"/>
                  <a:pt x="618390" y="2714577"/>
                </a:cubicBezTo>
                <a:cubicBezTo>
                  <a:pt x="559831" y="2688343"/>
                  <a:pt x="532425" y="2639153"/>
                  <a:pt x="523289" y="2579656"/>
                </a:cubicBezTo>
                <a:cubicBezTo>
                  <a:pt x="518605" y="2548972"/>
                  <a:pt x="497289" y="2539368"/>
                  <a:pt x="476207" y="2525313"/>
                </a:cubicBezTo>
                <a:cubicBezTo>
                  <a:pt x="402656" y="2475421"/>
                  <a:pt x="324889" y="2430213"/>
                  <a:pt x="264455" y="2361581"/>
                </a:cubicBezTo>
                <a:cubicBezTo>
                  <a:pt x="334259" y="2370716"/>
                  <a:pt x="390242" y="2415455"/>
                  <a:pt x="465433" y="2434663"/>
                </a:cubicBezTo>
                <a:cubicBezTo>
                  <a:pt x="405702" y="2359238"/>
                  <a:pt x="328402" y="2321058"/>
                  <a:pt x="257897" y="2275380"/>
                </a:cubicBezTo>
                <a:cubicBezTo>
                  <a:pt x="225806" y="2254533"/>
                  <a:pt x="196059" y="2227830"/>
                  <a:pt x="157174" y="2216586"/>
                </a:cubicBezTo>
                <a:cubicBezTo>
                  <a:pt x="143354" y="2212604"/>
                  <a:pt x="120633" y="2204172"/>
                  <a:pt x="131643" y="2181919"/>
                </a:cubicBezTo>
                <a:cubicBezTo>
                  <a:pt x="141011" y="2163415"/>
                  <a:pt x="159516" y="2169035"/>
                  <a:pt x="176382" y="2174423"/>
                </a:cubicBezTo>
                <a:cubicBezTo>
                  <a:pt x="216905" y="2187776"/>
                  <a:pt x="258834" y="2188009"/>
                  <a:pt x="313646" y="2187776"/>
                </a:cubicBezTo>
                <a:cubicBezTo>
                  <a:pt x="267735" y="2126639"/>
                  <a:pt x="183643" y="2144910"/>
                  <a:pt x="144292" y="2080728"/>
                </a:cubicBezTo>
                <a:cubicBezTo>
                  <a:pt x="193481" y="2069484"/>
                  <a:pt x="231428" y="2092674"/>
                  <a:pt x="271249" y="2097124"/>
                </a:cubicBezTo>
                <a:cubicBezTo>
                  <a:pt x="307321" y="2101106"/>
                  <a:pt x="316222" y="2090332"/>
                  <a:pt x="307790" y="2054961"/>
                </a:cubicBezTo>
                <a:cubicBezTo>
                  <a:pt x="294673" y="1999915"/>
                  <a:pt x="314349" y="1971806"/>
                  <a:pt x="366818" y="1986798"/>
                </a:cubicBezTo>
                <a:cubicBezTo>
                  <a:pt x="415539" y="2000852"/>
                  <a:pt x="420692" y="1980240"/>
                  <a:pt x="407575" y="1948852"/>
                </a:cubicBezTo>
                <a:cubicBezTo>
                  <a:pt x="388836" y="1903176"/>
                  <a:pt x="410151" y="1867805"/>
                  <a:pt x="424674" y="1829390"/>
                </a:cubicBezTo>
                <a:cubicBezTo>
                  <a:pt x="446928" y="1770831"/>
                  <a:pt x="437558" y="1742253"/>
                  <a:pt x="389539" y="1698685"/>
                </a:cubicBezTo>
                <a:cubicBezTo>
                  <a:pt x="362602" y="1674323"/>
                  <a:pt x="333557" y="1653711"/>
                  <a:pt x="294438" y="1632630"/>
                </a:cubicBezTo>
                <a:cubicBezTo>
                  <a:pt x="384620" y="1621152"/>
                  <a:pt x="289988" y="1582503"/>
                  <a:pt x="321844" y="1558376"/>
                </a:cubicBezTo>
                <a:cubicBezTo>
                  <a:pt x="385557" y="1548538"/>
                  <a:pt x="437558" y="1625368"/>
                  <a:pt x="524227" y="1603350"/>
                </a:cubicBezTo>
                <a:cubicBezTo>
                  <a:pt x="417179" y="1536825"/>
                  <a:pt x="298889" y="1515041"/>
                  <a:pt x="221356" y="1426500"/>
                </a:cubicBezTo>
                <a:cubicBezTo>
                  <a:pt x="239158" y="1406355"/>
                  <a:pt x="256960" y="1425094"/>
                  <a:pt x="272186" y="1417599"/>
                </a:cubicBezTo>
                <a:cubicBezTo>
                  <a:pt x="271717" y="1412914"/>
                  <a:pt x="272889" y="1405886"/>
                  <a:pt x="270077" y="1403779"/>
                </a:cubicBezTo>
                <a:cubicBezTo>
                  <a:pt x="212221" y="1355525"/>
                  <a:pt x="211283" y="1354355"/>
                  <a:pt x="273356" y="1318749"/>
                </a:cubicBezTo>
                <a:cubicBezTo>
                  <a:pt x="295141" y="1306335"/>
                  <a:pt x="293267" y="1295325"/>
                  <a:pt x="281790" y="1279632"/>
                </a:cubicBezTo>
                <a:cubicBezTo>
                  <a:pt x="273590" y="1268622"/>
                  <a:pt x="263753" y="1258784"/>
                  <a:pt x="268438" y="1234657"/>
                </a:cubicBezTo>
                <a:cubicBezTo>
                  <a:pt x="302402" y="1265578"/>
                  <a:pt x="466603" y="1255505"/>
                  <a:pt x="495649" y="1252226"/>
                </a:cubicBezTo>
                <a:cubicBezTo>
                  <a:pt x="528208" y="1248713"/>
                  <a:pt x="560299" y="1233721"/>
                  <a:pt x="594497" y="1241919"/>
                </a:cubicBezTo>
                <a:cubicBezTo>
                  <a:pt x="621903" y="1248479"/>
                  <a:pt x="748860" y="1311957"/>
                  <a:pt x="766898" y="1239109"/>
                </a:cubicBezTo>
                <a:cubicBezTo>
                  <a:pt x="767835" y="1235595"/>
                  <a:pt x="819132" y="1243794"/>
                  <a:pt x="846773" y="1247776"/>
                </a:cubicBezTo>
                <a:cubicBezTo>
                  <a:pt x="871134" y="1251055"/>
                  <a:pt x="898540" y="1265578"/>
                  <a:pt x="914936" y="1236532"/>
                </a:cubicBezTo>
                <a:cubicBezTo>
                  <a:pt x="924540" y="1219433"/>
                  <a:pt x="884954" y="1186405"/>
                  <a:pt x="849584" y="1183594"/>
                </a:cubicBezTo>
                <a:cubicBezTo>
                  <a:pt x="818898" y="1181017"/>
                  <a:pt x="786807" y="1177269"/>
                  <a:pt x="757528" y="1184296"/>
                </a:cubicBezTo>
                <a:cubicBezTo>
                  <a:pt x="721456" y="1192730"/>
                  <a:pt x="702014" y="1179144"/>
                  <a:pt x="691941" y="1149864"/>
                </a:cubicBezTo>
                <a:cubicBezTo>
                  <a:pt x="680698" y="1117539"/>
                  <a:pt x="659147" y="1102547"/>
                  <a:pt x="629400" y="1087555"/>
                </a:cubicBezTo>
                <a:cubicBezTo>
                  <a:pt x="557253" y="1051250"/>
                  <a:pt x="487920" y="1009321"/>
                  <a:pt x="408747" y="988239"/>
                </a:cubicBezTo>
                <a:cubicBezTo>
                  <a:pt x="393052" y="984022"/>
                  <a:pt x="375719" y="978400"/>
                  <a:pt x="368458" y="950527"/>
                </a:cubicBezTo>
                <a:cubicBezTo>
                  <a:pt x="582786" y="992220"/>
                  <a:pt x="778141" y="1100908"/>
                  <a:pt x="999262" y="1094583"/>
                </a:cubicBezTo>
                <a:cubicBezTo>
                  <a:pt x="938829" y="1060149"/>
                  <a:pt x="868792" y="1058276"/>
                  <a:pt x="804376" y="1034149"/>
                </a:cubicBezTo>
                <a:cubicBezTo>
                  <a:pt x="850053" y="1016113"/>
                  <a:pt x="892918" y="1034852"/>
                  <a:pt x="936252" y="1045159"/>
                </a:cubicBezTo>
                <a:cubicBezTo>
                  <a:pt x="972559" y="1053591"/>
                  <a:pt x="1005353" y="1054997"/>
                  <a:pt x="1009335" y="1004636"/>
                </a:cubicBezTo>
                <a:cubicBezTo>
                  <a:pt x="1007929" y="1001356"/>
                  <a:pt x="1008163" y="997141"/>
                  <a:pt x="1008398" y="993158"/>
                </a:cubicBezTo>
                <a:cubicBezTo>
                  <a:pt x="996216" y="972311"/>
                  <a:pt x="977244" y="961536"/>
                  <a:pt x="954757" y="955445"/>
                </a:cubicBezTo>
                <a:cubicBezTo>
                  <a:pt x="941171" y="951697"/>
                  <a:pt x="923135" y="946075"/>
                  <a:pt x="923368" y="931085"/>
                </a:cubicBezTo>
                <a:cubicBezTo>
                  <a:pt x="924071" y="875570"/>
                  <a:pt x="880738" y="859407"/>
                  <a:pt x="837403" y="843245"/>
                </a:cubicBezTo>
                <a:cubicBezTo>
                  <a:pt x="861530" y="815605"/>
                  <a:pt x="880503" y="835983"/>
                  <a:pt x="898774" y="833876"/>
                </a:cubicBezTo>
                <a:cubicBezTo>
                  <a:pt x="910720" y="832470"/>
                  <a:pt x="921495" y="829894"/>
                  <a:pt x="921495" y="815605"/>
                </a:cubicBezTo>
                <a:cubicBezTo>
                  <a:pt x="921729" y="803658"/>
                  <a:pt x="916107" y="790072"/>
                  <a:pt x="904396" y="789839"/>
                </a:cubicBezTo>
                <a:cubicBezTo>
                  <a:pt x="831079" y="787730"/>
                  <a:pt x="790556" y="710900"/>
                  <a:pt x="714428" y="710666"/>
                </a:cubicBezTo>
                <a:cubicBezTo>
                  <a:pt x="668986" y="710666"/>
                  <a:pt x="738086" y="667332"/>
                  <a:pt x="699672" y="649295"/>
                </a:cubicBezTo>
                <a:cubicBezTo>
                  <a:pt x="691238" y="645313"/>
                  <a:pt x="721690" y="639224"/>
                  <a:pt x="735276" y="640160"/>
                </a:cubicBezTo>
                <a:cubicBezTo>
                  <a:pt x="748627" y="641097"/>
                  <a:pt x="760573" y="652574"/>
                  <a:pt x="776736" y="644376"/>
                </a:cubicBezTo>
                <a:cubicBezTo>
                  <a:pt x="785637" y="615097"/>
                  <a:pt x="762682" y="604322"/>
                  <a:pt x="743708" y="596123"/>
                </a:cubicBezTo>
                <a:cubicBezTo>
                  <a:pt x="699905" y="577150"/>
                  <a:pt x="657274" y="554195"/>
                  <a:pt x="609255" y="547401"/>
                </a:cubicBezTo>
                <a:cubicBezTo>
                  <a:pt x="592156" y="545059"/>
                  <a:pt x="633850" y="513671"/>
                  <a:pt x="642048" y="502662"/>
                </a:cubicBezTo>
                <a:cubicBezTo>
                  <a:pt x="448801" y="386949"/>
                  <a:pt x="216437" y="392804"/>
                  <a:pt x="0" y="299342"/>
                </a:cubicBezTo>
                <a:cubicBezTo>
                  <a:pt x="47785" y="281073"/>
                  <a:pt x="82921" y="294424"/>
                  <a:pt x="115480" y="297235"/>
                </a:cubicBezTo>
                <a:cubicBezTo>
                  <a:pt x="196760" y="304261"/>
                  <a:pt x="277105" y="318784"/>
                  <a:pt x="358151" y="327451"/>
                </a:cubicBezTo>
                <a:cubicBezTo>
                  <a:pt x="397971" y="331667"/>
                  <a:pt x="434981" y="347596"/>
                  <a:pt x="479486" y="322299"/>
                </a:cubicBezTo>
                <a:cubicBezTo>
                  <a:pt x="509235" y="305433"/>
                  <a:pt x="556786" y="323703"/>
                  <a:pt x="593327" y="338695"/>
                </a:cubicBezTo>
                <a:cubicBezTo>
                  <a:pt x="623543" y="351109"/>
                  <a:pt x="652355" y="354388"/>
                  <a:pt x="692410" y="338695"/>
                </a:cubicBezTo>
                <a:cubicBezTo>
                  <a:pt x="656103" y="329091"/>
                  <a:pt x="628228" y="320659"/>
                  <a:pt x="599651" y="314802"/>
                </a:cubicBezTo>
                <a:cubicBezTo>
                  <a:pt x="576930" y="310118"/>
                  <a:pt x="631040" y="291144"/>
                  <a:pt x="658679" y="293487"/>
                </a:cubicBezTo>
                <a:cubicBezTo>
                  <a:pt x="697329" y="296766"/>
                  <a:pt x="675545" y="284586"/>
                  <a:pt x="668986" y="267720"/>
                </a:cubicBezTo>
                <a:cubicBezTo>
                  <a:pt x="661959" y="249684"/>
                  <a:pt x="682806" y="244063"/>
                  <a:pt x="695923" y="247810"/>
                </a:cubicBezTo>
                <a:cubicBezTo>
                  <a:pt x="746284" y="262568"/>
                  <a:pt x="796411" y="236567"/>
                  <a:pt x="848413" y="257649"/>
                </a:cubicBezTo>
                <a:cubicBezTo>
                  <a:pt x="835295" y="205647"/>
                  <a:pt x="806952" y="182926"/>
                  <a:pt x="747690" y="175664"/>
                </a:cubicBezTo>
                <a:cubicBezTo>
                  <a:pt x="725437" y="172854"/>
                  <a:pt x="702248" y="177070"/>
                  <a:pt x="683040" y="162078"/>
                </a:cubicBezTo>
                <a:cubicBezTo>
                  <a:pt x="672030" y="153413"/>
                  <a:pt x="659616" y="143106"/>
                  <a:pt x="668283" y="127177"/>
                </a:cubicBezTo>
                <a:cubicBezTo>
                  <a:pt x="674373" y="115933"/>
                  <a:pt x="687491" y="115933"/>
                  <a:pt x="698266" y="119682"/>
                </a:cubicBezTo>
                <a:cubicBezTo>
                  <a:pt x="746519" y="136313"/>
                  <a:pt x="796880" y="142403"/>
                  <a:pt x="847241" y="148494"/>
                </a:cubicBezTo>
                <a:cubicBezTo>
                  <a:pt x="854972" y="149430"/>
                  <a:pt x="863637" y="152476"/>
                  <a:pt x="872305" y="137015"/>
                </a:cubicBezTo>
                <a:cubicBezTo>
                  <a:pt x="778141" y="111951"/>
                  <a:pt x="688662" y="76347"/>
                  <a:pt x="591921" y="62527"/>
                </a:cubicBezTo>
                <a:cubicBezTo>
                  <a:pt x="593327" y="55969"/>
                  <a:pt x="594732" y="49410"/>
                  <a:pt x="596138" y="42852"/>
                </a:cubicBezTo>
                <a:cubicBezTo>
                  <a:pt x="671796" y="52220"/>
                  <a:pt x="747456" y="61590"/>
                  <a:pt x="843025" y="73303"/>
                </a:cubicBezTo>
                <a:cubicBezTo>
                  <a:pt x="784231" y="36058"/>
                  <a:pt x="728717" y="48473"/>
                  <a:pt x="685149" y="15446"/>
                </a:cubicBezTo>
                <a:cubicBezTo>
                  <a:pt x="693347" y="2914"/>
                  <a:pt x="703244" y="-249"/>
                  <a:pt x="713492" y="15"/>
                </a:cubicBezTo>
                <a:close/>
              </a:path>
            </a:pathLst>
          </a:custGeom>
          <a:noFill/>
          <a:ln>
            <a:noFill/>
          </a:ln>
        </p:spPr>
      </p:pic>
      <p:sp>
        <p:nvSpPr>
          <p:cNvPr id="301" name="Google Shape;301;p11"/>
          <p:cNvSpPr txBox="1"/>
          <p:nvPr/>
        </p:nvSpPr>
        <p:spPr>
          <a:xfrm>
            <a:off x="838200" y="5425165"/>
            <a:ext cx="6603124" cy="584775"/>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Calibri"/>
                <a:ea typeface="Calibri"/>
                <a:cs typeface="Calibri"/>
                <a:sym typeface="Calibri"/>
              </a:rPr>
              <a:t>Mulyadi Kartanegara, </a:t>
            </a:r>
            <a:r>
              <a:rPr b="0" i="1" lang="id-ID" sz="1600" u="none" cap="none" strike="noStrike">
                <a:solidFill>
                  <a:schemeClr val="dk1"/>
                </a:solidFill>
                <a:latin typeface="Calibri"/>
                <a:ea typeface="Calibri"/>
                <a:cs typeface="Calibri"/>
                <a:sym typeface="Calibri"/>
              </a:rPr>
              <a:t>Essentials of Islamic Epistemology </a:t>
            </a:r>
            <a:r>
              <a:rPr b="0" i="0" lang="id-ID" sz="1600" u="none" cap="none" strike="noStrike">
                <a:solidFill>
                  <a:schemeClr val="dk1"/>
                </a:solidFill>
                <a:latin typeface="Calibri"/>
                <a:ea typeface="Calibri"/>
                <a:cs typeface="Calibri"/>
                <a:sym typeface="Calibri"/>
              </a:rPr>
              <a:t>(Bandar Sri Begawan: Universiti Brunei Darussalam Press, 2014), 11-12.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p12"/>
          <p:cNvSpPr txBox="1"/>
          <p:nvPr>
            <p:ph type="title"/>
          </p:nvPr>
        </p:nvSpPr>
        <p:spPr>
          <a:xfrm>
            <a:off x="495008" y="476096"/>
            <a:ext cx="7137184" cy="804756"/>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200"/>
              <a:buFont typeface="Calibri"/>
              <a:buNone/>
            </a:pPr>
            <a:r>
              <a:rPr b="1" lang="id-ID" sz="4200"/>
              <a:t>Sains Bukan Pengganti Agama</a:t>
            </a:r>
            <a:endParaRPr/>
          </a:p>
        </p:txBody>
      </p:sp>
      <p:sp>
        <p:nvSpPr>
          <p:cNvPr id="307" name="Google Shape;307;p12"/>
          <p:cNvSpPr txBox="1"/>
          <p:nvPr>
            <p:ph idx="1" type="body"/>
          </p:nvPr>
        </p:nvSpPr>
        <p:spPr>
          <a:xfrm>
            <a:off x="441433" y="1702676"/>
            <a:ext cx="6290443" cy="440109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00"/>
              <a:buChar char="•"/>
            </a:pPr>
            <a:r>
              <a:rPr lang="id-ID" sz="2100"/>
              <a:t>“Sains tidak bisa mengganti peran agama, karena ranah Sains bukanlah ranah agama. Tidak seperti ilmu dalam perspektif Islam yang mencakup ilmu dunia dan ilmu agama; bukan sekedar ilmu tentang materi dan berbagai karakteristiknya, namun juga ilmu yang berkaitan dengan alam semesta, kehidupan, manusia, dan Pencipta. Sains dalam pemahaman Barat tidak layak menjadi pengganti agama, karena tugasnya adalah memudahkan hidup manusia, bukan menyingkap teka-teki kehidupan. Sains membantu manusia untuk mengatasi problem kehidupan, namun tidak menolongnya mengatasi problem eksistensinya dan persoalan-persoalan besar lainya.”      </a:t>
            </a:r>
            <a:endParaRPr/>
          </a:p>
        </p:txBody>
      </p:sp>
      <p:grpSp>
        <p:nvGrpSpPr>
          <p:cNvPr id="308" name="Google Shape;308;p12"/>
          <p:cNvGrpSpPr/>
          <p:nvPr/>
        </p:nvGrpSpPr>
        <p:grpSpPr>
          <a:xfrm>
            <a:off x="-167586" y="4843360"/>
            <a:ext cx="2137158" cy="2365398"/>
            <a:chOff x="-183916" y="4530903"/>
            <a:chExt cx="2462416" cy="2725395"/>
          </a:xfrm>
        </p:grpSpPr>
        <p:sp>
          <p:nvSpPr>
            <p:cNvPr id="309" name="Google Shape;309;p12"/>
            <p:cNvSpPr/>
            <p:nvPr/>
          </p:nvSpPr>
          <p:spPr>
            <a:xfrm rot="-199868">
              <a:off x="1073269" y="6038524"/>
              <a:ext cx="374890" cy="373361"/>
            </a:xfrm>
            <a:custGeom>
              <a:rect b="b" l="l" r="r" t="t"/>
              <a:pathLst>
                <a:path extrusionOk="0" h="4842789" w="4806392">
                  <a:moveTo>
                    <a:pt x="2649000" y="2"/>
                  </a:moveTo>
                  <a:cubicBezTo>
                    <a:pt x="3339628" y="183344"/>
                    <a:pt x="4435570" y="1271060"/>
                    <a:pt x="4735908" y="1905908"/>
                  </a:cubicBezTo>
                  <a:cubicBezTo>
                    <a:pt x="5036246" y="2540756"/>
                    <a:pt x="4316853" y="4034873"/>
                    <a:pt x="3706624" y="4493428"/>
                  </a:cubicBezTo>
                  <a:cubicBezTo>
                    <a:pt x="3096395" y="4951983"/>
                    <a:pt x="1686746" y="4906865"/>
                    <a:pt x="1074535" y="4657238"/>
                  </a:cubicBezTo>
                  <a:cubicBezTo>
                    <a:pt x="462324" y="4407611"/>
                    <a:pt x="145196" y="3624902"/>
                    <a:pt x="33359" y="2995667"/>
                  </a:cubicBezTo>
                  <a:cubicBezTo>
                    <a:pt x="-94426" y="2318585"/>
                    <a:pt x="156197" y="1305135"/>
                    <a:pt x="592137" y="805858"/>
                  </a:cubicBezTo>
                  <a:cubicBezTo>
                    <a:pt x="1028077" y="306581"/>
                    <a:pt x="1996327" y="30750"/>
                    <a:pt x="2649000" y="2"/>
                  </a:cubicBezTo>
                  <a:close/>
                </a:path>
              </a:pathLst>
            </a:custGeom>
            <a:solidFill>
              <a:srgbClr val="C8F9F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12"/>
            <p:cNvSpPr/>
            <p:nvPr/>
          </p:nvSpPr>
          <p:spPr>
            <a:xfrm rot="-2670924">
              <a:off x="962723" y="6319494"/>
              <a:ext cx="1307564" cy="558574"/>
            </a:xfrm>
            <a:custGeom>
              <a:rect b="b" l="l" r="r" t="t"/>
              <a:pathLst>
                <a:path extrusionOk="0" h="558574" w="1307564">
                  <a:moveTo>
                    <a:pt x="1307564" y="360848"/>
                  </a:moveTo>
                  <a:cubicBezTo>
                    <a:pt x="1303188" y="403876"/>
                    <a:pt x="1279827" y="564823"/>
                    <a:pt x="1264610" y="558387"/>
                  </a:cubicBezTo>
                  <a:cubicBezTo>
                    <a:pt x="1237694" y="559849"/>
                    <a:pt x="802592" y="520038"/>
                    <a:pt x="496925" y="469382"/>
                  </a:cubicBezTo>
                  <a:lnTo>
                    <a:pt x="472802" y="464872"/>
                  </a:lnTo>
                  <a:lnTo>
                    <a:pt x="0" y="0"/>
                  </a:lnTo>
                  <a:lnTo>
                    <a:pt x="152076" y="41404"/>
                  </a:lnTo>
                  <a:cubicBezTo>
                    <a:pt x="614511" y="166095"/>
                    <a:pt x="1270124" y="336305"/>
                    <a:pt x="1307564" y="360848"/>
                  </a:cubicBezTo>
                  <a:close/>
                </a:path>
              </a:pathLst>
            </a:custGeom>
            <a:solidFill>
              <a:srgbClr val="92F7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1" name="Google Shape;311;p12"/>
            <p:cNvSpPr/>
            <p:nvPr/>
          </p:nvSpPr>
          <p:spPr>
            <a:xfrm rot="-2670924">
              <a:off x="962723" y="6319494"/>
              <a:ext cx="1307564" cy="558574"/>
            </a:xfrm>
            <a:custGeom>
              <a:rect b="b" l="l" r="r" t="t"/>
              <a:pathLst>
                <a:path extrusionOk="0" h="558574" w="1307564">
                  <a:moveTo>
                    <a:pt x="1307564" y="360848"/>
                  </a:moveTo>
                  <a:cubicBezTo>
                    <a:pt x="1303188" y="403876"/>
                    <a:pt x="1279827" y="564823"/>
                    <a:pt x="1264610" y="558387"/>
                  </a:cubicBezTo>
                  <a:cubicBezTo>
                    <a:pt x="1237694" y="559849"/>
                    <a:pt x="802592" y="520038"/>
                    <a:pt x="496925" y="469382"/>
                  </a:cubicBezTo>
                  <a:lnTo>
                    <a:pt x="472802" y="464872"/>
                  </a:lnTo>
                  <a:lnTo>
                    <a:pt x="0" y="0"/>
                  </a:lnTo>
                  <a:lnTo>
                    <a:pt x="152076" y="41404"/>
                  </a:lnTo>
                  <a:cubicBezTo>
                    <a:pt x="614511" y="166095"/>
                    <a:pt x="1270124" y="336305"/>
                    <a:pt x="1307564" y="360848"/>
                  </a:cubicBezTo>
                  <a:close/>
                </a:path>
              </a:pathLst>
            </a:custGeom>
            <a:solidFill>
              <a:srgbClr val="C8F9F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2" name="Google Shape;312;p12"/>
            <p:cNvSpPr/>
            <p:nvPr/>
          </p:nvSpPr>
          <p:spPr>
            <a:xfrm flipH="1" rot="-5861993">
              <a:off x="-570599" y="5091873"/>
              <a:ext cx="1904974" cy="884345"/>
            </a:xfrm>
            <a:custGeom>
              <a:rect b="b" l="l" r="r" t="t"/>
              <a:pathLst>
                <a:path extrusionOk="0" h="884345" w="1904974">
                  <a:moveTo>
                    <a:pt x="0" y="421557"/>
                  </a:moveTo>
                  <a:cubicBezTo>
                    <a:pt x="3634" y="427260"/>
                    <a:pt x="235761" y="473169"/>
                    <a:pt x="416370" y="530740"/>
                  </a:cubicBezTo>
                  <a:lnTo>
                    <a:pt x="1800731" y="866036"/>
                  </a:lnTo>
                  <a:cubicBezTo>
                    <a:pt x="1847450" y="875071"/>
                    <a:pt x="1894389" y="892323"/>
                    <a:pt x="1904485" y="880134"/>
                  </a:cubicBezTo>
                  <a:cubicBezTo>
                    <a:pt x="1907165" y="859490"/>
                    <a:pt x="1898113" y="808332"/>
                    <a:pt x="1894966" y="779469"/>
                  </a:cubicBezTo>
                  <a:cubicBezTo>
                    <a:pt x="1878988" y="675447"/>
                    <a:pt x="1847255" y="520751"/>
                    <a:pt x="1761844" y="402374"/>
                  </a:cubicBezTo>
                  <a:cubicBezTo>
                    <a:pt x="1676433" y="283997"/>
                    <a:pt x="1531056" y="114087"/>
                    <a:pt x="1377785" y="3317"/>
                  </a:cubicBezTo>
                  <a:lnTo>
                    <a:pt x="1372668" y="0"/>
                  </a:lnTo>
                  <a:lnTo>
                    <a:pt x="337869" y="139908"/>
                  </a:lnTo>
                  <a:lnTo>
                    <a:pt x="188081" y="203651"/>
                  </a:lnTo>
                  <a:lnTo>
                    <a:pt x="125663" y="268413"/>
                  </a:lnTo>
                  <a:cubicBezTo>
                    <a:pt x="56438" y="343137"/>
                    <a:pt x="7361" y="404648"/>
                    <a:pt x="0" y="421557"/>
                  </a:cubicBezTo>
                  <a:close/>
                </a:path>
              </a:pathLst>
            </a:custGeom>
            <a:solidFill>
              <a:srgbClr val="92F6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3" name="Google Shape;313;p12"/>
            <p:cNvSpPr/>
            <p:nvPr/>
          </p:nvSpPr>
          <p:spPr>
            <a:xfrm flipH="1" rot="-5861993">
              <a:off x="-570599" y="5091873"/>
              <a:ext cx="1904974" cy="884345"/>
            </a:xfrm>
            <a:custGeom>
              <a:rect b="b" l="l" r="r" t="t"/>
              <a:pathLst>
                <a:path extrusionOk="0" h="884345" w="1904974">
                  <a:moveTo>
                    <a:pt x="0" y="421557"/>
                  </a:moveTo>
                  <a:cubicBezTo>
                    <a:pt x="3634" y="427260"/>
                    <a:pt x="235761" y="473169"/>
                    <a:pt x="416370" y="530740"/>
                  </a:cubicBezTo>
                  <a:lnTo>
                    <a:pt x="1800731" y="866036"/>
                  </a:lnTo>
                  <a:cubicBezTo>
                    <a:pt x="1847450" y="875071"/>
                    <a:pt x="1894389" y="892323"/>
                    <a:pt x="1904485" y="880134"/>
                  </a:cubicBezTo>
                  <a:cubicBezTo>
                    <a:pt x="1907165" y="859490"/>
                    <a:pt x="1898113" y="808332"/>
                    <a:pt x="1894966" y="779469"/>
                  </a:cubicBezTo>
                  <a:cubicBezTo>
                    <a:pt x="1878988" y="675447"/>
                    <a:pt x="1847255" y="520751"/>
                    <a:pt x="1761844" y="402374"/>
                  </a:cubicBezTo>
                  <a:cubicBezTo>
                    <a:pt x="1676433" y="283997"/>
                    <a:pt x="1531056" y="114087"/>
                    <a:pt x="1377785" y="3317"/>
                  </a:cubicBezTo>
                  <a:lnTo>
                    <a:pt x="1372668" y="0"/>
                  </a:lnTo>
                  <a:lnTo>
                    <a:pt x="337869" y="139908"/>
                  </a:lnTo>
                  <a:lnTo>
                    <a:pt x="188081" y="203651"/>
                  </a:lnTo>
                  <a:lnTo>
                    <a:pt x="125663" y="268413"/>
                  </a:lnTo>
                  <a:cubicBezTo>
                    <a:pt x="56438" y="343137"/>
                    <a:pt x="7361" y="404648"/>
                    <a:pt x="0" y="421557"/>
                  </a:cubicBezTo>
                  <a:close/>
                </a:path>
              </a:pathLst>
            </a:custGeom>
            <a:solidFill>
              <a:srgbClr val="92F7DB">
                <a:alpha val="3450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A close-up of a book cover&#10;&#10;Description automatically generated" id="314" name="Google Shape;314;p12"/>
          <p:cNvPicPr preferRelativeResize="0"/>
          <p:nvPr/>
        </p:nvPicPr>
        <p:blipFill rotWithShape="1">
          <a:blip r:embed="rId3">
            <a:alphaModFix/>
          </a:blip>
          <a:srcRect b="0" l="0" r="0" t="0"/>
          <a:stretch/>
        </p:blipFill>
        <p:spPr>
          <a:xfrm>
            <a:off x="7808895" y="1461892"/>
            <a:ext cx="2870600" cy="4007242"/>
          </a:xfrm>
          <a:prstGeom prst="rect">
            <a:avLst/>
          </a:prstGeom>
          <a:noFill/>
          <a:ln>
            <a:noFill/>
          </a:ln>
          <a:effectLst>
            <a:outerShdw blurRad="190500" rotWithShape="0" algn="tl">
              <a:srgbClr val="000000">
                <a:alpha val="69411"/>
              </a:srgbClr>
            </a:outerShdw>
          </a:effectLst>
        </p:spPr>
      </p:pic>
      <p:sp>
        <p:nvSpPr>
          <p:cNvPr id="315" name="Google Shape;315;p12"/>
          <p:cNvSpPr txBox="1"/>
          <p:nvPr/>
        </p:nvSpPr>
        <p:spPr>
          <a:xfrm>
            <a:off x="7037699" y="5900289"/>
            <a:ext cx="4412993" cy="584775"/>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Calibri"/>
                <a:ea typeface="Calibri"/>
                <a:cs typeface="Calibri"/>
                <a:sym typeface="Calibri"/>
              </a:rPr>
              <a:t>Yusuf al-Qaradawi</a:t>
            </a:r>
            <a:r>
              <a:rPr b="0" i="1" lang="id-ID" sz="1600" u="none" cap="none" strike="noStrike">
                <a:solidFill>
                  <a:schemeClr val="dk1"/>
                </a:solidFill>
                <a:latin typeface="Calibri"/>
                <a:ea typeface="Calibri"/>
                <a:cs typeface="Calibri"/>
                <a:sym typeface="Calibri"/>
              </a:rPr>
              <a:t>, al-Din fi-al-’Ashr al-’Ilmi </a:t>
            </a:r>
            <a:r>
              <a:rPr b="0" i="0" lang="id-ID" sz="1600" u="none" cap="none" strike="noStrike">
                <a:solidFill>
                  <a:schemeClr val="dk1"/>
                </a:solidFill>
                <a:latin typeface="Calibri"/>
                <a:ea typeface="Calibri"/>
                <a:cs typeface="Calibri"/>
                <a:sym typeface="Calibri"/>
              </a:rPr>
              <a:t>(Kairo: Mathba’ah al-Fanniyyah, 1993), 50-51.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3"/>
          <p:cNvSpPr txBox="1"/>
          <p:nvPr>
            <p:ph type="title"/>
          </p:nvPr>
        </p:nvSpPr>
        <p:spPr>
          <a:xfrm>
            <a:off x="441434" y="239239"/>
            <a:ext cx="1153111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300"/>
              <a:buFont typeface="Calibri"/>
              <a:buNone/>
            </a:pPr>
            <a:r>
              <a:rPr b="1" lang="id-ID" sz="4300"/>
              <a:t>Antara Sains dan Ilmu: </a:t>
            </a:r>
            <a:br>
              <a:rPr b="1" lang="id-ID" sz="4300"/>
            </a:br>
            <a:r>
              <a:rPr b="1" lang="id-ID" sz="4300"/>
              <a:t>Perbedaan Ontologi, Epistemologi, dan Aksiologi</a:t>
            </a:r>
            <a:endParaRPr/>
          </a:p>
        </p:txBody>
      </p:sp>
      <p:graphicFrame>
        <p:nvGraphicFramePr>
          <p:cNvPr id="321" name="Google Shape;321;p13"/>
          <p:cNvGraphicFramePr/>
          <p:nvPr/>
        </p:nvGraphicFramePr>
        <p:xfrm>
          <a:off x="441433" y="1741512"/>
          <a:ext cx="3000000" cy="3000000"/>
        </p:xfrm>
        <a:graphic>
          <a:graphicData uri="http://schemas.openxmlformats.org/drawingml/2006/table">
            <a:tbl>
              <a:tblPr bandRow="1" firstRow="1">
                <a:noFill/>
                <a:tableStyleId>{1AEA746B-15CF-4C3E-8AE0-43D2240E8738}</a:tableStyleId>
              </a:tblPr>
              <a:tblGrid>
                <a:gridCol w="1024750"/>
                <a:gridCol w="3137350"/>
                <a:gridCol w="3295000"/>
                <a:gridCol w="3720675"/>
              </a:tblGrid>
              <a:tr h="429900">
                <a:tc>
                  <a:txBody>
                    <a:bodyPr/>
                    <a:lstStyle/>
                    <a:p>
                      <a:pPr indent="0" lvl="0" marL="0" marR="0" rtl="0" algn="l">
                        <a:lnSpc>
                          <a:spcPct val="100000"/>
                        </a:lnSpc>
                        <a:spcBef>
                          <a:spcPts val="0"/>
                        </a:spcBef>
                        <a:spcAft>
                          <a:spcPts val="0"/>
                        </a:spcAft>
                        <a:buClr>
                          <a:srgbClr val="000000"/>
                        </a:buClr>
                        <a:buSzPts val="2100"/>
                        <a:buFont typeface="Arial"/>
                        <a:buNone/>
                      </a:pPr>
                      <a:r>
                        <a:rPr b="1" lang="id-ID" sz="2100" u="none" cap="none" strike="noStrike"/>
                        <a:t>Subjek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Ontologi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Epistemologi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Aksiologi</a:t>
                      </a:r>
                      <a:endParaRPr sz="1400" u="none" cap="none" strike="noStrike"/>
                    </a:p>
                  </a:txBody>
                  <a:tcPr marT="45725" marB="45725" marR="91450" marL="91450"/>
                </a:tc>
              </a:tr>
              <a:tr h="1639950">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Sains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Realitas dipahami sebagai fenomena yang bersifat empiris.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Kebenaran didapat melalui mekanisme eksperimentasi dan observasi berdasarkan metode ilmiah-positivistik.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Pengembangan Sains bertujuan untuk menjawab keingintahuan yang tak terbatas, dan untuk merealisasikan tujuan-tujuan pragmatis.</a:t>
                      </a:r>
                      <a:endParaRPr sz="1400" u="none" cap="none" strike="noStrike"/>
                    </a:p>
                  </a:txBody>
                  <a:tcPr marT="45725" marB="45725" marR="91450" marL="91450"/>
                </a:tc>
              </a:tr>
              <a:tr h="1639950">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Ilmu</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Realitas tidak dibatasi pada fenomena empiris, namun juga mencakup yang non-empiris.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Kebenaran tidak hanya didapat dengan metode ilmiah,  namun juga melalui metode </a:t>
                      </a:r>
                      <a:r>
                        <a:rPr i="1" lang="id-ID" sz="2100" u="none" cap="none" strike="noStrike"/>
                        <a:t>burhani </a:t>
                      </a:r>
                      <a:r>
                        <a:rPr lang="id-ID" sz="2100" u="none" cap="none" strike="noStrike"/>
                        <a:t>(rasional) dan </a:t>
                      </a:r>
                      <a:r>
                        <a:rPr i="1" lang="id-ID" sz="2100" u="none" cap="none" strike="noStrike"/>
                        <a:t>‘irfani </a:t>
                      </a:r>
                      <a:r>
                        <a:rPr lang="id-ID" sz="2100" u="none" cap="none" strike="noStrike"/>
                        <a:t>(intuitif).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100"/>
                        <a:buFont typeface="Arial"/>
                        <a:buNone/>
                      </a:pPr>
                      <a:r>
                        <a:rPr lang="id-ID" sz="2100" u="none" cap="none" strike="noStrike"/>
                        <a:t>Pengembangan ilmu bertujuan untuk lebih mendekat kepada Pencipta, dan untuk</a:t>
                      </a:r>
                      <a:r>
                        <a:rPr lang="id-ID" sz="2100" u="none" cap="none" strike="noStrike">
                          <a:solidFill>
                            <a:srgbClr val="000000"/>
                          </a:solidFill>
                        </a:rPr>
                        <a:t> mewujudkan kebaikan dan kemanfaatan di dunia.</a:t>
                      </a:r>
                      <a:endParaRPr sz="2100" u="none" cap="none" strike="noStrike"/>
                    </a:p>
                  </a:txBody>
                  <a:tcPr marT="45725" marB="45725" marR="91450" marL="91450"/>
                </a:tc>
              </a:tr>
            </a:tbl>
          </a:graphicData>
        </a:graphic>
      </p:graphicFrame>
      <p:sp>
        <p:nvSpPr>
          <p:cNvPr id="322" name="Google Shape;322;p13"/>
          <p:cNvSpPr txBox="1"/>
          <p:nvPr/>
        </p:nvSpPr>
        <p:spPr>
          <a:xfrm>
            <a:off x="441433" y="5743187"/>
            <a:ext cx="6603124" cy="584775"/>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Calibri"/>
                <a:ea typeface="Calibri"/>
                <a:cs typeface="Calibri"/>
                <a:sym typeface="Calibri"/>
              </a:rPr>
              <a:t>Mulyadi Kartanegara, </a:t>
            </a:r>
            <a:r>
              <a:rPr b="0" i="1" lang="id-ID" sz="1600" u="none" cap="none" strike="noStrike">
                <a:solidFill>
                  <a:schemeClr val="dk1"/>
                </a:solidFill>
                <a:latin typeface="Calibri"/>
                <a:ea typeface="Calibri"/>
                <a:cs typeface="Calibri"/>
                <a:sym typeface="Calibri"/>
              </a:rPr>
              <a:t>Essentials of Islamic Epistemology </a:t>
            </a:r>
            <a:r>
              <a:rPr b="0" i="0" lang="id-ID" sz="1600" u="none" cap="none" strike="noStrike">
                <a:solidFill>
                  <a:schemeClr val="dk1"/>
                </a:solidFill>
                <a:latin typeface="Calibri"/>
                <a:ea typeface="Calibri"/>
                <a:cs typeface="Calibri"/>
                <a:sym typeface="Calibri"/>
              </a:rPr>
              <a:t>(Bandar Sri Begawan: Universiti Brunei Darussalam Press, 2014), 51-60; 61-73.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sp>
        <p:nvSpPr>
          <p:cNvPr id="328" name="Google Shape;328;p1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14"/>
          <p:cNvSpPr/>
          <p:nvPr/>
        </p:nvSpPr>
        <p:spPr>
          <a:xfrm>
            <a:off x="1" y="752347"/>
            <a:ext cx="12191999" cy="6105653"/>
          </a:xfrm>
          <a:custGeom>
            <a:rect b="b" l="l" r="r" t="t"/>
            <a:pathLst>
              <a:path extrusionOk="0" h="6105653" w="12191999">
                <a:moveTo>
                  <a:pt x="7538181" y="484"/>
                </a:moveTo>
                <a:cubicBezTo>
                  <a:pt x="7546999" y="-833"/>
                  <a:pt x="7557492" y="439"/>
                  <a:pt x="7569993" y="5527"/>
                </a:cubicBezTo>
                <a:cubicBezTo>
                  <a:pt x="7612855" y="22971"/>
                  <a:pt x="7598567" y="54953"/>
                  <a:pt x="7587853" y="84028"/>
                </a:cubicBezTo>
                <a:cubicBezTo>
                  <a:pt x="7559278" y="153806"/>
                  <a:pt x="7559278" y="229401"/>
                  <a:pt x="7559278" y="325347"/>
                </a:cubicBezTo>
                <a:cubicBezTo>
                  <a:pt x="7695009" y="243938"/>
                  <a:pt x="7652146" y="95658"/>
                  <a:pt x="7795021" y="25878"/>
                </a:cubicBezTo>
                <a:cubicBezTo>
                  <a:pt x="7820024" y="113102"/>
                  <a:pt x="7770018" y="179974"/>
                  <a:pt x="7759302" y="249752"/>
                </a:cubicBezTo>
                <a:cubicBezTo>
                  <a:pt x="7748587" y="313717"/>
                  <a:pt x="7773590" y="328254"/>
                  <a:pt x="7852171" y="313717"/>
                </a:cubicBezTo>
                <a:cubicBezTo>
                  <a:pt x="7973615" y="290457"/>
                  <a:pt x="8034337" y="325347"/>
                  <a:pt x="8002190" y="418385"/>
                </a:cubicBezTo>
                <a:cubicBezTo>
                  <a:pt x="7970043" y="505609"/>
                  <a:pt x="8016478" y="514331"/>
                  <a:pt x="8084343" y="491072"/>
                </a:cubicBezTo>
                <a:cubicBezTo>
                  <a:pt x="8184355" y="456182"/>
                  <a:pt x="8262937" y="493979"/>
                  <a:pt x="8348662" y="520146"/>
                </a:cubicBezTo>
                <a:cubicBezTo>
                  <a:pt x="8477249" y="560851"/>
                  <a:pt x="8541543" y="543406"/>
                  <a:pt x="8637984" y="459090"/>
                </a:cubicBezTo>
                <a:cubicBezTo>
                  <a:pt x="8691561" y="409663"/>
                  <a:pt x="8737996" y="360236"/>
                  <a:pt x="8784431" y="290457"/>
                </a:cubicBezTo>
                <a:cubicBezTo>
                  <a:pt x="8809434" y="450367"/>
                  <a:pt x="8895158" y="284642"/>
                  <a:pt x="8948737" y="339884"/>
                </a:cubicBezTo>
                <a:cubicBezTo>
                  <a:pt x="8970168" y="453274"/>
                  <a:pt x="8798717" y="543406"/>
                  <a:pt x="8848725" y="697501"/>
                </a:cubicBezTo>
                <a:cubicBezTo>
                  <a:pt x="8995171" y="511424"/>
                  <a:pt x="9041606" y="302087"/>
                  <a:pt x="9238059" y="165437"/>
                </a:cubicBezTo>
                <a:cubicBezTo>
                  <a:pt x="9280921" y="197419"/>
                  <a:pt x="9238059" y="229401"/>
                  <a:pt x="9255919" y="255567"/>
                </a:cubicBezTo>
                <a:cubicBezTo>
                  <a:pt x="9266634" y="255567"/>
                  <a:pt x="9198767" y="560851"/>
                  <a:pt x="9477374" y="578295"/>
                </a:cubicBezTo>
                <a:cubicBezTo>
                  <a:pt x="9477374" y="584110"/>
                  <a:pt x="9477374" y="589925"/>
                  <a:pt x="9488091" y="595740"/>
                </a:cubicBezTo>
                <a:cubicBezTo>
                  <a:pt x="9527380" y="627722"/>
                  <a:pt x="9620249" y="598648"/>
                  <a:pt x="9627393" y="650981"/>
                </a:cubicBezTo>
                <a:cubicBezTo>
                  <a:pt x="9634537" y="709131"/>
                  <a:pt x="9666684" y="764373"/>
                  <a:pt x="9648824" y="825429"/>
                </a:cubicBezTo>
                <a:cubicBezTo>
                  <a:pt x="9634537" y="871948"/>
                  <a:pt x="9616678" y="921374"/>
                  <a:pt x="9616678" y="970802"/>
                </a:cubicBezTo>
                <a:cubicBezTo>
                  <a:pt x="9616678" y="1023136"/>
                  <a:pt x="9495233" y="1095822"/>
                  <a:pt x="9655968" y="1127805"/>
                </a:cubicBezTo>
                <a:cubicBezTo>
                  <a:pt x="9663111" y="1127805"/>
                  <a:pt x="9645252" y="1217935"/>
                  <a:pt x="9638109" y="1267362"/>
                </a:cubicBezTo>
                <a:cubicBezTo>
                  <a:pt x="9630965" y="1308066"/>
                  <a:pt x="9598818" y="1357494"/>
                  <a:pt x="9663111" y="1386568"/>
                </a:cubicBezTo>
                <a:cubicBezTo>
                  <a:pt x="9702403" y="1401105"/>
                  <a:pt x="9773840" y="1331326"/>
                  <a:pt x="9780984" y="1270269"/>
                </a:cubicBezTo>
                <a:cubicBezTo>
                  <a:pt x="9788127" y="1215028"/>
                  <a:pt x="9795271" y="1159787"/>
                  <a:pt x="9780984" y="1107452"/>
                </a:cubicBezTo>
                <a:cubicBezTo>
                  <a:pt x="9763125" y="1043488"/>
                  <a:pt x="9791699" y="1008598"/>
                  <a:pt x="9855993" y="991154"/>
                </a:cubicBezTo>
                <a:cubicBezTo>
                  <a:pt x="9923858" y="970802"/>
                  <a:pt x="9959577" y="933005"/>
                  <a:pt x="9991724" y="880670"/>
                </a:cubicBezTo>
                <a:cubicBezTo>
                  <a:pt x="10070305" y="752742"/>
                  <a:pt x="10163174" y="630630"/>
                  <a:pt x="10209609" y="491071"/>
                </a:cubicBezTo>
                <a:cubicBezTo>
                  <a:pt x="10216753" y="464905"/>
                  <a:pt x="10231040" y="432923"/>
                  <a:pt x="10291762" y="421292"/>
                </a:cubicBezTo>
                <a:cubicBezTo>
                  <a:pt x="10198893" y="799262"/>
                  <a:pt x="9959577" y="1142341"/>
                  <a:pt x="9973865" y="1531941"/>
                </a:cubicBezTo>
                <a:cubicBezTo>
                  <a:pt x="10048874" y="1427272"/>
                  <a:pt x="10052446" y="1302252"/>
                  <a:pt x="10106024" y="1188861"/>
                </a:cubicBezTo>
                <a:cubicBezTo>
                  <a:pt x="10145315" y="1270269"/>
                  <a:pt x="10102453" y="1345863"/>
                  <a:pt x="10081022" y="1421458"/>
                </a:cubicBezTo>
                <a:cubicBezTo>
                  <a:pt x="10063162" y="1485421"/>
                  <a:pt x="10059590" y="1543570"/>
                  <a:pt x="10170318" y="1549385"/>
                </a:cubicBezTo>
                <a:cubicBezTo>
                  <a:pt x="10181034" y="1549385"/>
                  <a:pt x="10188178" y="1549385"/>
                  <a:pt x="10198893" y="1549385"/>
                </a:cubicBezTo>
                <a:cubicBezTo>
                  <a:pt x="10245327" y="1526126"/>
                  <a:pt x="10266759" y="1494144"/>
                  <a:pt x="10281046" y="1453439"/>
                </a:cubicBezTo>
                <a:cubicBezTo>
                  <a:pt x="10288190" y="1430180"/>
                  <a:pt x="10302477" y="1398198"/>
                  <a:pt x="10334625" y="1398198"/>
                </a:cubicBezTo>
                <a:cubicBezTo>
                  <a:pt x="10456068" y="1401105"/>
                  <a:pt x="10491787" y="1322604"/>
                  <a:pt x="10527506" y="1247010"/>
                </a:cubicBezTo>
                <a:cubicBezTo>
                  <a:pt x="10588228" y="1287714"/>
                  <a:pt x="10545365" y="1322604"/>
                  <a:pt x="10548937" y="1354586"/>
                </a:cubicBezTo>
                <a:cubicBezTo>
                  <a:pt x="10552509" y="1374938"/>
                  <a:pt x="10556080" y="1395290"/>
                  <a:pt x="10588228" y="1395290"/>
                </a:cubicBezTo>
                <a:cubicBezTo>
                  <a:pt x="10613230" y="1395290"/>
                  <a:pt x="10645378" y="1386568"/>
                  <a:pt x="10645378" y="1366216"/>
                </a:cubicBezTo>
                <a:cubicBezTo>
                  <a:pt x="10648949" y="1238288"/>
                  <a:pt x="10820400" y="1165601"/>
                  <a:pt x="10820400" y="1031858"/>
                </a:cubicBezTo>
                <a:cubicBezTo>
                  <a:pt x="10820400" y="950449"/>
                  <a:pt x="10916840" y="1072563"/>
                  <a:pt x="10956131" y="1005691"/>
                </a:cubicBezTo>
                <a:cubicBezTo>
                  <a:pt x="10966847" y="991154"/>
                  <a:pt x="10981133" y="1046395"/>
                  <a:pt x="10977562" y="1069655"/>
                </a:cubicBezTo>
                <a:cubicBezTo>
                  <a:pt x="10973991" y="1092915"/>
                  <a:pt x="10948987" y="1113267"/>
                  <a:pt x="10966847" y="1142341"/>
                </a:cubicBezTo>
                <a:cubicBezTo>
                  <a:pt x="11031140" y="1156879"/>
                  <a:pt x="11056143" y="1119081"/>
                  <a:pt x="11074003" y="1084192"/>
                </a:cubicBezTo>
                <a:cubicBezTo>
                  <a:pt x="11116865" y="1008598"/>
                  <a:pt x="11166871" y="933005"/>
                  <a:pt x="11181159" y="848688"/>
                </a:cubicBezTo>
                <a:cubicBezTo>
                  <a:pt x="11184730" y="819614"/>
                  <a:pt x="11202590" y="802169"/>
                  <a:pt x="11238309" y="805077"/>
                </a:cubicBezTo>
                <a:cubicBezTo>
                  <a:pt x="11284744" y="810891"/>
                  <a:pt x="11270456" y="839966"/>
                  <a:pt x="11266884" y="863226"/>
                </a:cubicBezTo>
                <a:cubicBezTo>
                  <a:pt x="11263312" y="877763"/>
                  <a:pt x="11252596" y="892300"/>
                  <a:pt x="11277600" y="906838"/>
                </a:cubicBezTo>
                <a:cubicBezTo>
                  <a:pt x="11531203" y="566666"/>
                  <a:pt x="11516915" y="386403"/>
                  <a:pt x="11724084" y="5527"/>
                </a:cubicBezTo>
                <a:cubicBezTo>
                  <a:pt x="11763375" y="89842"/>
                  <a:pt x="11734800" y="150899"/>
                  <a:pt x="11727656" y="209048"/>
                </a:cubicBezTo>
                <a:cubicBezTo>
                  <a:pt x="11709796" y="354421"/>
                  <a:pt x="11677649" y="264290"/>
                  <a:pt x="11656218" y="409663"/>
                </a:cubicBezTo>
                <a:cubicBezTo>
                  <a:pt x="11645503" y="479442"/>
                  <a:pt x="11609784" y="543406"/>
                  <a:pt x="11666934" y="621907"/>
                </a:cubicBezTo>
                <a:cubicBezTo>
                  <a:pt x="11706225" y="674241"/>
                  <a:pt x="11663362" y="758557"/>
                  <a:pt x="11631215" y="822521"/>
                </a:cubicBezTo>
                <a:cubicBezTo>
                  <a:pt x="11602640" y="874856"/>
                  <a:pt x="11595497" y="927190"/>
                  <a:pt x="11631215" y="996969"/>
                </a:cubicBezTo>
                <a:cubicBezTo>
                  <a:pt x="11652646" y="933005"/>
                  <a:pt x="11670505" y="883578"/>
                  <a:pt x="11684793" y="834151"/>
                </a:cubicBezTo>
                <a:cubicBezTo>
                  <a:pt x="11695509" y="793447"/>
                  <a:pt x="11720512" y="770187"/>
                  <a:pt x="11774090" y="773095"/>
                </a:cubicBezTo>
                <a:cubicBezTo>
                  <a:pt x="11802665" y="773095"/>
                  <a:pt x="11841956" y="764373"/>
                  <a:pt x="11856243" y="793447"/>
                </a:cubicBezTo>
                <a:cubicBezTo>
                  <a:pt x="11870531" y="816706"/>
                  <a:pt x="11856243" y="848688"/>
                  <a:pt x="11831240" y="860319"/>
                </a:cubicBezTo>
                <a:cubicBezTo>
                  <a:pt x="11784806" y="874856"/>
                  <a:pt x="11741944" y="889393"/>
                  <a:pt x="11738371" y="938820"/>
                </a:cubicBezTo>
                <a:cubicBezTo>
                  <a:pt x="11731228" y="1005691"/>
                  <a:pt x="11759802" y="967894"/>
                  <a:pt x="11795521" y="956264"/>
                </a:cubicBezTo>
                <a:cubicBezTo>
                  <a:pt x="11834812" y="944634"/>
                  <a:pt x="11845527" y="979524"/>
                  <a:pt x="11838384" y="1002784"/>
                </a:cubicBezTo>
                <a:cubicBezTo>
                  <a:pt x="11806237" y="1090007"/>
                  <a:pt x="11863387" y="1180138"/>
                  <a:pt x="11816952" y="1270269"/>
                </a:cubicBezTo>
                <a:cubicBezTo>
                  <a:pt x="11931252" y="1247010"/>
                  <a:pt x="11981259" y="1197583"/>
                  <a:pt x="11999118" y="1092915"/>
                </a:cubicBezTo>
                <a:cubicBezTo>
                  <a:pt x="12002690" y="1055118"/>
                  <a:pt x="11995547" y="1014413"/>
                  <a:pt x="12027693" y="979524"/>
                </a:cubicBezTo>
                <a:cubicBezTo>
                  <a:pt x="12045553" y="959172"/>
                  <a:pt x="12066984" y="938820"/>
                  <a:pt x="12102703" y="953357"/>
                </a:cubicBezTo>
                <a:cubicBezTo>
                  <a:pt x="12127705" y="962080"/>
                  <a:pt x="12127705" y="985338"/>
                  <a:pt x="12120562" y="1005691"/>
                </a:cubicBezTo>
                <a:cubicBezTo>
                  <a:pt x="12081272" y="1090007"/>
                  <a:pt x="12070555" y="1180138"/>
                  <a:pt x="12056268" y="1267362"/>
                </a:cubicBezTo>
                <a:cubicBezTo>
                  <a:pt x="12052697" y="1281899"/>
                  <a:pt x="12045553" y="1296437"/>
                  <a:pt x="12081272" y="1310974"/>
                </a:cubicBezTo>
                <a:cubicBezTo>
                  <a:pt x="12113418" y="1209213"/>
                  <a:pt x="12156280" y="1110359"/>
                  <a:pt x="12191999" y="1008598"/>
                </a:cubicBezTo>
                <a:lnTo>
                  <a:pt x="12191999" y="6105653"/>
                </a:lnTo>
                <a:lnTo>
                  <a:pt x="0" y="6105653"/>
                </a:lnTo>
                <a:lnTo>
                  <a:pt x="0" y="927116"/>
                </a:lnTo>
                <a:lnTo>
                  <a:pt x="61930" y="902578"/>
                </a:lnTo>
                <a:cubicBezTo>
                  <a:pt x="91454" y="894128"/>
                  <a:pt x="122931" y="887949"/>
                  <a:pt x="155971" y="883588"/>
                </a:cubicBezTo>
                <a:cubicBezTo>
                  <a:pt x="223837" y="877773"/>
                  <a:pt x="245268" y="839976"/>
                  <a:pt x="277414" y="802179"/>
                </a:cubicBezTo>
                <a:cubicBezTo>
                  <a:pt x="388143" y="674251"/>
                  <a:pt x="488155" y="537601"/>
                  <a:pt x="638174" y="430025"/>
                </a:cubicBezTo>
                <a:cubicBezTo>
                  <a:pt x="620315" y="555046"/>
                  <a:pt x="520302" y="653899"/>
                  <a:pt x="477440" y="784735"/>
                </a:cubicBezTo>
                <a:cubicBezTo>
                  <a:pt x="641746" y="680066"/>
                  <a:pt x="727471" y="543415"/>
                  <a:pt x="827483" y="418395"/>
                </a:cubicBezTo>
                <a:cubicBezTo>
                  <a:pt x="873917" y="360246"/>
                  <a:pt x="931068" y="307912"/>
                  <a:pt x="956071" y="241040"/>
                </a:cubicBezTo>
                <a:cubicBezTo>
                  <a:pt x="961429" y="223595"/>
                  <a:pt x="972814" y="196338"/>
                  <a:pt x="999268" y="192386"/>
                </a:cubicBezTo>
                <a:cubicBezTo>
                  <a:pt x="1008086" y="191069"/>
                  <a:pt x="1018579" y="192341"/>
                  <a:pt x="1031080" y="197429"/>
                </a:cubicBezTo>
                <a:cubicBezTo>
                  <a:pt x="1073942" y="214873"/>
                  <a:pt x="1059654" y="246855"/>
                  <a:pt x="1048940" y="275930"/>
                </a:cubicBezTo>
                <a:cubicBezTo>
                  <a:pt x="1020365" y="345708"/>
                  <a:pt x="1020365" y="421303"/>
                  <a:pt x="1020365" y="517249"/>
                </a:cubicBezTo>
                <a:cubicBezTo>
                  <a:pt x="1156096" y="435840"/>
                  <a:pt x="1113233" y="287560"/>
                  <a:pt x="1256108" y="217780"/>
                </a:cubicBezTo>
                <a:cubicBezTo>
                  <a:pt x="1281111" y="305004"/>
                  <a:pt x="1231105" y="371876"/>
                  <a:pt x="1220389" y="441654"/>
                </a:cubicBezTo>
                <a:cubicBezTo>
                  <a:pt x="1209674" y="505619"/>
                  <a:pt x="1234677" y="520156"/>
                  <a:pt x="1313258" y="505619"/>
                </a:cubicBezTo>
                <a:cubicBezTo>
                  <a:pt x="1434702" y="482359"/>
                  <a:pt x="1495424" y="517249"/>
                  <a:pt x="1463277" y="610287"/>
                </a:cubicBezTo>
                <a:cubicBezTo>
                  <a:pt x="1431130" y="697511"/>
                  <a:pt x="1477565" y="706233"/>
                  <a:pt x="1545430" y="682974"/>
                </a:cubicBezTo>
                <a:cubicBezTo>
                  <a:pt x="1645442" y="648084"/>
                  <a:pt x="1724024" y="685881"/>
                  <a:pt x="1809749" y="712048"/>
                </a:cubicBezTo>
                <a:cubicBezTo>
                  <a:pt x="1938336" y="752753"/>
                  <a:pt x="2002630" y="735308"/>
                  <a:pt x="2099071" y="650992"/>
                </a:cubicBezTo>
                <a:cubicBezTo>
                  <a:pt x="2152648" y="601565"/>
                  <a:pt x="2199083" y="552138"/>
                  <a:pt x="2245518" y="482359"/>
                </a:cubicBezTo>
                <a:cubicBezTo>
                  <a:pt x="2270521" y="642269"/>
                  <a:pt x="2356245" y="476544"/>
                  <a:pt x="2409824" y="531786"/>
                </a:cubicBezTo>
                <a:cubicBezTo>
                  <a:pt x="2431255" y="645176"/>
                  <a:pt x="2259804" y="735308"/>
                  <a:pt x="2309812" y="889403"/>
                </a:cubicBezTo>
                <a:cubicBezTo>
                  <a:pt x="2456258" y="703326"/>
                  <a:pt x="2502693" y="493989"/>
                  <a:pt x="2699146" y="357339"/>
                </a:cubicBezTo>
                <a:cubicBezTo>
                  <a:pt x="2742008" y="389321"/>
                  <a:pt x="2699146" y="421303"/>
                  <a:pt x="2717006" y="447469"/>
                </a:cubicBezTo>
                <a:cubicBezTo>
                  <a:pt x="2727721" y="447469"/>
                  <a:pt x="2659854" y="752753"/>
                  <a:pt x="2938461" y="770197"/>
                </a:cubicBezTo>
                <a:cubicBezTo>
                  <a:pt x="2938461" y="776012"/>
                  <a:pt x="2938461" y="781827"/>
                  <a:pt x="2949178" y="787642"/>
                </a:cubicBezTo>
                <a:cubicBezTo>
                  <a:pt x="2988467" y="819624"/>
                  <a:pt x="3081336" y="790550"/>
                  <a:pt x="3088480" y="842883"/>
                </a:cubicBezTo>
                <a:cubicBezTo>
                  <a:pt x="3095624" y="901033"/>
                  <a:pt x="3127771" y="956275"/>
                  <a:pt x="3109911" y="1017331"/>
                </a:cubicBezTo>
                <a:cubicBezTo>
                  <a:pt x="3095624" y="1063850"/>
                  <a:pt x="3077765" y="1113276"/>
                  <a:pt x="3077765" y="1162704"/>
                </a:cubicBezTo>
                <a:cubicBezTo>
                  <a:pt x="3077765" y="1215038"/>
                  <a:pt x="2956320" y="1287724"/>
                  <a:pt x="3117055" y="1319707"/>
                </a:cubicBezTo>
                <a:cubicBezTo>
                  <a:pt x="3124198" y="1319707"/>
                  <a:pt x="3106339" y="1409837"/>
                  <a:pt x="3099196" y="1459264"/>
                </a:cubicBezTo>
                <a:cubicBezTo>
                  <a:pt x="3092052" y="1499968"/>
                  <a:pt x="3059905" y="1549396"/>
                  <a:pt x="3124198" y="1578470"/>
                </a:cubicBezTo>
                <a:cubicBezTo>
                  <a:pt x="3163490" y="1593007"/>
                  <a:pt x="3234927" y="1523228"/>
                  <a:pt x="3242071" y="1462171"/>
                </a:cubicBezTo>
                <a:cubicBezTo>
                  <a:pt x="3249214" y="1406930"/>
                  <a:pt x="3256358" y="1351689"/>
                  <a:pt x="3242071" y="1299354"/>
                </a:cubicBezTo>
                <a:cubicBezTo>
                  <a:pt x="3224212" y="1235390"/>
                  <a:pt x="3252786" y="1200500"/>
                  <a:pt x="3317080" y="1183056"/>
                </a:cubicBezTo>
                <a:cubicBezTo>
                  <a:pt x="3384945" y="1162704"/>
                  <a:pt x="3420664" y="1124907"/>
                  <a:pt x="3452811" y="1072572"/>
                </a:cubicBezTo>
                <a:cubicBezTo>
                  <a:pt x="3531392" y="944644"/>
                  <a:pt x="3624261" y="822532"/>
                  <a:pt x="3670696" y="682973"/>
                </a:cubicBezTo>
                <a:cubicBezTo>
                  <a:pt x="3677840" y="656807"/>
                  <a:pt x="3692127" y="624825"/>
                  <a:pt x="3752849" y="613194"/>
                </a:cubicBezTo>
                <a:cubicBezTo>
                  <a:pt x="3659980" y="991164"/>
                  <a:pt x="3420664" y="1334243"/>
                  <a:pt x="3434952" y="1723843"/>
                </a:cubicBezTo>
                <a:cubicBezTo>
                  <a:pt x="3509961" y="1619174"/>
                  <a:pt x="3513533" y="1494154"/>
                  <a:pt x="3567111" y="1380763"/>
                </a:cubicBezTo>
                <a:cubicBezTo>
                  <a:pt x="3606402" y="1462171"/>
                  <a:pt x="3563540" y="1537765"/>
                  <a:pt x="3542109" y="1613360"/>
                </a:cubicBezTo>
                <a:cubicBezTo>
                  <a:pt x="3524249" y="1677323"/>
                  <a:pt x="3520677" y="1735472"/>
                  <a:pt x="3631405" y="1741287"/>
                </a:cubicBezTo>
                <a:cubicBezTo>
                  <a:pt x="3642121" y="1741287"/>
                  <a:pt x="3649265" y="1741287"/>
                  <a:pt x="3659980" y="1741287"/>
                </a:cubicBezTo>
                <a:cubicBezTo>
                  <a:pt x="3706414" y="1718028"/>
                  <a:pt x="3727846" y="1686046"/>
                  <a:pt x="3742133" y="1645341"/>
                </a:cubicBezTo>
                <a:cubicBezTo>
                  <a:pt x="3749277" y="1622082"/>
                  <a:pt x="3763564" y="1590100"/>
                  <a:pt x="3795712" y="1590100"/>
                </a:cubicBezTo>
                <a:cubicBezTo>
                  <a:pt x="3917155" y="1593007"/>
                  <a:pt x="3952874" y="1514506"/>
                  <a:pt x="3988593" y="1438912"/>
                </a:cubicBezTo>
                <a:cubicBezTo>
                  <a:pt x="4049315" y="1479616"/>
                  <a:pt x="4006452" y="1514506"/>
                  <a:pt x="4010024" y="1546488"/>
                </a:cubicBezTo>
                <a:cubicBezTo>
                  <a:pt x="4013596" y="1566840"/>
                  <a:pt x="4017167" y="1587192"/>
                  <a:pt x="4049315" y="1587192"/>
                </a:cubicBezTo>
                <a:cubicBezTo>
                  <a:pt x="4074317" y="1587192"/>
                  <a:pt x="4106465" y="1578470"/>
                  <a:pt x="4106465" y="1558118"/>
                </a:cubicBezTo>
                <a:cubicBezTo>
                  <a:pt x="4110036" y="1430190"/>
                  <a:pt x="4281487" y="1357503"/>
                  <a:pt x="4281487" y="1223760"/>
                </a:cubicBezTo>
                <a:cubicBezTo>
                  <a:pt x="4281487" y="1142351"/>
                  <a:pt x="4377927" y="1264465"/>
                  <a:pt x="4417219" y="1197593"/>
                </a:cubicBezTo>
                <a:cubicBezTo>
                  <a:pt x="4427935" y="1183056"/>
                  <a:pt x="4442220" y="1238297"/>
                  <a:pt x="4438649" y="1261557"/>
                </a:cubicBezTo>
                <a:cubicBezTo>
                  <a:pt x="4435078" y="1284817"/>
                  <a:pt x="4410074" y="1305169"/>
                  <a:pt x="4427935" y="1334243"/>
                </a:cubicBezTo>
                <a:cubicBezTo>
                  <a:pt x="4492228" y="1348781"/>
                  <a:pt x="4517230" y="1310983"/>
                  <a:pt x="4535090" y="1276094"/>
                </a:cubicBezTo>
                <a:cubicBezTo>
                  <a:pt x="4577952" y="1200500"/>
                  <a:pt x="4627958" y="1124907"/>
                  <a:pt x="4642246" y="1040590"/>
                </a:cubicBezTo>
                <a:cubicBezTo>
                  <a:pt x="4645817" y="1011516"/>
                  <a:pt x="4663677" y="994071"/>
                  <a:pt x="4699396" y="996979"/>
                </a:cubicBezTo>
                <a:cubicBezTo>
                  <a:pt x="4745832" y="1002793"/>
                  <a:pt x="4731544" y="1031868"/>
                  <a:pt x="4727971" y="1055128"/>
                </a:cubicBezTo>
                <a:cubicBezTo>
                  <a:pt x="4724399" y="1069665"/>
                  <a:pt x="4713683" y="1084202"/>
                  <a:pt x="4738688" y="1098740"/>
                </a:cubicBezTo>
                <a:cubicBezTo>
                  <a:pt x="4992291" y="758568"/>
                  <a:pt x="4978002" y="578305"/>
                  <a:pt x="5185172" y="197429"/>
                </a:cubicBezTo>
                <a:cubicBezTo>
                  <a:pt x="5224462" y="281744"/>
                  <a:pt x="5195887" y="342801"/>
                  <a:pt x="5188744" y="400950"/>
                </a:cubicBezTo>
                <a:cubicBezTo>
                  <a:pt x="5170883" y="546323"/>
                  <a:pt x="5138736" y="456192"/>
                  <a:pt x="5117306" y="601565"/>
                </a:cubicBezTo>
                <a:cubicBezTo>
                  <a:pt x="5106590" y="671344"/>
                  <a:pt x="5070871" y="735308"/>
                  <a:pt x="5128021" y="813809"/>
                </a:cubicBezTo>
                <a:cubicBezTo>
                  <a:pt x="5167312" y="866143"/>
                  <a:pt x="5124450" y="950459"/>
                  <a:pt x="5092302" y="1014423"/>
                </a:cubicBezTo>
                <a:cubicBezTo>
                  <a:pt x="5063727" y="1066758"/>
                  <a:pt x="5056585" y="1119092"/>
                  <a:pt x="5092302" y="1188871"/>
                </a:cubicBezTo>
                <a:cubicBezTo>
                  <a:pt x="5113734" y="1124907"/>
                  <a:pt x="5131592" y="1075480"/>
                  <a:pt x="5145880" y="1026053"/>
                </a:cubicBezTo>
                <a:cubicBezTo>
                  <a:pt x="5156596" y="985349"/>
                  <a:pt x="5181600" y="962089"/>
                  <a:pt x="5235177" y="964997"/>
                </a:cubicBezTo>
                <a:cubicBezTo>
                  <a:pt x="5263752" y="964997"/>
                  <a:pt x="5303044" y="956275"/>
                  <a:pt x="5317331" y="985349"/>
                </a:cubicBezTo>
                <a:cubicBezTo>
                  <a:pt x="5331618" y="1008608"/>
                  <a:pt x="5317331" y="1040590"/>
                  <a:pt x="5292327" y="1052221"/>
                </a:cubicBezTo>
                <a:cubicBezTo>
                  <a:pt x="5245894" y="1066758"/>
                  <a:pt x="5203031" y="1081295"/>
                  <a:pt x="5199458" y="1130722"/>
                </a:cubicBezTo>
                <a:cubicBezTo>
                  <a:pt x="5192315" y="1197593"/>
                  <a:pt x="5220889" y="1159796"/>
                  <a:pt x="5256608" y="1148166"/>
                </a:cubicBezTo>
                <a:cubicBezTo>
                  <a:pt x="5295899" y="1136536"/>
                  <a:pt x="5306616" y="1171426"/>
                  <a:pt x="5299471" y="1194686"/>
                </a:cubicBezTo>
                <a:cubicBezTo>
                  <a:pt x="5267324" y="1281909"/>
                  <a:pt x="5324474" y="1372040"/>
                  <a:pt x="5278039" y="1462171"/>
                </a:cubicBezTo>
                <a:cubicBezTo>
                  <a:pt x="5392339" y="1438912"/>
                  <a:pt x="5442347" y="1389485"/>
                  <a:pt x="5460205" y="1284817"/>
                </a:cubicBezTo>
                <a:cubicBezTo>
                  <a:pt x="5463777" y="1247020"/>
                  <a:pt x="5456634" y="1206315"/>
                  <a:pt x="5488780" y="1171426"/>
                </a:cubicBezTo>
                <a:cubicBezTo>
                  <a:pt x="5502175" y="1156162"/>
                  <a:pt x="5517579" y="1140898"/>
                  <a:pt x="5539513" y="1140353"/>
                </a:cubicBezTo>
                <a:lnTo>
                  <a:pt x="5552720" y="1143022"/>
                </a:lnTo>
                <a:lnTo>
                  <a:pt x="5574208" y="1115811"/>
                </a:lnTo>
                <a:cubicBezTo>
                  <a:pt x="5609034" y="1085646"/>
                  <a:pt x="5659040" y="1068202"/>
                  <a:pt x="5734050" y="1075470"/>
                </a:cubicBezTo>
                <a:cubicBezTo>
                  <a:pt x="5776912" y="1078377"/>
                  <a:pt x="5809058" y="1055118"/>
                  <a:pt x="5798343" y="1020228"/>
                </a:cubicBezTo>
                <a:cubicBezTo>
                  <a:pt x="5776912" y="953357"/>
                  <a:pt x="5837634" y="921375"/>
                  <a:pt x="5884068" y="883578"/>
                </a:cubicBezTo>
                <a:cubicBezTo>
                  <a:pt x="5966221" y="816706"/>
                  <a:pt x="6051947" y="752742"/>
                  <a:pt x="6066234" y="645166"/>
                </a:cubicBezTo>
                <a:cubicBezTo>
                  <a:pt x="6130528" y="665519"/>
                  <a:pt x="6123384" y="700408"/>
                  <a:pt x="6109096" y="732391"/>
                </a:cubicBezTo>
                <a:cubicBezTo>
                  <a:pt x="6073377" y="816706"/>
                  <a:pt x="6034087" y="901023"/>
                  <a:pt x="5998368" y="985338"/>
                </a:cubicBezTo>
                <a:cubicBezTo>
                  <a:pt x="5976937" y="1040581"/>
                  <a:pt x="5944790" y="1095822"/>
                  <a:pt x="5969793" y="1168509"/>
                </a:cubicBezTo>
                <a:cubicBezTo>
                  <a:pt x="6098380" y="1104545"/>
                  <a:pt x="6123384" y="996969"/>
                  <a:pt x="6162674" y="909745"/>
                </a:cubicBezTo>
                <a:cubicBezTo>
                  <a:pt x="6212681" y="802169"/>
                  <a:pt x="6305549" y="738205"/>
                  <a:pt x="6412705" y="659704"/>
                </a:cubicBezTo>
                <a:cubicBezTo>
                  <a:pt x="6441280" y="738205"/>
                  <a:pt x="6362699" y="787632"/>
                  <a:pt x="6366271" y="851596"/>
                </a:cubicBezTo>
                <a:cubicBezTo>
                  <a:pt x="6376987" y="854503"/>
                  <a:pt x="6398418" y="860319"/>
                  <a:pt x="6398418" y="860319"/>
                </a:cubicBezTo>
                <a:cubicBezTo>
                  <a:pt x="6455568" y="755650"/>
                  <a:pt x="6562724" y="709131"/>
                  <a:pt x="6694884" y="691686"/>
                </a:cubicBezTo>
                <a:cubicBezTo>
                  <a:pt x="6762750" y="685871"/>
                  <a:pt x="6784181" y="648074"/>
                  <a:pt x="6816327" y="610277"/>
                </a:cubicBezTo>
                <a:cubicBezTo>
                  <a:pt x="6927056" y="482349"/>
                  <a:pt x="7027068" y="345699"/>
                  <a:pt x="7177087" y="238123"/>
                </a:cubicBezTo>
                <a:cubicBezTo>
                  <a:pt x="7159228" y="363144"/>
                  <a:pt x="7059215" y="461997"/>
                  <a:pt x="7016353" y="592833"/>
                </a:cubicBezTo>
                <a:cubicBezTo>
                  <a:pt x="7180659" y="488164"/>
                  <a:pt x="7266384" y="351513"/>
                  <a:pt x="7366396" y="226493"/>
                </a:cubicBezTo>
                <a:cubicBezTo>
                  <a:pt x="7412830" y="168344"/>
                  <a:pt x="7469981" y="116010"/>
                  <a:pt x="7494984" y="49138"/>
                </a:cubicBezTo>
                <a:cubicBezTo>
                  <a:pt x="7500342" y="31693"/>
                  <a:pt x="7511727" y="4436"/>
                  <a:pt x="7538181" y="484"/>
                </a:cubicBezTo>
                <a:close/>
              </a:path>
            </a:pathLst>
          </a:custGeom>
          <a:solidFill>
            <a:schemeClr val="lt2">
              <a:alpha val="4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p14"/>
          <p:cNvSpPr txBox="1"/>
          <p:nvPr>
            <p:ph type="title"/>
          </p:nvPr>
        </p:nvSpPr>
        <p:spPr>
          <a:xfrm>
            <a:off x="646386" y="211085"/>
            <a:ext cx="1080463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id-ID"/>
              <a:t>Sumber dan Instrumen Ilmu</a:t>
            </a:r>
            <a:endParaRPr/>
          </a:p>
        </p:txBody>
      </p:sp>
      <p:grpSp>
        <p:nvGrpSpPr>
          <p:cNvPr id="331" name="Google Shape;331;p14"/>
          <p:cNvGrpSpPr/>
          <p:nvPr/>
        </p:nvGrpSpPr>
        <p:grpSpPr>
          <a:xfrm>
            <a:off x="1021467" y="1617722"/>
            <a:ext cx="7207956" cy="3737019"/>
            <a:chOff x="186313" y="0"/>
            <a:chExt cx="7207956" cy="3737019"/>
          </a:xfrm>
        </p:grpSpPr>
        <p:sp>
          <p:nvSpPr>
            <p:cNvPr id="332" name="Google Shape;332;p14"/>
            <p:cNvSpPr/>
            <p:nvPr/>
          </p:nvSpPr>
          <p:spPr>
            <a:xfrm>
              <a:off x="186313" y="743100"/>
              <a:ext cx="3516076" cy="413656"/>
            </a:xfrm>
            <a:prstGeom prst="rect">
              <a:avLst/>
            </a:prstGeom>
            <a:solidFill>
              <a:schemeClr val="accent2"/>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4"/>
            <p:cNvSpPr/>
            <p:nvPr/>
          </p:nvSpPr>
          <p:spPr>
            <a:xfrm>
              <a:off x="186313" y="898452"/>
              <a:ext cx="258303" cy="258303"/>
            </a:xfrm>
            <a:prstGeom prst="rect">
              <a:avLst/>
            </a:prstGeom>
            <a:solidFill>
              <a:schemeClr val="lt1">
                <a:alpha val="89411"/>
              </a:schemeClr>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4"/>
            <p:cNvSpPr/>
            <p:nvPr/>
          </p:nvSpPr>
          <p:spPr>
            <a:xfrm>
              <a:off x="186313" y="0"/>
              <a:ext cx="3516076" cy="743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4"/>
            <p:cNvSpPr txBox="1"/>
            <p:nvPr/>
          </p:nvSpPr>
          <p:spPr>
            <a:xfrm>
              <a:off x="186313" y="0"/>
              <a:ext cx="3516076" cy="743100"/>
            </a:xfrm>
            <a:prstGeom prst="rect">
              <a:avLst/>
            </a:prstGeom>
            <a:noFill/>
            <a:ln>
              <a:noFill/>
            </a:ln>
          </p:spPr>
          <p:txBody>
            <a:bodyPr anchorCtr="0" anchor="ctr" bIns="44450" lIns="66675" spcFirstLastPara="1" rIns="66675" wrap="square" tIns="44450">
              <a:noAutofit/>
            </a:bodyPr>
            <a:lstStyle/>
            <a:p>
              <a:pPr indent="0" lvl="0" marL="0" marR="0" rtl="0" algn="l">
                <a:lnSpc>
                  <a:spcPct val="90000"/>
                </a:lnSpc>
                <a:spcBef>
                  <a:spcPts val="0"/>
                </a:spcBef>
                <a:spcAft>
                  <a:spcPts val="0"/>
                </a:spcAft>
                <a:buClr>
                  <a:schemeClr val="dk1"/>
                </a:buClr>
                <a:buSzPts val="3500"/>
                <a:buFont typeface="Calibri"/>
                <a:buNone/>
              </a:pPr>
              <a:r>
                <a:rPr b="0" i="0" lang="id-ID" sz="3500" u="none" cap="none" strike="noStrike">
                  <a:solidFill>
                    <a:schemeClr val="dk1"/>
                  </a:solidFill>
                  <a:latin typeface="Calibri"/>
                  <a:ea typeface="Calibri"/>
                  <a:cs typeface="Calibri"/>
                  <a:sym typeface="Calibri"/>
                </a:rPr>
                <a:t>Sumber</a:t>
              </a:r>
              <a:endParaRPr b="0" i="0" sz="1400" u="none" cap="none" strike="noStrike">
                <a:solidFill>
                  <a:srgbClr val="000000"/>
                </a:solidFill>
                <a:latin typeface="Arial"/>
                <a:ea typeface="Arial"/>
                <a:cs typeface="Arial"/>
                <a:sym typeface="Arial"/>
              </a:endParaRPr>
            </a:p>
          </p:txBody>
        </p:sp>
        <p:sp>
          <p:nvSpPr>
            <p:cNvPr id="336" name="Google Shape;336;p14"/>
            <p:cNvSpPr/>
            <p:nvPr/>
          </p:nvSpPr>
          <p:spPr>
            <a:xfrm>
              <a:off x="186313" y="1500550"/>
              <a:ext cx="258297" cy="258297"/>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4"/>
            <p:cNvSpPr/>
            <p:nvPr/>
          </p:nvSpPr>
          <p:spPr>
            <a:xfrm>
              <a:off x="432439" y="1328653"/>
              <a:ext cx="3269950" cy="6020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4"/>
            <p:cNvSpPr txBox="1"/>
            <p:nvPr/>
          </p:nvSpPr>
          <p:spPr>
            <a:xfrm>
              <a:off x="432439" y="1328653"/>
              <a:ext cx="3269950" cy="602091"/>
            </a:xfrm>
            <a:prstGeom prst="rect">
              <a:avLst/>
            </a:prstGeom>
            <a:noFill/>
            <a:ln>
              <a:noFill/>
            </a:ln>
          </p:spPr>
          <p:txBody>
            <a:bodyPr anchorCtr="0" anchor="ctr" bIns="156450" lIns="156450" spcFirstLastPara="1" rIns="156450" wrap="square" tIns="156450">
              <a:noAutofit/>
            </a:bodyPr>
            <a:lstStyle/>
            <a:p>
              <a:pPr indent="0" lvl="0" marL="0" marR="0" rtl="0" algn="l">
                <a:lnSpc>
                  <a:spcPct val="90000"/>
                </a:lnSpc>
                <a:spcBef>
                  <a:spcPts val="0"/>
                </a:spcBef>
                <a:spcAft>
                  <a:spcPts val="0"/>
                </a:spcAft>
                <a:buClr>
                  <a:schemeClr val="dk1"/>
                </a:buClr>
                <a:buSzPts val="2200"/>
                <a:buFont typeface="Calibri"/>
                <a:buNone/>
              </a:pPr>
              <a:r>
                <a:rPr b="0" i="0" lang="id-ID" sz="2200" u="none" cap="none" strike="noStrike">
                  <a:solidFill>
                    <a:schemeClr val="dk1"/>
                  </a:solidFill>
                  <a:latin typeface="Calibri"/>
                  <a:ea typeface="Calibri"/>
                  <a:cs typeface="Calibri"/>
                  <a:sym typeface="Calibri"/>
                </a:rPr>
                <a:t>Alam Semesta</a:t>
              </a:r>
              <a:endParaRPr b="0" i="0" sz="1400" u="none" cap="none" strike="noStrike">
                <a:solidFill>
                  <a:srgbClr val="000000"/>
                </a:solidFill>
                <a:latin typeface="Arial"/>
                <a:ea typeface="Arial"/>
                <a:cs typeface="Arial"/>
                <a:sym typeface="Arial"/>
              </a:endParaRPr>
            </a:p>
          </p:txBody>
        </p:sp>
        <p:sp>
          <p:nvSpPr>
            <p:cNvPr id="339" name="Google Shape;339;p14"/>
            <p:cNvSpPr/>
            <p:nvPr/>
          </p:nvSpPr>
          <p:spPr>
            <a:xfrm>
              <a:off x="186313" y="2102642"/>
              <a:ext cx="258297" cy="258297"/>
            </a:xfrm>
            <a:prstGeom prst="rect">
              <a:avLst/>
            </a:prstGeom>
            <a:solidFill>
              <a:schemeClr val="lt1"/>
            </a:solidFill>
            <a:ln cap="flat" cmpd="sng" w="12700">
              <a:solidFill>
                <a:srgbClr val="08D0D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4"/>
            <p:cNvSpPr/>
            <p:nvPr/>
          </p:nvSpPr>
          <p:spPr>
            <a:xfrm>
              <a:off x="432439" y="1930744"/>
              <a:ext cx="3269950" cy="6020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14"/>
            <p:cNvSpPr txBox="1"/>
            <p:nvPr/>
          </p:nvSpPr>
          <p:spPr>
            <a:xfrm>
              <a:off x="432439" y="1930744"/>
              <a:ext cx="3269950" cy="602091"/>
            </a:xfrm>
            <a:prstGeom prst="rect">
              <a:avLst/>
            </a:prstGeom>
            <a:noFill/>
            <a:ln>
              <a:noFill/>
            </a:ln>
          </p:spPr>
          <p:txBody>
            <a:bodyPr anchorCtr="0" anchor="ctr" bIns="156450" lIns="156450" spcFirstLastPara="1" rIns="156450" wrap="square" tIns="156450">
              <a:noAutofit/>
            </a:bodyPr>
            <a:lstStyle/>
            <a:p>
              <a:pPr indent="0" lvl="0" marL="0" marR="0" rtl="0" algn="l">
                <a:lnSpc>
                  <a:spcPct val="90000"/>
                </a:lnSpc>
                <a:spcBef>
                  <a:spcPts val="0"/>
                </a:spcBef>
                <a:spcAft>
                  <a:spcPts val="0"/>
                </a:spcAft>
                <a:buClr>
                  <a:schemeClr val="dk1"/>
                </a:buClr>
                <a:buSzPts val="2200"/>
                <a:buFont typeface="Calibri"/>
                <a:buNone/>
              </a:pPr>
              <a:r>
                <a:rPr b="0" i="0" lang="id-ID" sz="2200" u="none" cap="none" strike="noStrike">
                  <a:solidFill>
                    <a:schemeClr val="dk1"/>
                  </a:solidFill>
                  <a:latin typeface="Calibri"/>
                  <a:ea typeface="Calibri"/>
                  <a:cs typeface="Calibri"/>
                  <a:sym typeface="Calibri"/>
                </a:rPr>
                <a:t>Kekuatan Rasio</a:t>
              </a:r>
              <a:endParaRPr b="0" i="0" sz="1400" u="none" cap="none" strike="noStrike">
                <a:solidFill>
                  <a:srgbClr val="000000"/>
                </a:solidFill>
                <a:latin typeface="Arial"/>
                <a:ea typeface="Arial"/>
                <a:cs typeface="Arial"/>
                <a:sym typeface="Arial"/>
              </a:endParaRPr>
            </a:p>
          </p:txBody>
        </p:sp>
        <p:sp>
          <p:nvSpPr>
            <p:cNvPr id="342" name="Google Shape;342;p14"/>
            <p:cNvSpPr/>
            <p:nvPr/>
          </p:nvSpPr>
          <p:spPr>
            <a:xfrm>
              <a:off x="186313" y="2704733"/>
              <a:ext cx="258297" cy="258297"/>
            </a:xfrm>
            <a:prstGeom prst="rect">
              <a:avLst/>
            </a:prstGeom>
            <a:solidFill>
              <a:schemeClr val="lt1"/>
            </a:solidFill>
            <a:ln cap="flat" cmpd="sng" w="12700">
              <a:solidFill>
                <a:srgbClr val="0DCF9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4"/>
            <p:cNvSpPr/>
            <p:nvPr/>
          </p:nvSpPr>
          <p:spPr>
            <a:xfrm>
              <a:off x="432439" y="2532836"/>
              <a:ext cx="3269950" cy="6020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4"/>
            <p:cNvSpPr txBox="1"/>
            <p:nvPr/>
          </p:nvSpPr>
          <p:spPr>
            <a:xfrm>
              <a:off x="432439" y="2532836"/>
              <a:ext cx="3269950" cy="602091"/>
            </a:xfrm>
            <a:prstGeom prst="rect">
              <a:avLst/>
            </a:prstGeom>
            <a:noFill/>
            <a:ln>
              <a:noFill/>
            </a:ln>
          </p:spPr>
          <p:txBody>
            <a:bodyPr anchorCtr="0" anchor="ctr" bIns="156450" lIns="156450" spcFirstLastPara="1" rIns="156450" wrap="square" tIns="156450">
              <a:noAutofit/>
            </a:bodyPr>
            <a:lstStyle/>
            <a:p>
              <a:pPr indent="0" lvl="0" marL="0" marR="0" rtl="0" algn="l">
                <a:lnSpc>
                  <a:spcPct val="90000"/>
                </a:lnSpc>
                <a:spcBef>
                  <a:spcPts val="0"/>
                </a:spcBef>
                <a:spcAft>
                  <a:spcPts val="0"/>
                </a:spcAft>
                <a:buClr>
                  <a:schemeClr val="dk1"/>
                </a:buClr>
                <a:buSzPts val="2200"/>
                <a:buFont typeface="Calibri"/>
                <a:buNone/>
              </a:pPr>
              <a:r>
                <a:rPr b="0" i="0" lang="id-ID" sz="2200" u="none" cap="none" strike="noStrike">
                  <a:solidFill>
                    <a:schemeClr val="dk1"/>
                  </a:solidFill>
                  <a:latin typeface="Calibri"/>
                  <a:ea typeface="Calibri"/>
                  <a:cs typeface="Calibri"/>
                  <a:sym typeface="Calibri"/>
                </a:rPr>
                <a:t>Intuisi Hati</a:t>
              </a:r>
              <a:endParaRPr b="0" i="0" sz="1400" u="none" cap="none" strike="noStrike">
                <a:solidFill>
                  <a:srgbClr val="000000"/>
                </a:solidFill>
                <a:latin typeface="Arial"/>
                <a:ea typeface="Arial"/>
                <a:cs typeface="Arial"/>
                <a:sym typeface="Arial"/>
              </a:endParaRPr>
            </a:p>
          </p:txBody>
        </p:sp>
        <p:sp>
          <p:nvSpPr>
            <p:cNvPr id="345" name="Google Shape;345;p14"/>
            <p:cNvSpPr/>
            <p:nvPr/>
          </p:nvSpPr>
          <p:spPr>
            <a:xfrm>
              <a:off x="186313" y="3306825"/>
              <a:ext cx="258297" cy="258297"/>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4"/>
            <p:cNvSpPr/>
            <p:nvPr/>
          </p:nvSpPr>
          <p:spPr>
            <a:xfrm>
              <a:off x="432439" y="3134928"/>
              <a:ext cx="3269950" cy="6020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4"/>
            <p:cNvSpPr txBox="1"/>
            <p:nvPr/>
          </p:nvSpPr>
          <p:spPr>
            <a:xfrm>
              <a:off x="432439" y="3134928"/>
              <a:ext cx="3269950" cy="602091"/>
            </a:xfrm>
            <a:prstGeom prst="rect">
              <a:avLst/>
            </a:prstGeom>
            <a:noFill/>
            <a:ln>
              <a:noFill/>
            </a:ln>
          </p:spPr>
          <p:txBody>
            <a:bodyPr anchorCtr="0" anchor="ctr" bIns="156450" lIns="156450" spcFirstLastPara="1" rIns="156450" wrap="square" tIns="156450">
              <a:noAutofit/>
            </a:bodyPr>
            <a:lstStyle/>
            <a:p>
              <a:pPr indent="0" lvl="0" marL="0" marR="0" rtl="0" algn="l">
                <a:lnSpc>
                  <a:spcPct val="90000"/>
                </a:lnSpc>
                <a:spcBef>
                  <a:spcPts val="0"/>
                </a:spcBef>
                <a:spcAft>
                  <a:spcPts val="0"/>
                </a:spcAft>
                <a:buClr>
                  <a:schemeClr val="dk1"/>
                </a:buClr>
                <a:buSzPts val="2200"/>
                <a:buFont typeface="Calibri"/>
                <a:buNone/>
              </a:pPr>
              <a:r>
                <a:rPr b="0" i="0" lang="id-ID" sz="2200" u="none" cap="none" strike="noStrike">
                  <a:solidFill>
                    <a:schemeClr val="dk1"/>
                  </a:solidFill>
                  <a:latin typeface="Calibri"/>
                  <a:ea typeface="Calibri"/>
                  <a:cs typeface="Calibri"/>
                  <a:sym typeface="Calibri"/>
                </a:rPr>
                <a:t>Wahyu</a:t>
              </a:r>
              <a:endParaRPr b="0" i="0" sz="1400" u="none" cap="none" strike="noStrike">
                <a:solidFill>
                  <a:srgbClr val="000000"/>
                </a:solidFill>
                <a:latin typeface="Arial"/>
                <a:ea typeface="Arial"/>
                <a:cs typeface="Arial"/>
                <a:sym typeface="Arial"/>
              </a:endParaRPr>
            </a:p>
          </p:txBody>
        </p:sp>
        <p:sp>
          <p:nvSpPr>
            <p:cNvPr id="348" name="Google Shape;348;p14"/>
            <p:cNvSpPr/>
            <p:nvPr/>
          </p:nvSpPr>
          <p:spPr>
            <a:xfrm>
              <a:off x="3878193" y="743100"/>
              <a:ext cx="3516076" cy="413656"/>
            </a:xfrm>
            <a:prstGeom prst="rect">
              <a:avLst/>
            </a:prstGeom>
            <a:solidFill>
              <a:srgbClr val="08D0D9"/>
            </a:solidFill>
            <a:ln cap="flat" cmpd="sng" w="12700">
              <a:solidFill>
                <a:srgbClr val="08D0D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4"/>
            <p:cNvSpPr/>
            <p:nvPr/>
          </p:nvSpPr>
          <p:spPr>
            <a:xfrm>
              <a:off x="3878193" y="898452"/>
              <a:ext cx="258303" cy="258303"/>
            </a:xfrm>
            <a:prstGeom prst="rect">
              <a:avLst/>
            </a:prstGeom>
            <a:solidFill>
              <a:schemeClr val="lt1">
                <a:alpha val="89411"/>
              </a:schemeClr>
            </a:solidFill>
            <a:ln cap="flat" cmpd="sng" w="12700">
              <a:solidFill>
                <a:srgbClr val="08D0D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4"/>
            <p:cNvSpPr/>
            <p:nvPr/>
          </p:nvSpPr>
          <p:spPr>
            <a:xfrm>
              <a:off x="3878193" y="0"/>
              <a:ext cx="3516076" cy="743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4"/>
            <p:cNvSpPr txBox="1"/>
            <p:nvPr/>
          </p:nvSpPr>
          <p:spPr>
            <a:xfrm>
              <a:off x="3878193" y="0"/>
              <a:ext cx="3516076" cy="743100"/>
            </a:xfrm>
            <a:prstGeom prst="rect">
              <a:avLst/>
            </a:prstGeom>
            <a:noFill/>
            <a:ln>
              <a:noFill/>
            </a:ln>
          </p:spPr>
          <p:txBody>
            <a:bodyPr anchorCtr="0" anchor="ctr" bIns="44450" lIns="66675" spcFirstLastPara="1" rIns="66675" wrap="square" tIns="44450">
              <a:noAutofit/>
            </a:bodyPr>
            <a:lstStyle/>
            <a:p>
              <a:pPr indent="0" lvl="0" marL="0" marR="0" rtl="0" algn="l">
                <a:lnSpc>
                  <a:spcPct val="90000"/>
                </a:lnSpc>
                <a:spcBef>
                  <a:spcPts val="0"/>
                </a:spcBef>
                <a:spcAft>
                  <a:spcPts val="0"/>
                </a:spcAft>
                <a:buClr>
                  <a:schemeClr val="dk1"/>
                </a:buClr>
                <a:buSzPts val="3500"/>
                <a:buFont typeface="Calibri"/>
                <a:buNone/>
              </a:pPr>
              <a:r>
                <a:rPr b="0" i="0" lang="id-ID" sz="3500" u="none" cap="none" strike="noStrike">
                  <a:solidFill>
                    <a:schemeClr val="dk1"/>
                  </a:solidFill>
                  <a:latin typeface="Calibri"/>
                  <a:ea typeface="Calibri"/>
                  <a:cs typeface="Calibri"/>
                  <a:sym typeface="Calibri"/>
                </a:rPr>
                <a:t>Instrumen </a:t>
              </a:r>
              <a:endParaRPr b="0" i="0" sz="1400" u="none" cap="none" strike="noStrike">
                <a:solidFill>
                  <a:srgbClr val="000000"/>
                </a:solidFill>
                <a:latin typeface="Arial"/>
                <a:ea typeface="Arial"/>
                <a:cs typeface="Arial"/>
                <a:sym typeface="Arial"/>
              </a:endParaRPr>
            </a:p>
          </p:txBody>
        </p:sp>
        <p:sp>
          <p:nvSpPr>
            <p:cNvPr id="352" name="Google Shape;352;p14"/>
            <p:cNvSpPr/>
            <p:nvPr/>
          </p:nvSpPr>
          <p:spPr>
            <a:xfrm>
              <a:off x="3878193" y="1500550"/>
              <a:ext cx="258297" cy="258297"/>
            </a:xfrm>
            <a:prstGeom prst="rect">
              <a:avLst/>
            </a:prstGeom>
            <a:solidFill>
              <a:schemeClr val="lt1"/>
            </a:solidFill>
            <a:ln cap="flat" cmpd="sng" w="12700">
              <a:solidFill>
                <a:srgbClr val="A3C147"/>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4"/>
            <p:cNvSpPr/>
            <p:nvPr/>
          </p:nvSpPr>
          <p:spPr>
            <a:xfrm>
              <a:off x="4124319" y="1328653"/>
              <a:ext cx="3269950" cy="6020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4"/>
            <p:cNvSpPr txBox="1"/>
            <p:nvPr/>
          </p:nvSpPr>
          <p:spPr>
            <a:xfrm>
              <a:off x="4124319" y="1328653"/>
              <a:ext cx="3269950" cy="602091"/>
            </a:xfrm>
            <a:prstGeom prst="rect">
              <a:avLst/>
            </a:prstGeom>
            <a:noFill/>
            <a:ln>
              <a:noFill/>
            </a:ln>
          </p:spPr>
          <p:txBody>
            <a:bodyPr anchorCtr="0" anchor="ctr" bIns="156450" lIns="156450" spcFirstLastPara="1" rIns="156450" wrap="square" tIns="156450">
              <a:noAutofit/>
            </a:bodyPr>
            <a:lstStyle/>
            <a:p>
              <a:pPr indent="0" lvl="0" marL="0" marR="0" rtl="0" algn="l">
                <a:lnSpc>
                  <a:spcPct val="90000"/>
                </a:lnSpc>
                <a:spcBef>
                  <a:spcPts val="0"/>
                </a:spcBef>
                <a:spcAft>
                  <a:spcPts val="0"/>
                </a:spcAft>
                <a:buClr>
                  <a:schemeClr val="dk1"/>
                </a:buClr>
                <a:buSzPts val="2200"/>
                <a:buFont typeface="Calibri"/>
                <a:buNone/>
              </a:pPr>
              <a:r>
                <a:rPr b="0" i="0" lang="id-ID" sz="2200" u="none" cap="none" strike="noStrike">
                  <a:solidFill>
                    <a:schemeClr val="dk1"/>
                  </a:solidFill>
                  <a:latin typeface="Calibri"/>
                  <a:ea typeface="Calibri"/>
                  <a:cs typeface="Calibri"/>
                  <a:sym typeface="Calibri"/>
                </a:rPr>
                <a:t>Persepsi Indera </a:t>
              </a:r>
              <a:endParaRPr b="0" i="0" sz="1400" u="none" cap="none" strike="noStrike">
                <a:solidFill>
                  <a:srgbClr val="000000"/>
                </a:solidFill>
                <a:latin typeface="Arial"/>
                <a:ea typeface="Arial"/>
                <a:cs typeface="Arial"/>
                <a:sym typeface="Arial"/>
              </a:endParaRPr>
            </a:p>
          </p:txBody>
        </p:sp>
        <p:sp>
          <p:nvSpPr>
            <p:cNvPr id="355" name="Google Shape;355;p14"/>
            <p:cNvSpPr/>
            <p:nvPr/>
          </p:nvSpPr>
          <p:spPr>
            <a:xfrm>
              <a:off x="3878193" y="2102642"/>
              <a:ext cx="258297" cy="258297"/>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4"/>
            <p:cNvSpPr/>
            <p:nvPr/>
          </p:nvSpPr>
          <p:spPr>
            <a:xfrm>
              <a:off x="4124319" y="1930744"/>
              <a:ext cx="3269950" cy="6020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4"/>
            <p:cNvSpPr txBox="1"/>
            <p:nvPr/>
          </p:nvSpPr>
          <p:spPr>
            <a:xfrm>
              <a:off x="4124319" y="1930744"/>
              <a:ext cx="3269950" cy="602091"/>
            </a:xfrm>
            <a:prstGeom prst="rect">
              <a:avLst/>
            </a:prstGeom>
            <a:noFill/>
            <a:ln>
              <a:noFill/>
            </a:ln>
          </p:spPr>
          <p:txBody>
            <a:bodyPr anchorCtr="0" anchor="ctr" bIns="156450" lIns="156450" spcFirstLastPara="1" rIns="156450" wrap="square" tIns="156450">
              <a:noAutofit/>
            </a:bodyPr>
            <a:lstStyle/>
            <a:p>
              <a:pPr indent="0" lvl="0" marL="0" marR="0" rtl="0" algn="l">
                <a:lnSpc>
                  <a:spcPct val="90000"/>
                </a:lnSpc>
                <a:spcBef>
                  <a:spcPts val="0"/>
                </a:spcBef>
                <a:spcAft>
                  <a:spcPts val="0"/>
                </a:spcAft>
                <a:buClr>
                  <a:schemeClr val="dk1"/>
                </a:buClr>
                <a:buSzPts val="2200"/>
                <a:buFont typeface="Calibri"/>
                <a:buNone/>
              </a:pPr>
              <a:r>
                <a:rPr b="0" i="0" lang="id-ID" sz="2200" u="none" cap="none" strike="noStrike">
                  <a:solidFill>
                    <a:schemeClr val="dk1"/>
                  </a:solidFill>
                  <a:latin typeface="Calibri"/>
                  <a:ea typeface="Calibri"/>
                  <a:cs typeface="Calibri"/>
                  <a:sym typeface="Calibri"/>
                </a:rPr>
                <a:t>Argumen Logika</a:t>
              </a:r>
              <a:endParaRPr b="0" i="0" sz="1400" u="none" cap="none" strike="noStrike">
                <a:solidFill>
                  <a:srgbClr val="000000"/>
                </a:solidFill>
                <a:latin typeface="Arial"/>
                <a:ea typeface="Arial"/>
                <a:cs typeface="Arial"/>
                <a:sym typeface="Arial"/>
              </a:endParaRPr>
            </a:p>
          </p:txBody>
        </p:sp>
        <p:sp>
          <p:nvSpPr>
            <p:cNvPr id="358" name="Google Shape;358;p14"/>
            <p:cNvSpPr/>
            <p:nvPr/>
          </p:nvSpPr>
          <p:spPr>
            <a:xfrm>
              <a:off x="3878193" y="2704733"/>
              <a:ext cx="258297" cy="258297"/>
            </a:xfrm>
            <a:prstGeom prst="rect">
              <a:avLst/>
            </a:prstGeom>
            <a:solidFill>
              <a:schemeClr val="lt1"/>
            </a:solidFill>
            <a:ln cap="flat" cmpd="sng" w="12700">
              <a:solidFill>
                <a:srgbClr val="08D0D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4"/>
            <p:cNvSpPr/>
            <p:nvPr/>
          </p:nvSpPr>
          <p:spPr>
            <a:xfrm>
              <a:off x="4124319" y="2532836"/>
              <a:ext cx="3269950" cy="6020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4"/>
            <p:cNvSpPr txBox="1"/>
            <p:nvPr/>
          </p:nvSpPr>
          <p:spPr>
            <a:xfrm>
              <a:off x="4124319" y="2532836"/>
              <a:ext cx="3269950" cy="602091"/>
            </a:xfrm>
            <a:prstGeom prst="rect">
              <a:avLst/>
            </a:prstGeom>
            <a:noFill/>
            <a:ln>
              <a:noFill/>
            </a:ln>
          </p:spPr>
          <p:txBody>
            <a:bodyPr anchorCtr="0" anchor="ctr" bIns="156450" lIns="156450" spcFirstLastPara="1" rIns="156450" wrap="square" tIns="156450">
              <a:noAutofit/>
            </a:bodyPr>
            <a:lstStyle/>
            <a:p>
              <a:pPr indent="0" lvl="0" marL="0" marR="0" rtl="0" algn="l">
                <a:lnSpc>
                  <a:spcPct val="90000"/>
                </a:lnSpc>
                <a:spcBef>
                  <a:spcPts val="0"/>
                </a:spcBef>
                <a:spcAft>
                  <a:spcPts val="0"/>
                </a:spcAft>
                <a:buClr>
                  <a:schemeClr val="dk1"/>
                </a:buClr>
                <a:buSzPts val="2200"/>
                <a:buFont typeface="Calibri"/>
                <a:buNone/>
              </a:pPr>
              <a:r>
                <a:rPr b="0" i="1" lang="id-ID" sz="2200" u="none" cap="none" strike="noStrike">
                  <a:solidFill>
                    <a:schemeClr val="dk1"/>
                  </a:solidFill>
                  <a:latin typeface="Calibri"/>
                  <a:ea typeface="Calibri"/>
                  <a:cs typeface="Calibri"/>
                  <a:sym typeface="Calibri"/>
                </a:rPr>
                <a:t>Tazkiyyat al-Nafs</a:t>
              </a:r>
              <a:endParaRPr b="0" i="0" sz="1400" u="none" cap="none" strike="noStrike">
                <a:solidFill>
                  <a:srgbClr val="000000"/>
                </a:solidFill>
                <a:latin typeface="Arial"/>
                <a:ea typeface="Arial"/>
                <a:cs typeface="Arial"/>
                <a:sym typeface="Arial"/>
              </a:endParaRPr>
            </a:p>
          </p:txBody>
        </p:sp>
        <p:sp>
          <p:nvSpPr>
            <p:cNvPr id="361" name="Google Shape;361;p14"/>
            <p:cNvSpPr/>
            <p:nvPr/>
          </p:nvSpPr>
          <p:spPr>
            <a:xfrm>
              <a:off x="3878193" y="3306825"/>
              <a:ext cx="258297" cy="258297"/>
            </a:xfrm>
            <a:prstGeom prst="rect">
              <a:avLst/>
            </a:prstGeom>
            <a:solidFill>
              <a:schemeClr val="lt1"/>
            </a:solidFill>
            <a:ln cap="flat" cmpd="sng" w="12700">
              <a:solidFill>
                <a:srgbClr val="0DCF9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4"/>
            <p:cNvSpPr/>
            <p:nvPr/>
          </p:nvSpPr>
          <p:spPr>
            <a:xfrm>
              <a:off x="4124319" y="3134928"/>
              <a:ext cx="3269950" cy="6020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4"/>
            <p:cNvSpPr txBox="1"/>
            <p:nvPr/>
          </p:nvSpPr>
          <p:spPr>
            <a:xfrm>
              <a:off x="4124319" y="3134928"/>
              <a:ext cx="3269950" cy="602091"/>
            </a:xfrm>
            <a:prstGeom prst="rect">
              <a:avLst/>
            </a:prstGeom>
            <a:noFill/>
            <a:ln>
              <a:noFill/>
            </a:ln>
          </p:spPr>
          <p:txBody>
            <a:bodyPr anchorCtr="0" anchor="ctr" bIns="156450" lIns="156450" spcFirstLastPara="1" rIns="156450" wrap="square" tIns="156450">
              <a:noAutofit/>
            </a:bodyPr>
            <a:lstStyle/>
            <a:p>
              <a:pPr indent="0" lvl="0" marL="0" marR="0" rtl="0" algn="l">
                <a:lnSpc>
                  <a:spcPct val="90000"/>
                </a:lnSpc>
                <a:spcBef>
                  <a:spcPts val="0"/>
                </a:spcBef>
                <a:spcAft>
                  <a:spcPts val="0"/>
                </a:spcAft>
                <a:buClr>
                  <a:schemeClr val="dk1"/>
                </a:buClr>
                <a:buSzPts val="2200"/>
                <a:buFont typeface="Calibri"/>
                <a:buNone/>
              </a:pPr>
              <a:r>
                <a:rPr b="0" i="1" lang="id-ID" sz="2200" u="none" cap="none" strike="noStrike">
                  <a:solidFill>
                    <a:schemeClr val="dk1"/>
                  </a:solidFill>
                  <a:latin typeface="Calibri"/>
                  <a:ea typeface="Calibri"/>
                  <a:cs typeface="Calibri"/>
                  <a:sym typeface="Calibri"/>
                </a:rPr>
                <a:t>Bayani </a:t>
              </a:r>
              <a:r>
                <a:rPr b="0" i="0" lang="id-ID" sz="2200" u="none" cap="none" strike="noStrike">
                  <a:solidFill>
                    <a:schemeClr val="dk1"/>
                  </a:solidFill>
                  <a:latin typeface="Calibri"/>
                  <a:ea typeface="Calibri"/>
                  <a:cs typeface="Calibri"/>
                  <a:sym typeface="Calibri"/>
                </a:rPr>
                <a:t>dan</a:t>
              </a:r>
              <a:r>
                <a:rPr b="0" i="1" lang="id-ID" sz="2200" u="none" cap="none" strike="noStrike">
                  <a:solidFill>
                    <a:schemeClr val="dk1"/>
                  </a:solidFill>
                  <a:latin typeface="Calibri"/>
                  <a:ea typeface="Calibri"/>
                  <a:cs typeface="Calibri"/>
                  <a:sym typeface="Calibri"/>
                </a:rPr>
                <a:t> Khitabi</a:t>
              </a:r>
              <a:endParaRPr b="0" i="0" sz="1400" u="none" cap="none" strike="noStrike">
                <a:solidFill>
                  <a:srgbClr val="000000"/>
                </a:solidFill>
                <a:latin typeface="Arial"/>
                <a:ea typeface="Arial"/>
                <a:cs typeface="Arial"/>
                <a:sym typeface="Arial"/>
              </a:endParaRPr>
            </a:p>
          </p:txBody>
        </p:sp>
      </p:grpSp>
      <p:sp>
        <p:nvSpPr>
          <p:cNvPr id="364" name="Google Shape;364;p14"/>
          <p:cNvSpPr txBox="1"/>
          <p:nvPr/>
        </p:nvSpPr>
        <p:spPr>
          <a:xfrm>
            <a:off x="835154" y="5813265"/>
            <a:ext cx="6145924" cy="584775"/>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Calibri"/>
                <a:ea typeface="Calibri"/>
                <a:cs typeface="Calibri"/>
                <a:sym typeface="Calibri"/>
              </a:rPr>
              <a:t>Murtadha Muthahhari, </a:t>
            </a:r>
            <a:r>
              <a:rPr b="0" i="1" lang="id-ID" sz="1600" u="none" cap="none" strike="noStrike">
                <a:solidFill>
                  <a:schemeClr val="dk1"/>
                </a:solidFill>
                <a:latin typeface="Calibri"/>
                <a:ea typeface="Calibri"/>
                <a:cs typeface="Calibri"/>
                <a:sym typeface="Calibri"/>
              </a:rPr>
              <a:t>Pengantar Epistemologi Islam</a:t>
            </a:r>
            <a:r>
              <a:rPr b="0" i="0" lang="id-ID" sz="1600" u="none" cap="none" strike="noStrike">
                <a:solidFill>
                  <a:schemeClr val="dk1"/>
                </a:solidFill>
                <a:latin typeface="Calibri"/>
                <a:ea typeface="Calibri"/>
                <a:cs typeface="Calibri"/>
                <a:sym typeface="Calibri"/>
              </a:rPr>
              <a:t>, terj. Muhammad Jawad Bafaqih (Jakarta: Shadra Press, 2010), 72-79.</a:t>
            </a:r>
            <a:endParaRPr b="0" i="0" sz="1600" u="none" cap="none" strike="noStrike">
              <a:solidFill>
                <a:schemeClr val="dk1"/>
              </a:solidFill>
              <a:latin typeface="Calibri"/>
              <a:ea typeface="Calibri"/>
              <a:cs typeface="Calibri"/>
              <a:sym typeface="Calibri"/>
            </a:endParaRPr>
          </a:p>
        </p:txBody>
      </p:sp>
      <p:pic>
        <p:nvPicPr>
          <p:cNvPr descr="A person sitting on a rock with a light shining through the back&#10;&#10;Description automatically generated" id="365" name="Google Shape;365;p14"/>
          <p:cNvPicPr preferRelativeResize="0"/>
          <p:nvPr/>
        </p:nvPicPr>
        <p:blipFill rotWithShape="1">
          <a:blip r:embed="rId3">
            <a:alphaModFix/>
          </a:blip>
          <a:srcRect b="0" l="0" r="0" t="0"/>
          <a:stretch/>
        </p:blipFill>
        <p:spPr>
          <a:xfrm>
            <a:off x="8415738" y="4123864"/>
            <a:ext cx="3032234" cy="22741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9" name="Shape 369"/>
        <p:cNvGrpSpPr/>
        <p:nvPr/>
      </p:nvGrpSpPr>
      <p:grpSpPr>
        <a:xfrm>
          <a:off x="0" y="0"/>
          <a:ext cx="0" cy="0"/>
          <a:chOff x="0" y="0"/>
          <a:chExt cx="0" cy="0"/>
        </a:xfrm>
      </p:grpSpPr>
      <p:sp>
        <p:nvSpPr>
          <p:cNvPr id="370" name="Google Shape;370;p15"/>
          <p:cNvSpPr txBox="1"/>
          <p:nvPr>
            <p:ph type="title"/>
          </p:nvPr>
        </p:nvSpPr>
        <p:spPr>
          <a:xfrm>
            <a:off x="771605" y="1891021"/>
            <a:ext cx="4172480" cy="157449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500"/>
              <a:buFont typeface="Calibri"/>
              <a:buNone/>
            </a:pPr>
            <a:r>
              <a:rPr b="1" lang="id-ID" sz="4500"/>
              <a:t>Klasifikasi Ilmu dalam Islam</a:t>
            </a:r>
            <a:endParaRPr/>
          </a:p>
        </p:txBody>
      </p:sp>
      <p:pic>
        <p:nvPicPr>
          <p:cNvPr descr="A painting of a large building with columns and people in it&#10;&#10;Description automatically generated" id="371" name="Google Shape;371;p15"/>
          <p:cNvPicPr preferRelativeResize="0"/>
          <p:nvPr/>
        </p:nvPicPr>
        <p:blipFill rotWithShape="1">
          <a:blip r:embed="rId3">
            <a:alphaModFix/>
          </a:blip>
          <a:srcRect b="0" l="2125" r="8986" t="0"/>
          <a:stretch/>
        </p:blipFill>
        <p:spPr>
          <a:xfrm>
            <a:off x="6096000" y="-1"/>
            <a:ext cx="6096000" cy="6858001"/>
          </a:xfrm>
          <a:prstGeom prst="rect">
            <a:avLst/>
          </a:prstGeom>
          <a:noFill/>
          <a:ln>
            <a:noFill/>
          </a:ln>
        </p:spPr>
      </p:pic>
      <p:grpSp>
        <p:nvGrpSpPr>
          <p:cNvPr id="372" name="Google Shape;372;p15"/>
          <p:cNvGrpSpPr/>
          <p:nvPr/>
        </p:nvGrpSpPr>
        <p:grpSpPr>
          <a:xfrm flipH="1">
            <a:off x="6096002" y="-3"/>
            <a:ext cx="6096000" cy="6858002"/>
            <a:chOff x="0" y="-1"/>
            <a:chExt cx="7390263" cy="6858002"/>
          </a:xfrm>
        </p:grpSpPr>
        <p:sp>
          <p:nvSpPr>
            <p:cNvPr id="373" name="Google Shape;373;p15"/>
            <p:cNvSpPr/>
            <p:nvPr/>
          </p:nvSpPr>
          <p:spPr>
            <a:xfrm rot="5400000">
              <a:off x="2879677" y="2347416"/>
              <a:ext cx="1630908" cy="7390262"/>
            </a:xfrm>
            <a:prstGeom prst="rect">
              <a:avLst/>
            </a:prstGeom>
            <a:gradFill>
              <a:gsLst>
                <a:gs pos="0">
                  <a:schemeClr val="accent5"/>
                </a:gs>
                <a:gs pos="47000">
                  <a:srgbClr val="009DD9">
                    <a:alpha val="0"/>
                  </a:srgbClr>
                </a:gs>
                <a:gs pos="100000">
                  <a:srgbClr val="009DD9">
                    <a:alpha val="0"/>
                  </a:srgbClr>
                </a:gs>
              </a:gsLst>
              <a:lin ang="11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4" name="Google Shape;374;p15"/>
            <p:cNvSpPr/>
            <p:nvPr/>
          </p:nvSpPr>
          <p:spPr>
            <a:xfrm rot="-5400000">
              <a:off x="-1919061" y="1919060"/>
              <a:ext cx="6854280" cy="3016159"/>
            </a:xfrm>
            <a:prstGeom prst="rect">
              <a:avLst/>
            </a:prstGeom>
            <a:gradFill>
              <a:gsLst>
                <a:gs pos="0">
                  <a:schemeClr val="accent5"/>
                </a:gs>
                <a:gs pos="47000">
                  <a:srgbClr val="009DD9">
                    <a:alpha val="0"/>
                  </a:srgbClr>
                </a:gs>
                <a:gs pos="100000">
                  <a:srgbClr val="009DD9">
                    <a:alpha val="0"/>
                  </a:srgbClr>
                </a:gs>
              </a:gsLst>
              <a:lin ang="4200000" scaled="0"/>
            </a:gra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5" name="Google Shape;375;p15"/>
            <p:cNvSpPr/>
            <p:nvPr/>
          </p:nvSpPr>
          <p:spPr>
            <a:xfrm rot="10800000">
              <a:off x="4461657" y="4425055"/>
              <a:ext cx="2928605" cy="2432945"/>
            </a:xfrm>
            <a:prstGeom prst="rect">
              <a:avLst/>
            </a:prstGeom>
            <a:gradFill>
              <a:gsLst>
                <a:gs pos="0">
                  <a:schemeClr val="accent2"/>
                </a:gs>
                <a:gs pos="51000">
                  <a:srgbClr val="AFDF9F">
                    <a:alpha val="0"/>
                  </a:srgbClr>
                </a:gs>
                <a:gs pos="100000">
                  <a:srgbClr val="AFDF9F">
                    <a:alpha val="0"/>
                  </a:srgbClr>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C0C0C"/>
              </a:buClr>
              <a:buSzPts val="4400"/>
              <a:buFont typeface="Calibri"/>
              <a:buNone/>
            </a:pPr>
            <a:r>
              <a:rPr b="1" lang="id-ID">
                <a:solidFill>
                  <a:srgbClr val="0C0C0C"/>
                </a:solidFill>
              </a:rPr>
              <a:t>Pohon Keilmuan Islam</a:t>
            </a:r>
            <a:endParaRPr/>
          </a:p>
        </p:txBody>
      </p:sp>
      <p:grpSp>
        <p:nvGrpSpPr>
          <p:cNvPr id="381" name="Google Shape;381;p16"/>
          <p:cNvGrpSpPr/>
          <p:nvPr/>
        </p:nvGrpSpPr>
        <p:grpSpPr>
          <a:xfrm>
            <a:off x="631220" y="1693974"/>
            <a:ext cx="10955834" cy="4482822"/>
            <a:chOff x="599" y="3286"/>
            <a:chExt cx="10955834" cy="4482822"/>
          </a:xfrm>
        </p:grpSpPr>
        <p:sp>
          <p:nvSpPr>
            <p:cNvPr id="382" name="Google Shape;382;p16"/>
            <p:cNvSpPr/>
            <p:nvPr/>
          </p:nvSpPr>
          <p:spPr>
            <a:xfrm>
              <a:off x="599" y="3286"/>
              <a:ext cx="10955834" cy="533746"/>
            </a:xfrm>
            <a:prstGeom prst="roundRect">
              <a:avLst>
                <a:gd fmla="val 10000" name="adj"/>
              </a:avLst>
            </a:prstGeom>
            <a:solidFill>
              <a:srgbClr val="05A4AC"/>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6"/>
            <p:cNvSpPr txBox="1"/>
            <p:nvPr/>
          </p:nvSpPr>
          <p:spPr>
            <a:xfrm>
              <a:off x="16232" y="18919"/>
              <a:ext cx="10924568" cy="502480"/>
            </a:xfrm>
            <a:prstGeom prst="rect">
              <a:avLst/>
            </a:prstGeom>
            <a:noFill/>
            <a:ln>
              <a:noFill/>
            </a:ln>
          </p:spPr>
          <p:txBody>
            <a:bodyPr anchorCtr="0" anchor="ctr" bIns="114300" lIns="114300" spcFirstLastPara="1" rIns="114300" wrap="square" tIns="114300">
              <a:noAutofit/>
            </a:bodyPr>
            <a:lstStyle/>
            <a:p>
              <a:pPr indent="0" lvl="0" marL="0" marR="0" rtl="0" algn="ctr">
                <a:lnSpc>
                  <a:spcPct val="90000"/>
                </a:lnSpc>
                <a:spcBef>
                  <a:spcPts val="0"/>
                </a:spcBef>
                <a:spcAft>
                  <a:spcPts val="0"/>
                </a:spcAft>
                <a:buClr>
                  <a:srgbClr val="0C0C0C"/>
                </a:buClr>
                <a:buSzPts val="3000"/>
                <a:buFont typeface="Calibri"/>
                <a:buNone/>
              </a:pPr>
              <a:r>
                <a:rPr b="0" i="0" lang="id-ID" sz="3000" u="none" cap="none" strike="noStrike">
                  <a:solidFill>
                    <a:srgbClr val="0C0C0C"/>
                  </a:solidFill>
                  <a:latin typeface="Calibri"/>
                  <a:ea typeface="Calibri"/>
                  <a:cs typeface="Calibri"/>
                  <a:sym typeface="Calibri"/>
                </a:rPr>
                <a:t>Ilmu</a:t>
              </a:r>
              <a:endParaRPr b="0" i="0" sz="3000" u="none" cap="none" strike="noStrike">
                <a:solidFill>
                  <a:srgbClr val="0C0C0C"/>
                </a:solidFill>
                <a:latin typeface="Calibri"/>
                <a:ea typeface="Calibri"/>
                <a:cs typeface="Calibri"/>
                <a:sym typeface="Calibri"/>
              </a:endParaRPr>
            </a:p>
          </p:txBody>
        </p:sp>
        <p:sp>
          <p:nvSpPr>
            <p:cNvPr id="384" name="Google Shape;384;p16"/>
            <p:cNvSpPr/>
            <p:nvPr/>
          </p:nvSpPr>
          <p:spPr>
            <a:xfrm>
              <a:off x="11293" y="712901"/>
              <a:ext cx="5392767" cy="820203"/>
            </a:xfrm>
            <a:prstGeom prst="roundRect">
              <a:avLst>
                <a:gd fmla="val 10000" name="adj"/>
              </a:avLst>
            </a:prstGeom>
            <a:solidFill>
              <a:srgbClr val="54A83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6"/>
            <p:cNvSpPr txBox="1"/>
            <p:nvPr/>
          </p:nvSpPr>
          <p:spPr>
            <a:xfrm>
              <a:off x="35316" y="736924"/>
              <a:ext cx="5344721" cy="772157"/>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0C0C0C"/>
                </a:buClr>
                <a:buSzPts val="2300"/>
                <a:buFont typeface="Calibri"/>
                <a:buNone/>
              </a:pPr>
              <a:r>
                <a:rPr b="0" i="0" lang="id-ID" sz="2300" u="none" cap="none" strike="noStrike">
                  <a:solidFill>
                    <a:srgbClr val="0C0C0C"/>
                  </a:solidFill>
                  <a:latin typeface="Calibri"/>
                  <a:ea typeface="Calibri"/>
                  <a:cs typeface="Calibri"/>
                  <a:sym typeface="Calibri"/>
                </a:rPr>
                <a:t>Keislaman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805"/>
                </a:spcBef>
                <a:spcAft>
                  <a:spcPts val="0"/>
                </a:spcAft>
                <a:buClr>
                  <a:srgbClr val="0C0C0C"/>
                </a:buClr>
                <a:buSzPts val="2300"/>
                <a:buFont typeface="Calibri"/>
                <a:buNone/>
              </a:pPr>
              <a:r>
                <a:rPr b="0" i="0" lang="id-ID" sz="2300" u="none" cap="none" strike="noStrike">
                  <a:solidFill>
                    <a:srgbClr val="0C0C0C"/>
                  </a:solidFill>
                  <a:latin typeface="Calibri"/>
                  <a:ea typeface="Calibri"/>
                  <a:cs typeface="Calibri"/>
                  <a:sym typeface="Calibri"/>
                </a:rPr>
                <a:t>(</a:t>
              </a:r>
              <a:r>
                <a:rPr b="0" i="1" lang="id-ID" sz="2300" u="none" cap="none" strike="noStrike">
                  <a:solidFill>
                    <a:srgbClr val="0C0C0C"/>
                  </a:solidFill>
                  <a:latin typeface="Calibri"/>
                  <a:ea typeface="Calibri"/>
                  <a:cs typeface="Calibri"/>
                  <a:sym typeface="Calibri"/>
                </a:rPr>
                <a:t>ayat qur’aniyah</a:t>
              </a:r>
              <a:r>
                <a:rPr b="0" i="0" lang="id-ID" sz="2300" u="none" cap="none" strike="noStrike">
                  <a:solidFill>
                    <a:srgbClr val="0C0C0C"/>
                  </a:solidFill>
                  <a:latin typeface="Calibri"/>
                  <a:ea typeface="Calibri"/>
                  <a:cs typeface="Calibri"/>
                  <a:sym typeface="Calibri"/>
                </a:rPr>
                <a:t>)</a:t>
              </a:r>
              <a:endParaRPr b="0" i="0" sz="2300" u="none" cap="none" strike="noStrike">
                <a:solidFill>
                  <a:srgbClr val="0C0C0C"/>
                </a:solidFill>
                <a:latin typeface="Calibri"/>
                <a:ea typeface="Calibri"/>
                <a:cs typeface="Calibri"/>
                <a:sym typeface="Calibri"/>
              </a:endParaRPr>
            </a:p>
          </p:txBody>
        </p:sp>
        <p:sp>
          <p:nvSpPr>
            <p:cNvPr id="386" name="Google Shape;386;p16"/>
            <p:cNvSpPr/>
            <p:nvPr/>
          </p:nvSpPr>
          <p:spPr>
            <a:xfrm>
              <a:off x="11293" y="1708973"/>
              <a:ext cx="5392767" cy="1286755"/>
            </a:xfrm>
            <a:prstGeom prst="roundRect">
              <a:avLst>
                <a:gd fmla="val 10000" name="adj"/>
              </a:avLst>
            </a:prstGeom>
            <a:solidFill>
              <a:srgbClr val="7F7F7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6"/>
            <p:cNvSpPr txBox="1"/>
            <p:nvPr/>
          </p:nvSpPr>
          <p:spPr>
            <a:xfrm>
              <a:off x="48981" y="1746661"/>
              <a:ext cx="5317391" cy="1211379"/>
            </a:xfrm>
            <a:prstGeom prst="rect">
              <a:avLst/>
            </a:prstGeom>
            <a:noFill/>
            <a:ln>
              <a:noFill/>
            </a:ln>
          </p:spPr>
          <p:txBody>
            <a:bodyPr anchorCtr="0" anchor="ctr" bIns="57150" lIns="57150" spcFirstLastPara="1" rIns="57150" wrap="square" tIns="57150">
              <a:noAutofit/>
            </a:bodyPr>
            <a:lstStyle/>
            <a:p>
              <a:pPr indent="0" lvl="0" marL="0" marR="0" rtl="0" algn="ctr">
                <a:lnSpc>
                  <a:spcPct val="90000"/>
                </a:lnSpc>
                <a:spcBef>
                  <a:spcPts val="0"/>
                </a:spcBef>
                <a:spcAft>
                  <a:spcPts val="0"/>
                </a:spcAft>
                <a:buClr>
                  <a:srgbClr val="0C0C0C"/>
                </a:buClr>
                <a:buSzPts val="1500"/>
                <a:buFont typeface="Calibri"/>
                <a:buNone/>
              </a:pPr>
              <a:r>
                <a:rPr b="0" i="0" lang="id-ID" sz="1500" u="none" cap="none" strike="noStrike">
                  <a:solidFill>
                    <a:srgbClr val="0C0C0C"/>
                  </a:solidFill>
                  <a:latin typeface="Calibri"/>
                  <a:ea typeface="Calibri"/>
                  <a:cs typeface="Calibri"/>
                  <a:sym typeface="Calibri"/>
                </a:rPr>
                <a:t> </a:t>
              </a:r>
              <a:r>
                <a:rPr b="0" i="0" lang="id-ID" sz="2400" u="none" cap="none" strike="noStrike">
                  <a:solidFill>
                    <a:srgbClr val="0C0C0C"/>
                  </a:solidFill>
                  <a:latin typeface="Calibri"/>
                  <a:ea typeface="Calibri"/>
                  <a:cs typeface="Calibri"/>
                  <a:sym typeface="Calibri"/>
                </a:rPr>
                <a:t>Episteme </a:t>
              </a:r>
              <a:r>
                <a:rPr b="0" i="1" lang="id-ID" sz="2400" u="none" cap="none" strike="noStrike">
                  <a:solidFill>
                    <a:srgbClr val="0C0C0C"/>
                  </a:solidFill>
                  <a:latin typeface="Calibri"/>
                  <a:ea typeface="Calibri"/>
                  <a:cs typeface="Calibri"/>
                  <a:sym typeface="Calibri"/>
                </a:rPr>
                <a:t>Bayani, Khitabi, ‘Irfani</a:t>
              </a:r>
              <a:endParaRPr b="0" i="1" sz="2400" u="none" cap="none" strike="noStrike">
                <a:solidFill>
                  <a:srgbClr val="0C0C0C"/>
                </a:solidFill>
                <a:latin typeface="Calibri"/>
                <a:ea typeface="Calibri"/>
                <a:cs typeface="Calibri"/>
                <a:sym typeface="Calibri"/>
              </a:endParaRPr>
            </a:p>
          </p:txBody>
        </p:sp>
        <p:sp>
          <p:nvSpPr>
            <p:cNvPr id="388" name="Google Shape;388;p16"/>
            <p:cNvSpPr/>
            <p:nvPr/>
          </p:nvSpPr>
          <p:spPr>
            <a:xfrm>
              <a:off x="11293" y="3171598"/>
              <a:ext cx="1772770" cy="1286755"/>
            </a:xfrm>
            <a:prstGeom prst="roundRect">
              <a:avLst>
                <a:gd fmla="val 10000" name="adj"/>
              </a:avLst>
            </a:prstGeom>
            <a:solidFill>
              <a:srgbClr val="93DEE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6"/>
            <p:cNvSpPr txBox="1"/>
            <p:nvPr/>
          </p:nvSpPr>
          <p:spPr>
            <a:xfrm>
              <a:off x="48981" y="3209286"/>
              <a:ext cx="1697394" cy="1211379"/>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rgbClr val="0C0C0C"/>
                </a:buClr>
                <a:buSzPts val="2200"/>
                <a:buFont typeface="Calibri"/>
                <a:buNone/>
              </a:pPr>
              <a:r>
                <a:rPr b="0" i="0" lang="id-ID" sz="2200" u="none" cap="none" strike="noStrike">
                  <a:solidFill>
                    <a:srgbClr val="0C0C0C"/>
                  </a:solidFill>
                  <a:latin typeface="Calibri"/>
                  <a:ea typeface="Calibri"/>
                  <a:cs typeface="Calibri"/>
                  <a:sym typeface="Calibri"/>
                </a:rPr>
                <a:t>Ilmu-ilmu Ushuludin</a:t>
              </a:r>
              <a:endParaRPr b="0" i="0" sz="2200" u="none" cap="none" strike="noStrike">
                <a:solidFill>
                  <a:srgbClr val="0C0C0C"/>
                </a:solidFill>
                <a:latin typeface="Calibri"/>
                <a:ea typeface="Calibri"/>
                <a:cs typeface="Calibri"/>
                <a:sym typeface="Calibri"/>
              </a:endParaRPr>
            </a:p>
          </p:txBody>
        </p:sp>
        <p:sp>
          <p:nvSpPr>
            <p:cNvPr id="390" name="Google Shape;390;p16"/>
            <p:cNvSpPr/>
            <p:nvPr/>
          </p:nvSpPr>
          <p:spPr>
            <a:xfrm>
              <a:off x="1821291" y="3171598"/>
              <a:ext cx="1772770" cy="1286755"/>
            </a:xfrm>
            <a:prstGeom prst="roundRect">
              <a:avLst>
                <a:gd fmla="val 10000" name="adj"/>
              </a:avLst>
            </a:prstGeom>
            <a:solidFill>
              <a:srgbClr val="93DEE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6"/>
            <p:cNvSpPr txBox="1"/>
            <p:nvPr/>
          </p:nvSpPr>
          <p:spPr>
            <a:xfrm>
              <a:off x="1858979" y="3209286"/>
              <a:ext cx="1697394" cy="1211379"/>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rgbClr val="0C0C0C"/>
                </a:buClr>
                <a:buSzPts val="2200"/>
                <a:buFont typeface="Calibri"/>
                <a:buNone/>
              </a:pPr>
              <a:r>
                <a:rPr b="0" i="0" lang="id-ID" sz="2200" u="none" cap="none" strike="noStrike">
                  <a:solidFill>
                    <a:srgbClr val="0C0C0C"/>
                  </a:solidFill>
                  <a:latin typeface="Calibri"/>
                  <a:ea typeface="Calibri"/>
                  <a:cs typeface="Calibri"/>
                  <a:sym typeface="Calibri"/>
                </a:rPr>
                <a:t>Ilmu-ilmu Syariah</a:t>
              </a:r>
              <a:endParaRPr b="0" i="0" sz="2200" u="none" cap="none" strike="noStrike">
                <a:solidFill>
                  <a:srgbClr val="0C0C0C"/>
                </a:solidFill>
                <a:latin typeface="Calibri"/>
                <a:ea typeface="Calibri"/>
                <a:cs typeface="Calibri"/>
                <a:sym typeface="Calibri"/>
              </a:endParaRPr>
            </a:p>
          </p:txBody>
        </p:sp>
        <p:sp>
          <p:nvSpPr>
            <p:cNvPr id="392" name="Google Shape;392;p16"/>
            <p:cNvSpPr/>
            <p:nvPr/>
          </p:nvSpPr>
          <p:spPr>
            <a:xfrm>
              <a:off x="3631289" y="3171598"/>
              <a:ext cx="1772770" cy="1286755"/>
            </a:xfrm>
            <a:prstGeom prst="roundRect">
              <a:avLst>
                <a:gd fmla="val 10000" name="adj"/>
              </a:avLst>
            </a:prstGeom>
            <a:solidFill>
              <a:srgbClr val="93DEE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6"/>
            <p:cNvSpPr txBox="1"/>
            <p:nvPr/>
          </p:nvSpPr>
          <p:spPr>
            <a:xfrm>
              <a:off x="3668977" y="3209286"/>
              <a:ext cx="1697394" cy="1211379"/>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rgbClr val="0C0C0C"/>
                </a:buClr>
                <a:buSzPts val="2200"/>
                <a:buFont typeface="Calibri"/>
                <a:buNone/>
              </a:pPr>
              <a:r>
                <a:rPr b="0" i="0" lang="id-ID" sz="2200" u="none" cap="none" strike="noStrike">
                  <a:solidFill>
                    <a:srgbClr val="0C0C0C"/>
                  </a:solidFill>
                  <a:latin typeface="Calibri"/>
                  <a:ea typeface="Calibri"/>
                  <a:cs typeface="Calibri"/>
                  <a:sym typeface="Calibri"/>
                </a:rPr>
                <a:t>Ilmu-ilmu Akhlak</a:t>
              </a:r>
              <a:endParaRPr b="0" i="0" sz="2200" u="none" cap="none" strike="noStrike">
                <a:solidFill>
                  <a:srgbClr val="0C0C0C"/>
                </a:solidFill>
                <a:latin typeface="Calibri"/>
                <a:ea typeface="Calibri"/>
                <a:cs typeface="Calibri"/>
                <a:sym typeface="Calibri"/>
              </a:endParaRPr>
            </a:p>
          </p:txBody>
        </p:sp>
        <p:sp>
          <p:nvSpPr>
            <p:cNvPr id="394" name="Google Shape;394;p16"/>
            <p:cNvSpPr/>
            <p:nvPr/>
          </p:nvSpPr>
          <p:spPr>
            <a:xfrm>
              <a:off x="5552972" y="712901"/>
              <a:ext cx="5392767" cy="847958"/>
            </a:xfrm>
            <a:prstGeom prst="roundRect">
              <a:avLst>
                <a:gd fmla="val 10000" name="adj"/>
              </a:avLst>
            </a:prstGeom>
            <a:solidFill>
              <a:srgbClr val="FFC000"/>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6"/>
            <p:cNvSpPr txBox="1"/>
            <p:nvPr/>
          </p:nvSpPr>
          <p:spPr>
            <a:xfrm>
              <a:off x="5577808" y="737737"/>
              <a:ext cx="5343095" cy="798286"/>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0C0C0C"/>
                </a:buClr>
                <a:buSzPts val="2300"/>
                <a:buFont typeface="Calibri"/>
                <a:buNone/>
              </a:pPr>
              <a:r>
                <a:rPr b="0" i="0" lang="id-ID" sz="2300" u="none" cap="none" strike="noStrike">
                  <a:solidFill>
                    <a:srgbClr val="0C0C0C"/>
                  </a:solidFill>
                  <a:latin typeface="Calibri"/>
                  <a:ea typeface="Calibri"/>
                  <a:cs typeface="Calibri"/>
                  <a:sym typeface="Calibri"/>
                </a:rPr>
                <a:t>Sainsteks</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805"/>
                </a:spcBef>
                <a:spcAft>
                  <a:spcPts val="0"/>
                </a:spcAft>
                <a:buClr>
                  <a:srgbClr val="0C0C0C"/>
                </a:buClr>
                <a:buSzPts val="2300"/>
                <a:buFont typeface="Calibri"/>
                <a:buNone/>
              </a:pPr>
              <a:r>
                <a:rPr b="0" i="0" lang="id-ID" sz="2300" u="none" cap="none" strike="noStrike">
                  <a:solidFill>
                    <a:srgbClr val="0C0C0C"/>
                  </a:solidFill>
                  <a:latin typeface="Calibri"/>
                  <a:ea typeface="Calibri"/>
                  <a:cs typeface="Calibri"/>
                  <a:sym typeface="Calibri"/>
                </a:rPr>
                <a:t>(</a:t>
              </a:r>
              <a:r>
                <a:rPr b="0" i="1" lang="id-ID" sz="2300" u="none" cap="none" strike="noStrike">
                  <a:solidFill>
                    <a:srgbClr val="0C0C0C"/>
                  </a:solidFill>
                  <a:latin typeface="Calibri"/>
                  <a:ea typeface="Calibri"/>
                  <a:cs typeface="Calibri"/>
                  <a:sym typeface="Calibri"/>
                </a:rPr>
                <a:t>ayat kauniyyah</a:t>
              </a:r>
              <a:r>
                <a:rPr b="0" i="0" lang="id-ID" sz="2300" u="none" cap="none" strike="noStrike">
                  <a:solidFill>
                    <a:srgbClr val="0C0C0C"/>
                  </a:solidFill>
                  <a:latin typeface="Calibri"/>
                  <a:ea typeface="Calibri"/>
                  <a:cs typeface="Calibri"/>
                  <a:sym typeface="Calibri"/>
                </a:rPr>
                <a:t>)</a:t>
              </a:r>
              <a:endParaRPr b="0" i="0" sz="2300" u="none" cap="none" strike="noStrike">
                <a:solidFill>
                  <a:srgbClr val="0C0C0C"/>
                </a:solidFill>
                <a:latin typeface="Calibri"/>
                <a:ea typeface="Calibri"/>
                <a:cs typeface="Calibri"/>
                <a:sym typeface="Calibri"/>
              </a:endParaRPr>
            </a:p>
          </p:txBody>
        </p:sp>
        <p:sp>
          <p:nvSpPr>
            <p:cNvPr id="396" name="Google Shape;396;p16"/>
            <p:cNvSpPr/>
            <p:nvPr/>
          </p:nvSpPr>
          <p:spPr>
            <a:xfrm>
              <a:off x="5552972" y="1736729"/>
              <a:ext cx="5392767" cy="1286755"/>
            </a:xfrm>
            <a:prstGeom prst="roundRect">
              <a:avLst>
                <a:gd fmla="val 10000" name="adj"/>
              </a:avLst>
            </a:prstGeom>
            <a:solidFill>
              <a:srgbClr val="7F7F7F"/>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6"/>
            <p:cNvSpPr txBox="1"/>
            <p:nvPr/>
          </p:nvSpPr>
          <p:spPr>
            <a:xfrm>
              <a:off x="5590660" y="1774417"/>
              <a:ext cx="5317391" cy="1211379"/>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C0C0C"/>
                </a:buClr>
                <a:buSzPts val="2400"/>
                <a:buFont typeface="Calibri"/>
                <a:buNone/>
              </a:pPr>
              <a:r>
                <a:rPr b="0" i="0" lang="id-ID" sz="2400" u="none" cap="none" strike="noStrike">
                  <a:solidFill>
                    <a:srgbClr val="0C0C0C"/>
                  </a:solidFill>
                  <a:latin typeface="Calibri"/>
                  <a:ea typeface="Calibri"/>
                  <a:cs typeface="Calibri"/>
                  <a:sym typeface="Calibri"/>
                </a:rPr>
                <a:t>Episteme </a:t>
              </a:r>
              <a:r>
                <a:rPr b="0" i="1" lang="id-ID" sz="2400" u="none" cap="none" strike="noStrike">
                  <a:solidFill>
                    <a:srgbClr val="0C0C0C"/>
                  </a:solidFill>
                  <a:latin typeface="Calibri"/>
                  <a:ea typeface="Calibri"/>
                  <a:cs typeface="Calibri"/>
                  <a:sym typeface="Calibri"/>
                </a:rPr>
                <a:t>Tajribi </a:t>
              </a:r>
              <a:r>
                <a:rPr b="0" i="0" lang="id-ID" sz="2400" u="none" cap="none" strike="noStrike">
                  <a:solidFill>
                    <a:srgbClr val="0C0C0C"/>
                  </a:solidFill>
                  <a:latin typeface="Calibri"/>
                  <a:ea typeface="Calibri"/>
                  <a:cs typeface="Calibri"/>
                  <a:sym typeface="Calibri"/>
                </a:rPr>
                <a:t>dan</a:t>
              </a:r>
              <a:r>
                <a:rPr b="0" i="1" lang="id-ID" sz="2400" u="none" cap="none" strike="noStrike">
                  <a:solidFill>
                    <a:srgbClr val="0C0C0C"/>
                  </a:solidFill>
                  <a:latin typeface="Calibri"/>
                  <a:ea typeface="Calibri"/>
                  <a:cs typeface="Calibri"/>
                  <a:sym typeface="Calibri"/>
                </a:rPr>
                <a:t> Burhani</a:t>
              </a:r>
              <a:endParaRPr b="0" i="1" sz="2400" u="none" cap="none" strike="noStrike">
                <a:solidFill>
                  <a:srgbClr val="0C0C0C"/>
                </a:solidFill>
                <a:latin typeface="Calibri"/>
                <a:ea typeface="Calibri"/>
                <a:cs typeface="Calibri"/>
                <a:sym typeface="Calibri"/>
              </a:endParaRPr>
            </a:p>
          </p:txBody>
        </p:sp>
        <p:sp>
          <p:nvSpPr>
            <p:cNvPr id="398" name="Google Shape;398;p16"/>
            <p:cNvSpPr/>
            <p:nvPr/>
          </p:nvSpPr>
          <p:spPr>
            <a:xfrm>
              <a:off x="5552972" y="3199353"/>
              <a:ext cx="1772770" cy="1286755"/>
            </a:xfrm>
            <a:prstGeom prst="roundRect">
              <a:avLst>
                <a:gd fmla="val 10000" name="adj"/>
              </a:avLst>
            </a:prstGeom>
            <a:solidFill>
              <a:srgbClr val="93DEE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6"/>
            <p:cNvSpPr txBox="1"/>
            <p:nvPr/>
          </p:nvSpPr>
          <p:spPr>
            <a:xfrm>
              <a:off x="5590660" y="3237041"/>
              <a:ext cx="1697394" cy="1211379"/>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rgbClr val="0C0C0C"/>
                </a:buClr>
                <a:buSzPts val="2200"/>
                <a:buFont typeface="Calibri"/>
                <a:buNone/>
              </a:pPr>
              <a:r>
                <a:rPr b="0" i="0" lang="id-ID" sz="2200" u="none" cap="none" strike="noStrike">
                  <a:solidFill>
                    <a:srgbClr val="0C0C0C"/>
                  </a:solidFill>
                  <a:latin typeface="Calibri"/>
                  <a:ea typeface="Calibri"/>
                  <a:cs typeface="Calibri"/>
                  <a:sym typeface="Calibri"/>
                </a:rPr>
                <a:t>Sains</a:t>
              </a:r>
              <a:endParaRPr b="0" i="0" sz="2200" u="none" cap="none" strike="noStrike">
                <a:solidFill>
                  <a:srgbClr val="0C0C0C"/>
                </a:solidFill>
                <a:latin typeface="Calibri"/>
                <a:ea typeface="Calibri"/>
                <a:cs typeface="Calibri"/>
                <a:sym typeface="Calibri"/>
              </a:endParaRPr>
            </a:p>
          </p:txBody>
        </p:sp>
        <p:sp>
          <p:nvSpPr>
            <p:cNvPr id="400" name="Google Shape;400;p16"/>
            <p:cNvSpPr/>
            <p:nvPr/>
          </p:nvSpPr>
          <p:spPr>
            <a:xfrm>
              <a:off x="7362971" y="3199353"/>
              <a:ext cx="1772770" cy="1286755"/>
            </a:xfrm>
            <a:prstGeom prst="roundRect">
              <a:avLst>
                <a:gd fmla="val 10000" name="adj"/>
              </a:avLst>
            </a:prstGeom>
            <a:solidFill>
              <a:srgbClr val="93DEE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6"/>
            <p:cNvSpPr txBox="1"/>
            <p:nvPr/>
          </p:nvSpPr>
          <p:spPr>
            <a:xfrm>
              <a:off x="7400659" y="3237041"/>
              <a:ext cx="1697394" cy="1211379"/>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rgbClr val="0C0C0C"/>
                </a:buClr>
                <a:buSzPts val="2200"/>
                <a:buFont typeface="Calibri"/>
                <a:buNone/>
              </a:pPr>
              <a:r>
                <a:rPr b="0" i="0" lang="id-ID" sz="2200" u="none" cap="none" strike="noStrike">
                  <a:solidFill>
                    <a:srgbClr val="0C0C0C"/>
                  </a:solidFill>
                  <a:latin typeface="Calibri"/>
                  <a:ea typeface="Calibri"/>
                  <a:cs typeface="Calibri"/>
                  <a:sym typeface="Calibri"/>
                </a:rPr>
                <a:t>Teknologi </a:t>
              </a:r>
              <a:endParaRPr b="0" i="0" sz="2200" u="none" cap="none" strike="noStrike">
                <a:solidFill>
                  <a:srgbClr val="0C0C0C"/>
                </a:solidFill>
                <a:latin typeface="Calibri"/>
                <a:ea typeface="Calibri"/>
                <a:cs typeface="Calibri"/>
                <a:sym typeface="Calibri"/>
              </a:endParaRPr>
            </a:p>
          </p:txBody>
        </p:sp>
        <p:sp>
          <p:nvSpPr>
            <p:cNvPr id="402" name="Google Shape;402;p16"/>
            <p:cNvSpPr/>
            <p:nvPr/>
          </p:nvSpPr>
          <p:spPr>
            <a:xfrm>
              <a:off x="9172969" y="3199353"/>
              <a:ext cx="1772770" cy="1286755"/>
            </a:xfrm>
            <a:prstGeom prst="roundRect">
              <a:avLst>
                <a:gd fmla="val 10000" name="adj"/>
              </a:avLst>
            </a:prstGeom>
            <a:solidFill>
              <a:srgbClr val="93DEE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6"/>
            <p:cNvSpPr txBox="1"/>
            <p:nvPr/>
          </p:nvSpPr>
          <p:spPr>
            <a:xfrm>
              <a:off x="9210657" y="3237041"/>
              <a:ext cx="1697394" cy="1211379"/>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rgbClr val="0C0C0C"/>
                </a:buClr>
                <a:buSzPts val="2200"/>
                <a:buFont typeface="Calibri"/>
                <a:buNone/>
              </a:pPr>
              <a:r>
                <a:rPr b="0" i="0" lang="id-ID" sz="2200" u="none" cap="none" strike="noStrike">
                  <a:solidFill>
                    <a:srgbClr val="0C0C0C"/>
                  </a:solidFill>
                  <a:latin typeface="Calibri"/>
                  <a:ea typeface="Calibri"/>
                  <a:cs typeface="Calibri"/>
                  <a:sym typeface="Calibri"/>
                </a:rPr>
                <a:t>Sosial  Humaniora</a:t>
              </a:r>
              <a:endParaRPr b="0" i="0" sz="2200" u="none" cap="none" strike="noStrike">
                <a:solidFill>
                  <a:srgbClr val="0C0C0C"/>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7"/>
          <p:cNvSpPr txBox="1"/>
          <p:nvPr>
            <p:ph type="title"/>
          </p:nvPr>
        </p:nvSpPr>
        <p:spPr>
          <a:xfrm>
            <a:off x="727841"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id-ID"/>
              <a:t>Klasifikasi Ilmu dari Sisi Hukum Islam</a:t>
            </a:r>
            <a:endParaRPr/>
          </a:p>
        </p:txBody>
      </p:sp>
      <p:grpSp>
        <p:nvGrpSpPr>
          <p:cNvPr id="409" name="Google Shape;409;p17"/>
          <p:cNvGrpSpPr/>
          <p:nvPr/>
        </p:nvGrpSpPr>
        <p:grpSpPr>
          <a:xfrm>
            <a:off x="842371" y="2066216"/>
            <a:ext cx="10507256" cy="3600280"/>
            <a:chOff x="4171" y="375528"/>
            <a:chExt cx="10507256" cy="3600280"/>
          </a:xfrm>
        </p:grpSpPr>
        <p:sp>
          <p:nvSpPr>
            <p:cNvPr id="410" name="Google Shape;410;p17"/>
            <p:cNvSpPr/>
            <p:nvPr/>
          </p:nvSpPr>
          <p:spPr>
            <a:xfrm>
              <a:off x="6802984" y="2840098"/>
              <a:ext cx="618073" cy="664429"/>
            </a:xfrm>
            <a:custGeom>
              <a:rect b="b" l="l" r="r" t="t"/>
              <a:pathLst>
                <a:path extrusionOk="0" h="120000" w="120000">
                  <a:moveTo>
                    <a:pt x="0" y="0"/>
                  </a:moveTo>
                  <a:lnTo>
                    <a:pt x="60000" y="0"/>
                  </a:lnTo>
                  <a:lnTo>
                    <a:pt x="60000" y="120000"/>
                  </a:lnTo>
                  <a:lnTo>
                    <a:pt x="120000" y="120000"/>
                  </a:lnTo>
                </a:path>
              </a:pathLst>
            </a:custGeom>
            <a:noFill/>
            <a:ln cap="flat" cmpd="sng" w="12700">
              <a:solidFill>
                <a:srgbClr val="0DCF9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17"/>
            <p:cNvSpPr/>
            <p:nvPr/>
          </p:nvSpPr>
          <p:spPr>
            <a:xfrm>
              <a:off x="6802984" y="2175669"/>
              <a:ext cx="618073" cy="664429"/>
            </a:xfrm>
            <a:custGeom>
              <a:rect b="b" l="l" r="r" t="t"/>
              <a:pathLst>
                <a:path extrusionOk="0" h="120000" w="120000">
                  <a:moveTo>
                    <a:pt x="0" y="120000"/>
                  </a:moveTo>
                  <a:lnTo>
                    <a:pt x="60000" y="120000"/>
                  </a:lnTo>
                  <a:lnTo>
                    <a:pt x="60000" y="0"/>
                  </a:lnTo>
                  <a:lnTo>
                    <a:pt x="120000" y="0"/>
                  </a:lnTo>
                </a:path>
              </a:pathLst>
            </a:custGeom>
            <a:noFill/>
            <a:ln cap="flat" cmpd="sng" w="12700">
              <a:solidFill>
                <a:srgbClr val="0DCF9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17"/>
            <p:cNvSpPr/>
            <p:nvPr/>
          </p:nvSpPr>
          <p:spPr>
            <a:xfrm>
              <a:off x="3094541" y="1843454"/>
              <a:ext cx="618073" cy="996644"/>
            </a:xfrm>
            <a:custGeom>
              <a:rect b="b" l="l" r="r" t="t"/>
              <a:pathLst>
                <a:path extrusionOk="0" h="120000" w="120000">
                  <a:moveTo>
                    <a:pt x="0" y="0"/>
                  </a:moveTo>
                  <a:lnTo>
                    <a:pt x="60000" y="0"/>
                  </a:lnTo>
                  <a:lnTo>
                    <a:pt x="60000" y="120000"/>
                  </a:lnTo>
                  <a:lnTo>
                    <a:pt x="120000" y="120000"/>
                  </a:lnTo>
                </a:path>
              </a:pathLst>
            </a:custGeom>
            <a:noFill/>
            <a:ln cap="flat" cmpd="sng" w="12700">
              <a:solidFill>
                <a:srgbClr val="08D0D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17"/>
            <p:cNvSpPr/>
            <p:nvPr/>
          </p:nvSpPr>
          <p:spPr>
            <a:xfrm>
              <a:off x="6802984" y="801090"/>
              <a:ext cx="618073" cy="91440"/>
            </a:xfrm>
            <a:custGeom>
              <a:rect b="b" l="l" r="r" t="t"/>
              <a:pathLst>
                <a:path extrusionOk="0" h="120000" w="120000">
                  <a:moveTo>
                    <a:pt x="0" y="60000"/>
                  </a:moveTo>
                  <a:lnTo>
                    <a:pt x="120000" y="60000"/>
                  </a:lnTo>
                </a:path>
              </a:pathLst>
            </a:custGeom>
            <a:noFill/>
            <a:ln cap="flat" cmpd="sng" w="12700">
              <a:solidFill>
                <a:srgbClr val="0DCF9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17"/>
            <p:cNvSpPr/>
            <p:nvPr/>
          </p:nvSpPr>
          <p:spPr>
            <a:xfrm>
              <a:off x="3094541" y="846810"/>
              <a:ext cx="618073" cy="996644"/>
            </a:xfrm>
            <a:custGeom>
              <a:rect b="b" l="l" r="r" t="t"/>
              <a:pathLst>
                <a:path extrusionOk="0" h="120000" w="120000">
                  <a:moveTo>
                    <a:pt x="0" y="120000"/>
                  </a:moveTo>
                  <a:lnTo>
                    <a:pt x="60000" y="120000"/>
                  </a:lnTo>
                  <a:lnTo>
                    <a:pt x="60000" y="0"/>
                  </a:lnTo>
                  <a:lnTo>
                    <a:pt x="120000" y="0"/>
                  </a:lnTo>
                </a:path>
              </a:pathLst>
            </a:custGeom>
            <a:noFill/>
            <a:ln cap="flat" cmpd="sng" w="12700">
              <a:solidFill>
                <a:srgbClr val="08D0D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17"/>
            <p:cNvSpPr/>
            <p:nvPr/>
          </p:nvSpPr>
          <p:spPr>
            <a:xfrm>
              <a:off x="4171" y="1372172"/>
              <a:ext cx="3090369" cy="942562"/>
            </a:xfrm>
            <a:prstGeom prst="rect">
              <a:avLst/>
            </a:prstGeom>
            <a:solidFill>
              <a:srgbClr val="59595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7"/>
            <p:cNvSpPr txBox="1"/>
            <p:nvPr/>
          </p:nvSpPr>
          <p:spPr>
            <a:xfrm>
              <a:off x="4171" y="1372172"/>
              <a:ext cx="3090369" cy="942562"/>
            </a:xfrm>
            <a:prstGeom prst="rect">
              <a:avLst/>
            </a:prstGeom>
            <a:noFill/>
            <a:ln>
              <a:noFill/>
            </a:ln>
          </p:spPr>
          <p:txBody>
            <a:bodyPr anchorCtr="0" anchor="ctr" bIns="19050" lIns="19050" spcFirstLastPara="1" rIns="19050" wrap="square" tIns="19050">
              <a:noAutofit/>
            </a:bodyPr>
            <a:lstStyle/>
            <a:p>
              <a:pPr indent="0" lvl="0" marL="0" marR="0" rtl="0" algn="ctr">
                <a:lnSpc>
                  <a:spcPct val="90000"/>
                </a:lnSpc>
                <a:spcBef>
                  <a:spcPts val="0"/>
                </a:spcBef>
                <a:spcAft>
                  <a:spcPts val="0"/>
                </a:spcAft>
                <a:buClr>
                  <a:schemeClr val="lt1"/>
                </a:buClr>
                <a:buSzPts val="3000"/>
                <a:buFont typeface="Calibri"/>
                <a:buNone/>
              </a:pPr>
              <a:r>
                <a:rPr b="0" i="0" lang="id-ID" sz="3000" u="none" cap="none" strike="noStrike">
                  <a:solidFill>
                    <a:schemeClr val="lt1"/>
                  </a:solidFill>
                  <a:latin typeface="Calibri"/>
                  <a:ea typeface="Calibri"/>
                  <a:cs typeface="Calibri"/>
                  <a:sym typeface="Calibri"/>
                </a:rPr>
                <a:t>Ilmu</a:t>
              </a:r>
              <a:endParaRPr b="0" i="0" sz="1400" u="none" cap="none" strike="noStrike">
                <a:solidFill>
                  <a:srgbClr val="000000"/>
                </a:solidFill>
                <a:latin typeface="Arial"/>
                <a:ea typeface="Arial"/>
                <a:cs typeface="Arial"/>
                <a:sym typeface="Arial"/>
              </a:endParaRPr>
            </a:p>
          </p:txBody>
        </p:sp>
        <p:sp>
          <p:nvSpPr>
            <p:cNvPr id="417" name="Google Shape;417;p17"/>
            <p:cNvSpPr/>
            <p:nvPr/>
          </p:nvSpPr>
          <p:spPr>
            <a:xfrm>
              <a:off x="3712615" y="375528"/>
              <a:ext cx="3090369" cy="942562"/>
            </a:xfrm>
            <a:prstGeom prst="rect">
              <a:avLst/>
            </a:prstGeom>
            <a:solidFill>
              <a:srgbClr val="2190C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7"/>
            <p:cNvSpPr txBox="1"/>
            <p:nvPr/>
          </p:nvSpPr>
          <p:spPr>
            <a:xfrm>
              <a:off x="3712615" y="375528"/>
              <a:ext cx="3090369" cy="942562"/>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Calibri"/>
                <a:buNone/>
              </a:pPr>
              <a:r>
                <a:rPr b="0" i="1" lang="id-ID" sz="2300" u="none" cap="none" strike="noStrike">
                  <a:solidFill>
                    <a:schemeClr val="lt1"/>
                  </a:solidFill>
                  <a:latin typeface="Calibri"/>
                  <a:ea typeface="Calibri"/>
                  <a:cs typeface="Calibri"/>
                  <a:sym typeface="Calibri"/>
                </a:rPr>
                <a:t>Fardhu ‘Ain</a:t>
              </a:r>
              <a:endParaRPr b="0" i="0" sz="1400" u="none" cap="none" strike="noStrike">
                <a:solidFill>
                  <a:srgbClr val="000000"/>
                </a:solidFill>
                <a:latin typeface="Arial"/>
                <a:ea typeface="Arial"/>
                <a:cs typeface="Arial"/>
                <a:sym typeface="Arial"/>
              </a:endParaRPr>
            </a:p>
          </p:txBody>
        </p:sp>
        <p:sp>
          <p:nvSpPr>
            <p:cNvPr id="419" name="Google Shape;419;p17"/>
            <p:cNvSpPr/>
            <p:nvPr/>
          </p:nvSpPr>
          <p:spPr>
            <a:xfrm>
              <a:off x="7421058" y="375528"/>
              <a:ext cx="3090369" cy="942562"/>
            </a:xfrm>
            <a:prstGeom prst="rect">
              <a:avLst/>
            </a:prstGeom>
            <a:solidFill>
              <a:srgbClr val="54A83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7"/>
            <p:cNvSpPr txBox="1"/>
            <p:nvPr/>
          </p:nvSpPr>
          <p:spPr>
            <a:xfrm>
              <a:off x="7421058" y="375528"/>
              <a:ext cx="3090369" cy="942562"/>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Calibri"/>
                <a:buNone/>
              </a:pPr>
              <a:r>
                <a:rPr b="0" i="0" lang="id-ID" sz="2300" u="none" cap="none" strike="noStrike">
                  <a:solidFill>
                    <a:schemeClr val="lt1"/>
                  </a:solidFill>
                  <a:latin typeface="Calibri"/>
                  <a:ea typeface="Calibri"/>
                  <a:cs typeface="Calibri"/>
                  <a:sym typeface="Calibri"/>
                </a:rPr>
                <a:t>Ilmu tentang Pokok-Pokok Agama</a:t>
              </a:r>
              <a:endParaRPr b="0" i="0" sz="1400" u="none" cap="none" strike="noStrike">
                <a:solidFill>
                  <a:srgbClr val="000000"/>
                </a:solidFill>
                <a:latin typeface="Arial"/>
                <a:ea typeface="Arial"/>
                <a:cs typeface="Arial"/>
                <a:sym typeface="Arial"/>
              </a:endParaRPr>
            </a:p>
          </p:txBody>
        </p:sp>
        <p:sp>
          <p:nvSpPr>
            <p:cNvPr id="421" name="Google Shape;421;p17"/>
            <p:cNvSpPr/>
            <p:nvPr/>
          </p:nvSpPr>
          <p:spPr>
            <a:xfrm>
              <a:off x="3712615" y="2368817"/>
              <a:ext cx="3090369" cy="942562"/>
            </a:xfrm>
            <a:prstGeom prst="rect">
              <a:avLst/>
            </a:prstGeom>
            <a:solidFill>
              <a:srgbClr val="2190C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7"/>
            <p:cNvSpPr txBox="1"/>
            <p:nvPr/>
          </p:nvSpPr>
          <p:spPr>
            <a:xfrm>
              <a:off x="3712615" y="2368817"/>
              <a:ext cx="3090369" cy="942562"/>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Calibri"/>
                <a:buNone/>
              </a:pPr>
              <a:r>
                <a:rPr b="0" i="1" lang="id-ID" sz="2300" u="none" cap="none" strike="noStrike">
                  <a:solidFill>
                    <a:schemeClr val="lt1"/>
                  </a:solidFill>
                  <a:latin typeface="Calibri"/>
                  <a:ea typeface="Calibri"/>
                  <a:cs typeface="Calibri"/>
                  <a:sym typeface="Calibri"/>
                </a:rPr>
                <a:t>Fardhu Kifayah</a:t>
              </a:r>
              <a:endParaRPr b="0" i="1" sz="2300" u="none" cap="none" strike="noStrike">
                <a:solidFill>
                  <a:schemeClr val="lt1"/>
                </a:solidFill>
                <a:latin typeface="Calibri"/>
                <a:ea typeface="Calibri"/>
                <a:cs typeface="Calibri"/>
                <a:sym typeface="Calibri"/>
              </a:endParaRPr>
            </a:p>
          </p:txBody>
        </p:sp>
        <p:sp>
          <p:nvSpPr>
            <p:cNvPr id="423" name="Google Shape;423;p17"/>
            <p:cNvSpPr/>
            <p:nvPr/>
          </p:nvSpPr>
          <p:spPr>
            <a:xfrm>
              <a:off x="7421058" y="1704387"/>
              <a:ext cx="3090369" cy="942562"/>
            </a:xfrm>
            <a:prstGeom prst="rect">
              <a:avLst/>
            </a:prstGeom>
            <a:solidFill>
              <a:srgbClr val="54A83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7"/>
            <p:cNvSpPr txBox="1"/>
            <p:nvPr/>
          </p:nvSpPr>
          <p:spPr>
            <a:xfrm>
              <a:off x="7421058" y="1704387"/>
              <a:ext cx="3090369" cy="942562"/>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Calibri"/>
                <a:buNone/>
              </a:pPr>
              <a:r>
                <a:rPr b="0" i="0" lang="id-ID" sz="2300" u="none" cap="none" strike="noStrike">
                  <a:solidFill>
                    <a:schemeClr val="lt1"/>
                  </a:solidFill>
                  <a:latin typeface="Calibri"/>
                  <a:ea typeface="Calibri"/>
                  <a:cs typeface="Calibri"/>
                  <a:sym typeface="Calibri"/>
                </a:rPr>
                <a:t>Mendalami Ilmu-Ilmu Agama</a:t>
              </a:r>
              <a:endParaRPr b="0" i="0" sz="1400" u="none" cap="none" strike="noStrike">
                <a:solidFill>
                  <a:srgbClr val="000000"/>
                </a:solidFill>
                <a:latin typeface="Arial"/>
                <a:ea typeface="Arial"/>
                <a:cs typeface="Arial"/>
                <a:sym typeface="Arial"/>
              </a:endParaRPr>
            </a:p>
          </p:txBody>
        </p:sp>
        <p:sp>
          <p:nvSpPr>
            <p:cNvPr id="425" name="Google Shape;425;p17"/>
            <p:cNvSpPr/>
            <p:nvPr/>
          </p:nvSpPr>
          <p:spPr>
            <a:xfrm>
              <a:off x="7421058" y="3033246"/>
              <a:ext cx="3090369" cy="942562"/>
            </a:xfrm>
            <a:prstGeom prst="rect">
              <a:avLst/>
            </a:prstGeom>
            <a:solidFill>
              <a:srgbClr val="54A838"/>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7"/>
            <p:cNvSpPr txBox="1"/>
            <p:nvPr/>
          </p:nvSpPr>
          <p:spPr>
            <a:xfrm>
              <a:off x="7421058" y="3033246"/>
              <a:ext cx="3090369" cy="942562"/>
            </a:xfrm>
            <a:prstGeom prst="rect">
              <a:avLst/>
            </a:prstGeom>
            <a:noFill/>
            <a:ln>
              <a:noFill/>
            </a:ln>
          </p:spPr>
          <p:txBody>
            <a:bodyPr anchorCtr="0" anchor="ctr" bIns="14600" lIns="14600" spcFirstLastPara="1" rIns="14600" wrap="square" tIns="14600">
              <a:noAutofit/>
            </a:bodyPr>
            <a:lstStyle/>
            <a:p>
              <a:pPr indent="0" lvl="0" marL="0" marR="0" rtl="0" algn="ctr">
                <a:lnSpc>
                  <a:spcPct val="90000"/>
                </a:lnSpc>
                <a:spcBef>
                  <a:spcPts val="0"/>
                </a:spcBef>
                <a:spcAft>
                  <a:spcPts val="0"/>
                </a:spcAft>
                <a:buClr>
                  <a:schemeClr val="lt1"/>
                </a:buClr>
                <a:buSzPts val="2300"/>
                <a:buFont typeface="Calibri"/>
                <a:buNone/>
              </a:pPr>
              <a:r>
                <a:rPr b="0" i="0" lang="id-ID" sz="2300" u="none" cap="none" strike="noStrike">
                  <a:solidFill>
                    <a:schemeClr val="lt1"/>
                  </a:solidFill>
                  <a:latin typeface="Calibri"/>
                  <a:ea typeface="Calibri"/>
                  <a:cs typeface="Calibri"/>
                  <a:sym typeface="Calibri"/>
                </a:rPr>
                <a:t>Menguasai Ilmu-Ilmu Dunia</a:t>
              </a:r>
              <a:endParaRPr b="0" i="0" sz="1400" u="none" cap="none" strike="noStrike">
                <a:solidFill>
                  <a:srgbClr val="000000"/>
                </a:solidFill>
                <a:latin typeface="Arial"/>
                <a:ea typeface="Arial"/>
                <a:cs typeface="Arial"/>
                <a:sym typeface="Arial"/>
              </a:endParaRPr>
            </a:p>
          </p:txBody>
        </p:sp>
      </p:grpSp>
      <p:sp>
        <p:nvSpPr>
          <p:cNvPr id="427" name="Google Shape;427;p17"/>
          <p:cNvSpPr txBox="1"/>
          <p:nvPr/>
        </p:nvSpPr>
        <p:spPr>
          <a:xfrm>
            <a:off x="838200" y="5749638"/>
            <a:ext cx="5578366" cy="584775"/>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Calibri"/>
                <a:ea typeface="Calibri"/>
                <a:cs typeface="Calibri"/>
                <a:sym typeface="Calibri"/>
              </a:rPr>
              <a:t>Yusuf al-Qaradawi, </a:t>
            </a:r>
            <a:r>
              <a:rPr b="0" i="1" lang="id-ID" sz="1600" u="none" cap="none" strike="noStrike">
                <a:solidFill>
                  <a:schemeClr val="dk1"/>
                </a:solidFill>
                <a:latin typeface="Calibri"/>
                <a:ea typeface="Calibri"/>
                <a:cs typeface="Calibri"/>
                <a:sym typeface="Calibri"/>
              </a:rPr>
              <a:t>Taysir al-Fiqh li-al-Muslim al-Mu‘ashir</a:t>
            </a:r>
            <a:r>
              <a:rPr b="0" i="0" lang="id-ID" sz="1600" u="none" cap="none" strike="noStrike">
                <a:solidFill>
                  <a:schemeClr val="dk1"/>
                </a:solidFill>
                <a:latin typeface="Calibri"/>
                <a:ea typeface="Calibri"/>
                <a:cs typeface="Calibri"/>
                <a:sym typeface="Calibri"/>
              </a:rPr>
              <a:t> (Beirut: Mu’assasah al-Risalah, 2001 ), 218-249.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1" name="Shape 431"/>
        <p:cNvGrpSpPr/>
        <p:nvPr/>
      </p:nvGrpSpPr>
      <p:grpSpPr>
        <a:xfrm>
          <a:off x="0" y="0"/>
          <a:ext cx="0" cy="0"/>
          <a:chOff x="0" y="0"/>
          <a:chExt cx="0" cy="0"/>
        </a:xfrm>
      </p:grpSpPr>
      <p:sp>
        <p:nvSpPr>
          <p:cNvPr id="432" name="Google Shape;432;p18"/>
          <p:cNvSpPr txBox="1"/>
          <p:nvPr>
            <p:ph type="title"/>
          </p:nvPr>
        </p:nvSpPr>
        <p:spPr>
          <a:xfrm>
            <a:off x="744468" y="551078"/>
            <a:ext cx="7338827" cy="757459"/>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C0C0C"/>
              </a:buClr>
              <a:buSzPts val="4200"/>
              <a:buFont typeface="Calibri"/>
              <a:buNone/>
            </a:pPr>
            <a:r>
              <a:rPr b="1" lang="id-ID" sz="4200">
                <a:solidFill>
                  <a:srgbClr val="0C0C0C"/>
                </a:solidFill>
              </a:rPr>
              <a:t>Pentingnya Ilmu-Ilmu Dunia</a:t>
            </a:r>
            <a:endParaRPr/>
          </a:p>
        </p:txBody>
      </p:sp>
      <p:sp>
        <p:nvSpPr>
          <p:cNvPr id="433" name="Google Shape;433;p18"/>
          <p:cNvSpPr txBox="1"/>
          <p:nvPr>
            <p:ph idx="1" type="body"/>
          </p:nvPr>
        </p:nvSpPr>
        <p:spPr>
          <a:xfrm>
            <a:off x="896112" y="1716143"/>
            <a:ext cx="5199888" cy="394367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C0C0C"/>
              </a:buClr>
              <a:buSzPts val="2200"/>
              <a:buChar char="•"/>
            </a:pPr>
            <a:r>
              <a:rPr lang="id-ID" sz="2200">
                <a:solidFill>
                  <a:srgbClr val="0C0C0C"/>
                </a:solidFill>
                <a:latin typeface="Calibri"/>
                <a:ea typeface="Calibri"/>
                <a:cs typeface="Calibri"/>
                <a:sym typeface="Calibri"/>
              </a:rPr>
              <a:t> “Tidak perlu terkejut dengan pendapat saya bahwa ilmu kedokteran dan matematika termasuk </a:t>
            </a:r>
            <a:r>
              <a:rPr i="1" lang="id-ID" sz="2200">
                <a:solidFill>
                  <a:srgbClr val="0C0C0C"/>
                </a:solidFill>
                <a:latin typeface="Calibri"/>
                <a:ea typeface="Calibri"/>
                <a:cs typeface="Calibri"/>
                <a:sym typeface="Calibri"/>
              </a:rPr>
              <a:t>fardhu kifayah</a:t>
            </a:r>
            <a:r>
              <a:rPr lang="id-ID" sz="2200">
                <a:solidFill>
                  <a:srgbClr val="0C0C0C"/>
                </a:solidFill>
                <a:latin typeface="Calibri"/>
                <a:ea typeface="Calibri"/>
                <a:cs typeface="Calibri"/>
                <a:sym typeface="Calibri"/>
              </a:rPr>
              <a:t>, karena sebenarnya ilmu tentang pokok-pokok industri dan pembangunan juga termasuk </a:t>
            </a:r>
            <a:r>
              <a:rPr i="1" lang="id-ID" sz="2200">
                <a:solidFill>
                  <a:srgbClr val="0C0C0C"/>
                </a:solidFill>
                <a:latin typeface="Calibri"/>
                <a:ea typeface="Calibri"/>
                <a:cs typeface="Calibri"/>
                <a:sym typeface="Calibri"/>
              </a:rPr>
              <a:t>fardhu kifayah;</a:t>
            </a:r>
            <a:r>
              <a:rPr lang="id-ID" sz="2200">
                <a:solidFill>
                  <a:srgbClr val="0C0C0C"/>
                </a:solidFill>
                <a:latin typeface="Calibri"/>
                <a:ea typeface="Calibri"/>
                <a:cs typeface="Calibri"/>
                <a:sym typeface="Calibri"/>
              </a:rPr>
              <a:t> seperti ilmu pertanian, ilmu tenun, politik, bahkan ilmu bekam dan menjahit. Jika seandainya suatu daerah tidak memiliki seorang pembekam, maka kebinasaan akan menimpa penduduknya, dan mereka akan mengalami penderitaan ketika membiarkan dirinya binasa.”      </a:t>
            </a:r>
            <a:endParaRPr/>
          </a:p>
        </p:txBody>
      </p:sp>
      <p:grpSp>
        <p:nvGrpSpPr>
          <p:cNvPr id="434" name="Google Shape;434;p18"/>
          <p:cNvGrpSpPr/>
          <p:nvPr/>
        </p:nvGrpSpPr>
        <p:grpSpPr>
          <a:xfrm>
            <a:off x="-167586" y="4843360"/>
            <a:ext cx="2137158" cy="2365398"/>
            <a:chOff x="-183916" y="4530903"/>
            <a:chExt cx="2462416" cy="2725395"/>
          </a:xfrm>
        </p:grpSpPr>
        <p:sp>
          <p:nvSpPr>
            <p:cNvPr id="435" name="Google Shape;435;p18"/>
            <p:cNvSpPr/>
            <p:nvPr/>
          </p:nvSpPr>
          <p:spPr>
            <a:xfrm rot="-199868">
              <a:off x="1073269" y="6038524"/>
              <a:ext cx="374890" cy="373361"/>
            </a:xfrm>
            <a:custGeom>
              <a:rect b="b" l="l" r="r" t="t"/>
              <a:pathLst>
                <a:path extrusionOk="0" h="4842789" w="4806392">
                  <a:moveTo>
                    <a:pt x="2649000" y="2"/>
                  </a:moveTo>
                  <a:cubicBezTo>
                    <a:pt x="3339628" y="183344"/>
                    <a:pt x="4435570" y="1271060"/>
                    <a:pt x="4735908" y="1905908"/>
                  </a:cubicBezTo>
                  <a:cubicBezTo>
                    <a:pt x="5036246" y="2540756"/>
                    <a:pt x="4316853" y="4034873"/>
                    <a:pt x="3706624" y="4493428"/>
                  </a:cubicBezTo>
                  <a:cubicBezTo>
                    <a:pt x="3096395" y="4951983"/>
                    <a:pt x="1686746" y="4906865"/>
                    <a:pt x="1074535" y="4657238"/>
                  </a:cubicBezTo>
                  <a:cubicBezTo>
                    <a:pt x="462324" y="4407611"/>
                    <a:pt x="145196" y="3624902"/>
                    <a:pt x="33359" y="2995667"/>
                  </a:cubicBezTo>
                  <a:cubicBezTo>
                    <a:pt x="-94426" y="2318585"/>
                    <a:pt x="156197" y="1305135"/>
                    <a:pt x="592137" y="805858"/>
                  </a:cubicBezTo>
                  <a:cubicBezTo>
                    <a:pt x="1028077" y="306581"/>
                    <a:pt x="1996327" y="30750"/>
                    <a:pt x="2649000" y="2"/>
                  </a:cubicBezTo>
                  <a:close/>
                </a:path>
              </a:pathLst>
            </a:custGeom>
            <a:solidFill>
              <a:srgbClr val="C8F9F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6" name="Google Shape;436;p18"/>
            <p:cNvSpPr/>
            <p:nvPr/>
          </p:nvSpPr>
          <p:spPr>
            <a:xfrm rot="-2670924">
              <a:off x="962723" y="6319494"/>
              <a:ext cx="1307564" cy="558574"/>
            </a:xfrm>
            <a:custGeom>
              <a:rect b="b" l="l" r="r" t="t"/>
              <a:pathLst>
                <a:path extrusionOk="0" h="558574" w="1307564">
                  <a:moveTo>
                    <a:pt x="1307564" y="360848"/>
                  </a:moveTo>
                  <a:cubicBezTo>
                    <a:pt x="1303188" y="403876"/>
                    <a:pt x="1279827" y="564823"/>
                    <a:pt x="1264610" y="558387"/>
                  </a:cubicBezTo>
                  <a:cubicBezTo>
                    <a:pt x="1237694" y="559849"/>
                    <a:pt x="802592" y="520038"/>
                    <a:pt x="496925" y="469382"/>
                  </a:cubicBezTo>
                  <a:lnTo>
                    <a:pt x="472802" y="464872"/>
                  </a:lnTo>
                  <a:lnTo>
                    <a:pt x="0" y="0"/>
                  </a:lnTo>
                  <a:lnTo>
                    <a:pt x="152076" y="41404"/>
                  </a:lnTo>
                  <a:cubicBezTo>
                    <a:pt x="614511" y="166095"/>
                    <a:pt x="1270124" y="336305"/>
                    <a:pt x="1307564" y="360848"/>
                  </a:cubicBezTo>
                  <a:close/>
                </a:path>
              </a:pathLst>
            </a:custGeom>
            <a:solidFill>
              <a:srgbClr val="92F7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7" name="Google Shape;437;p18"/>
            <p:cNvSpPr/>
            <p:nvPr/>
          </p:nvSpPr>
          <p:spPr>
            <a:xfrm rot="-2670924">
              <a:off x="962723" y="6319494"/>
              <a:ext cx="1307564" cy="558574"/>
            </a:xfrm>
            <a:custGeom>
              <a:rect b="b" l="l" r="r" t="t"/>
              <a:pathLst>
                <a:path extrusionOk="0" h="558574" w="1307564">
                  <a:moveTo>
                    <a:pt x="1307564" y="360848"/>
                  </a:moveTo>
                  <a:cubicBezTo>
                    <a:pt x="1303188" y="403876"/>
                    <a:pt x="1279827" y="564823"/>
                    <a:pt x="1264610" y="558387"/>
                  </a:cubicBezTo>
                  <a:cubicBezTo>
                    <a:pt x="1237694" y="559849"/>
                    <a:pt x="802592" y="520038"/>
                    <a:pt x="496925" y="469382"/>
                  </a:cubicBezTo>
                  <a:lnTo>
                    <a:pt x="472802" y="464872"/>
                  </a:lnTo>
                  <a:lnTo>
                    <a:pt x="0" y="0"/>
                  </a:lnTo>
                  <a:lnTo>
                    <a:pt x="152076" y="41404"/>
                  </a:lnTo>
                  <a:cubicBezTo>
                    <a:pt x="614511" y="166095"/>
                    <a:pt x="1270124" y="336305"/>
                    <a:pt x="1307564" y="360848"/>
                  </a:cubicBezTo>
                  <a:close/>
                </a:path>
              </a:pathLst>
            </a:custGeom>
            <a:solidFill>
              <a:srgbClr val="C8F9FC">
                <a:alpha val="6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8" name="Google Shape;438;p18"/>
            <p:cNvSpPr/>
            <p:nvPr/>
          </p:nvSpPr>
          <p:spPr>
            <a:xfrm flipH="1" rot="-5861993">
              <a:off x="-570599" y="5091873"/>
              <a:ext cx="1904974" cy="884345"/>
            </a:xfrm>
            <a:custGeom>
              <a:rect b="b" l="l" r="r" t="t"/>
              <a:pathLst>
                <a:path extrusionOk="0" h="884345" w="1904974">
                  <a:moveTo>
                    <a:pt x="0" y="421557"/>
                  </a:moveTo>
                  <a:cubicBezTo>
                    <a:pt x="3634" y="427260"/>
                    <a:pt x="235761" y="473169"/>
                    <a:pt x="416370" y="530740"/>
                  </a:cubicBezTo>
                  <a:lnTo>
                    <a:pt x="1800731" y="866036"/>
                  </a:lnTo>
                  <a:cubicBezTo>
                    <a:pt x="1847450" y="875071"/>
                    <a:pt x="1894389" y="892323"/>
                    <a:pt x="1904485" y="880134"/>
                  </a:cubicBezTo>
                  <a:cubicBezTo>
                    <a:pt x="1907165" y="859490"/>
                    <a:pt x="1898113" y="808332"/>
                    <a:pt x="1894966" y="779469"/>
                  </a:cubicBezTo>
                  <a:cubicBezTo>
                    <a:pt x="1878988" y="675447"/>
                    <a:pt x="1847255" y="520751"/>
                    <a:pt x="1761844" y="402374"/>
                  </a:cubicBezTo>
                  <a:cubicBezTo>
                    <a:pt x="1676433" y="283997"/>
                    <a:pt x="1531056" y="114087"/>
                    <a:pt x="1377785" y="3317"/>
                  </a:cubicBezTo>
                  <a:lnTo>
                    <a:pt x="1372668" y="0"/>
                  </a:lnTo>
                  <a:lnTo>
                    <a:pt x="337869" y="139908"/>
                  </a:lnTo>
                  <a:lnTo>
                    <a:pt x="188081" y="203651"/>
                  </a:lnTo>
                  <a:lnTo>
                    <a:pt x="125663" y="268413"/>
                  </a:lnTo>
                  <a:cubicBezTo>
                    <a:pt x="56438" y="343137"/>
                    <a:pt x="7361" y="404648"/>
                    <a:pt x="0" y="421557"/>
                  </a:cubicBezTo>
                  <a:close/>
                </a:path>
              </a:pathLst>
            </a:custGeom>
            <a:solidFill>
              <a:srgbClr val="92F6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9" name="Google Shape;439;p18"/>
            <p:cNvSpPr/>
            <p:nvPr/>
          </p:nvSpPr>
          <p:spPr>
            <a:xfrm flipH="1" rot="-5861993">
              <a:off x="-570599" y="5091873"/>
              <a:ext cx="1904974" cy="884345"/>
            </a:xfrm>
            <a:custGeom>
              <a:rect b="b" l="l" r="r" t="t"/>
              <a:pathLst>
                <a:path extrusionOk="0" h="884345" w="1904974">
                  <a:moveTo>
                    <a:pt x="0" y="421557"/>
                  </a:moveTo>
                  <a:cubicBezTo>
                    <a:pt x="3634" y="427260"/>
                    <a:pt x="235761" y="473169"/>
                    <a:pt x="416370" y="530740"/>
                  </a:cubicBezTo>
                  <a:lnTo>
                    <a:pt x="1800731" y="866036"/>
                  </a:lnTo>
                  <a:cubicBezTo>
                    <a:pt x="1847450" y="875071"/>
                    <a:pt x="1894389" y="892323"/>
                    <a:pt x="1904485" y="880134"/>
                  </a:cubicBezTo>
                  <a:cubicBezTo>
                    <a:pt x="1907165" y="859490"/>
                    <a:pt x="1898113" y="808332"/>
                    <a:pt x="1894966" y="779469"/>
                  </a:cubicBezTo>
                  <a:cubicBezTo>
                    <a:pt x="1878988" y="675447"/>
                    <a:pt x="1847255" y="520751"/>
                    <a:pt x="1761844" y="402374"/>
                  </a:cubicBezTo>
                  <a:cubicBezTo>
                    <a:pt x="1676433" y="283997"/>
                    <a:pt x="1531056" y="114087"/>
                    <a:pt x="1377785" y="3317"/>
                  </a:cubicBezTo>
                  <a:lnTo>
                    <a:pt x="1372668" y="0"/>
                  </a:lnTo>
                  <a:lnTo>
                    <a:pt x="337869" y="139908"/>
                  </a:lnTo>
                  <a:lnTo>
                    <a:pt x="188081" y="203651"/>
                  </a:lnTo>
                  <a:lnTo>
                    <a:pt x="125663" y="268413"/>
                  </a:lnTo>
                  <a:cubicBezTo>
                    <a:pt x="56438" y="343137"/>
                    <a:pt x="7361" y="404648"/>
                    <a:pt x="0" y="421557"/>
                  </a:cubicBezTo>
                  <a:close/>
                </a:path>
              </a:pathLst>
            </a:custGeom>
            <a:solidFill>
              <a:srgbClr val="92F7DB">
                <a:alpha val="3450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440" name="Google Shape;440;p18"/>
          <p:cNvPicPr preferRelativeResize="0"/>
          <p:nvPr/>
        </p:nvPicPr>
        <p:blipFill rotWithShape="1">
          <a:blip r:embed="rId3">
            <a:alphaModFix/>
          </a:blip>
          <a:srcRect b="0" l="0" r="0" t="0"/>
          <a:stretch/>
        </p:blipFill>
        <p:spPr>
          <a:xfrm>
            <a:off x="7551683" y="738554"/>
            <a:ext cx="3451129" cy="4921267"/>
          </a:xfrm>
          <a:prstGeom prst="rect">
            <a:avLst/>
          </a:prstGeom>
          <a:noFill/>
          <a:ln>
            <a:noFill/>
          </a:ln>
        </p:spPr>
      </p:pic>
      <p:sp>
        <p:nvSpPr>
          <p:cNvPr id="441" name="Google Shape;441;p18"/>
          <p:cNvSpPr txBox="1"/>
          <p:nvPr/>
        </p:nvSpPr>
        <p:spPr>
          <a:xfrm>
            <a:off x="6969221" y="5900289"/>
            <a:ext cx="4616051" cy="584775"/>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id-ID" sz="1600" u="none" cap="none" strike="noStrike">
                <a:solidFill>
                  <a:schemeClr val="dk1"/>
                </a:solidFill>
                <a:latin typeface="Calibri"/>
                <a:ea typeface="Calibri"/>
                <a:cs typeface="Calibri"/>
                <a:sym typeface="Calibri"/>
              </a:rPr>
              <a:t>Abu Hamid al-Ghazali, </a:t>
            </a:r>
            <a:r>
              <a:rPr b="0" i="1" lang="id-ID" sz="1600" u="none" cap="none" strike="noStrike">
                <a:solidFill>
                  <a:schemeClr val="dk1"/>
                </a:solidFill>
                <a:latin typeface="Calibri"/>
                <a:ea typeface="Calibri"/>
                <a:cs typeface="Calibri"/>
                <a:sym typeface="Calibri"/>
              </a:rPr>
              <a:t>Ihya ‘Ulum al-Din</a:t>
            </a:r>
            <a:r>
              <a:rPr b="0" i="0" lang="id-ID" sz="1600" u="none" cap="none" strike="noStrike">
                <a:solidFill>
                  <a:schemeClr val="dk1"/>
                </a:solidFill>
                <a:latin typeface="Calibri"/>
                <a:ea typeface="Calibri"/>
                <a:cs typeface="Calibri"/>
                <a:sym typeface="Calibri"/>
              </a:rPr>
              <a:t>, vol. 1 (Kairo: Dar al-Bayan al-’Arabi, 2005), 26.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5" name="Shape 445"/>
        <p:cNvGrpSpPr/>
        <p:nvPr/>
      </p:nvGrpSpPr>
      <p:grpSpPr>
        <a:xfrm>
          <a:off x="0" y="0"/>
          <a:ext cx="0" cy="0"/>
          <a:chOff x="0" y="0"/>
          <a:chExt cx="0" cy="0"/>
        </a:xfrm>
      </p:grpSpPr>
      <p:sp>
        <p:nvSpPr>
          <p:cNvPr id="446" name="Google Shape;446;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7" name="Google Shape;447;p19"/>
          <p:cNvSpPr txBox="1"/>
          <p:nvPr>
            <p:ph type="title"/>
          </p:nvPr>
        </p:nvSpPr>
        <p:spPr>
          <a:xfrm>
            <a:off x="841248" y="256032"/>
            <a:ext cx="10506456" cy="101498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id-ID"/>
              <a:t>Komentar terhadap Pendapat al-Ghazali</a:t>
            </a:r>
            <a:endParaRPr/>
          </a:p>
        </p:txBody>
      </p:sp>
      <p:sp>
        <p:nvSpPr>
          <p:cNvPr id="448" name="Google Shape;448;p19"/>
          <p:cNvSpPr/>
          <p:nvPr/>
        </p:nvSpPr>
        <p:spPr>
          <a:xfrm>
            <a:off x="865953" y="1634502"/>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9" name="Google Shape;449;p19"/>
          <p:cNvSpPr/>
          <p:nvPr/>
        </p:nvSpPr>
        <p:spPr>
          <a:xfrm flipH="1" rot="10800000">
            <a:off x="841248" y="1538176"/>
            <a:ext cx="1873457" cy="10981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50" name="Google Shape;450;p19"/>
          <p:cNvSpPr/>
          <p:nvPr/>
        </p:nvSpPr>
        <p:spPr>
          <a:xfrm>
            <a:off x="841250" y="1845600"/>
            <a:ext cx="7523400" cy="367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0" i="0" lang="id-ID" sz="2100" u="none" cap="none" strike="noStrike">
                <a:solidFill>
                  <a:schemeClr val="dk1"/>
                </a:solidFill>
                <a:latin typeface="Calibri"/>
                <a:ea typeface="Calibri"/>
                <a:cs typeface="Calibri"/>
                <a:sym typeface="Calibri"/>
              </a:rPr>
              <a:t>“Apa yang dikatakan oleh al-Ghazali di sini kuat dan sesuai dengan tujuan-tujuan syariat, karena syariat bertujuan untuk menciptakan umat yang tangguh, mulia, mandiri, dan mampu menghadapi musuh-musuhnya. Ini mengharuskannya—secara otomatis—untuk unggul dalam semua bidang ilmu kealaman dan matematika, bukan hanya di bidang kedokteran dan ilmu hitung saja. Al-Ghazali berpendapat seperti itu berdasar konteks zamannya. Umat Islam di zaman kita perlu menguasai beragam industri berteknologi tinggi, bukan hanya model-model industri klasik. Maka, setiap ilmu yang mendorong dan membantu merealisasikan penguasaan tersebut, mempelajarinya bersifat </a:t>
            </a:r>
            <a:r>
              <a:rPr b="0" i="1" lang="id-ID" sz="2100" u="none" cap="none" strike="noStrike">
                <a:solidFill>
                  <a:schemeClr val="dk1"/>
                </a:solidFill>
                <a:latin typeface="Calibri"/>
                <a:ea typeface="Calibri"/>
                <a:cs typeface="Calibri"/>
                <a:sym typeface="Calibri"/>
              </a:rPr>
              <a:t>fardu kifayah</a:t>
            </a:r>
            <a:r>
              <a:rPr b="0" i="0" lang="id-ID" sz="2100" u="none" cap="none" strike="noStrike">
                <a:solidFill>
                  <a:schemeClr val="dk1"/>
                </a:solidFill>
                <a:latin typeface="Calibri"/>
                <a:ea typeface="Calibri"/>
                <a:cs typeface="Calibri"/>
                <a:sym typeface="Calibri"/>
              </a:rPr>
              <a:t>.”   </a:t>
            </a:r>
            <a:endParaRPr b="0" i="0" sz="2100" u="none" cap="none" strike="noStrike">
              <a:solidFill>
                <a:schemeClr val="dk1"/>
              </a:solidFill>
              <a:latin typeface="Calibri"/>
              <a:ea typeface="Calibri"/>
              <a:cs typeface="Calibri"/>
              <a:sym typeface="Calibri"/>
            </a:endParaRPr>
          </a:p>
        </p:txBody>
      </p:sp>
      <p:sp>
        <p:nvSpPr>
          <p:cNvPr id="451" name="Google Shape;451;p19"/>
          <p:cNvSpPr txBox="1"/>
          <p:nvPr/>
        </p:nvSpPr>
        <p:spPr>
          <a:xfrm>
            <a:off x="865953" y="5984551"/>
            <a:ext cx="5058904" cy="53553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40"/>
              <a:buFont typeface="Arial"/>
              <a:buNone/>
            </a:pPr>
            <a:r>
              <a:rPr b="0" i="0" lang="id-ID" sz="1440" u="none" cap="none" strike="noStrike">
                <a:solidFill>
                  <a:schemeClr val="dk1"/>
                </a:solidFill>
                <a:latin typeface="Calibri"/>
                <a:ea typeface="Calibri"/>
                <a:cs typeface="Calibri"/>
                <a:sym typeface="Calibri"/>
              </a:rPr>
              <a:t>Yusuf al-Qaradawi, </a:t>
            </a:r>
            <a:r>
              <a:rPr b="0" i="1" lang="id-ID" sz="1440" u="none" cap="none" strike="noStrike">
                <a:solidFill>
                  <a:schemeClr val="dk1"/>
                </a:solidFill>
                <a:latin typeface="Calibri"/>
                <a:ea typeface="Calibri"/>
                <a:cs typeface="Calibri"/>
                <a:sym typeface="Calibri"/>
              </a:rPr>
              <a:t>Taysir al-Fiqh li-al-Muslim al-Mu‘ashir</a:t>
            </a:r>
            <a:r>
              <a:rPr b="0" i="0" lang="id-ID" sz="1440" u="none" cap="none" strike="noStrike">
                <a:solidFill>
                  <a:schemeClr val="dk1"/>
                </a:solidFill>
                <a:latin typeface="Calibri"/>
                <a:ea typeface="Calibri"/>
                <a:cs typeface="Calibri"/>
                <a:sym typeface="Calibri"/>
              </a:rPr>
              <a:t> (Beirut: Mu’assasah al-Risalah, 2001 ), 234.</a:t>
            </a:r>
            <a:endParaRPr b="0" i="0" sz="1600" u="none" cap="none" strike="noStrike">
              <a:solidFill>
                <a:schemeClr val="dk1"/>
              </a:solidFill>
              <a:latin typeface="Calibri"/>
              <a:ea typeface="Calibri"/>
              <a:cs typeface="Calibri"/>
              <a:sym typeface="Calibri"/>
            </a:endParaRPr>
          </a:p>
        </p:txBody>
      </p:sp>
      <p:pic>
        <p:nvPicPr>
          <p:cNvPr id="452" name="Google Shape;452;p19"/>
          <p:cNvPicPr preferRelativeResize="0"/>
          <p:nvPr/>
        </p:nvPicPr>
        <p:blipFill rotWithShape="1">
          <a:blip r:embed="rId3">
            <a:alphaModFix/>
          </a:blip>
          <a:srcRect b="0" l="0" r="0" t="0"/>
          <a:stretch/>
        </p:blipFill>
        <p:spPr>
          <a:xfrm>
            <a:off x="8744417" y="2098343"/>
            <a:ext cx="2603287" cy="3550556"/>
          </a:xfrm>
          <a:prstGeom prst="rect">
            <a:avLst/>
          </a:prstGeom>
          <a:noFill/>
          <a:ln>
            <a:noFill/>
          </a:ln>
          <a:effectLst>
            <a:outerShdw blurRad="190500" rotWithShape="0" algn="tl">
              <a:srgbClr val="000000">
                <a:alpha val="69411"/>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6" name="Shape 456"/>
        <p:cNvGrpSpPr/>
        <p:nvPr/>
      </p:nvGrpSpPr>
      <p:grpSpPr>
        <a:xfrm>
          <a:off x="0" y="0"/>
          <a:ext cx="0" cy="0"/>
          <a:chOff x="0" y="0"/>
          <a:chExt cx="0" cy="0"/>
        </a:xfrm>
      </p:grpSpPr>
      <p:sp>
        <p:nvSpPr>
          <p:cNvPr id="457" name="Google Shape;457;p20"/>
          <p:cNvSpPr/>
          <p:nvPr/>
        </p:nvSpPr>
        <p:spPr>
          <a:xfrm>
            <a:off x="-1" y="0"/>
            <a:ext cx="1219199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8" name="Google Shape;458;p20"/>
          <p:cNvSpPr/>
          <p:nvPr/>
        </p:nvSpPr>
        <p:spPr>
          <a:xfrm>
            <a:off x="-1240" y="0"/>
            <a:ext cx="4617491" cy="6858000"/>
          </a:xfrm>
          <a:prstGeom prst="rect">
            <a:avLst/>
          </a:prstGeom>
          <a:solidFill>
            <a:schemeClr val="lt1"/>
          </a:solidFill>
          <a:ln>
            <a:noFill/>
          </a:ln>
          <a:effectLst>
            <a:outerShdw blurRad="203200" sx="94000" rotWithShape="0" algn="t" dir="21540000" dist="88900" sy="94000">
              <a:srgbClr val="000000">
                <a:alpha val="2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9" name="Google Shape;459;p20"/>
          <p:cNvSpPr/>
          <p:nvPr/>
        </p:nvSpPr>
        <p:spPr>
          <a:xfrm>
            <a:off x="-1240" y="-1"/>
            <a:ext cx="4617491" cy="5136739"/>
          </a:xfrm>
          <a:prstGeom prst="rect">
            <a:avLst/>
          </a:prstGeom>
          <a:solidFill>
            <a:schemeClr val="lt1"/>
          </a:solidFill>
          <a:ln>
            <a:noFill/>
          </a:ln>
          <a:effectLst>
            <a:outerShdw blurRad="177800" sx="97000" rotWithShape="0" algn="t" dir="5400000" dist="101600" sy="97000">
              <a:srgbClr val="000000">
                <a:alpha val="2431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0" name="Google Shape;460;p20"/>
          <p:cNvSpPr txBox="1"/>
          <p:nvPr>
            <p:ph type="title"/>
          </p:nvPr>
        </p:nvSpPr>
        <p:spPr>
          <a:xfrm>
            <a:off x="582896" y="825172"/>
            <a:ext cx="4033353" cy="398858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id-ID">
                <a:solidFill>
                  <a:schemeClr val="dk1"/>
                </a:solidFill>
                <a:latin typeface="Calibri"/>
                <a:ea typeface="Calibri"/>
                <a:cs typeface="Calibri"/>
                <a:sym typeface="Calibri"/>
              </a:rPr>
              <a:t>Mungkinkah </a:t>
            </a:r>
            <a:r>
              <a:rPr b="1" lang="id-ID" sz="7000">
                <a:solidFill>
                  <a:srgbClr val="FF0000"/>
                </a:solidFill>
                <a:latin typeface="Calibri"/>
                <a:ea typeface="Calibri"/>
                <a:cs typeface="Calibri"/>
                <a:sym typeface="Calibri"/>
              </a:rPr>
              <a:t>Sains</a:t>
            </a:r>
            <a:r>
              <a:rPr b="1" lang="id-ID">
                <a:solidFill>
                  <a:schemeClr val="dk1"/>
                </a:solidFill>
                <a:latin typeface="Calibri"/>
                <a:ea typeface="Calibri"/>
                <a:cs typeface="Calibri"/>
                <a:sym typeface="Calibri"/>
              </a:rPr>
              <a:t> Bertentangan dengan </a:t>
            </a:r>
            <a:r>
              <a:rPr b="1" lang="id-ID" sz="7000">
                <a:solidFill>
                  <a:srgbClr val="00B050"/>
                </a:solidFill>
              </a:rPr>
              <a:t>Wahyu</a:t>
            </a:r>
            <a:r>
              <a:rPr b="1" lang="id-ID">
                <a:solidFill>
                  <a:schemeClr val="dk1"/>
                </a:solidFill>
                <a:latin typeface="Calibri"/>
                <a:ea typeface="Calibri"/>
                <a:cs typeface="Calibri"/>
                <a:sym typeface="Calibri"/>
              </a:rPr>
              <a:t>?</a:t>
            </a:r>
            <a:endParaRPr/>
          </a:p>
        </p:txBody>
      </p:sp>
      <p:pic>
        <p:nvPicPr>
          <p:cNvPr descr="A drawing of a person holding a rope between two different types of text&#10;&#10;Description automatically generated" id="461" name="Google Shape;461;p20"/>
          <p:cNvPicPr preferRelativeResize="0"/>
          <p:nvPr/>
        </p:nvPicPr>
        <p:blipFill rotWithShape="1">
          <a:blip r:embed="rId3">
            <a:alphaModFix/>
          </a:blip>
          <a:srcRect b="-1" l="8165" r="6928" t="0"/>
          <a:stretch/>
        </p:blipFill>
        <p:spPr>
          <a:xfrm>
            <a:off x="5199145" y="767310"/>
            <a:ext cx="6409958" cy="541282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60"/>
                                        </p:tgtEl>
                                        <p:attrNameLst>
                                          <p:attrName>style.visibility</p:attrName>
                                        </p:attrNameLst>
                                      </p:cBhvr>
                                      <p:to>
                                        <p:strVal val="visible"/>
                                      </p:to>
                                    </p:set>
                                    <p:animEffect filter="fade" transition="in">
                                      <p:cBhvr>
                                        <p:cTn dur="400"/>
                                        <p:tgtEl>
                                          <p:spTgt spid="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5" name="Shape 465"/>
        <p:cNvGrpSpPr/>
        <p:nvPr/>
      </p:nvGrpSpPr>
      <p:grpSpPr>
        <a:xfrm>
          <a:off x="0" y="0"/>
          <a:ext cx="0" cy="0"/>
          <a:chOff x="0" y="0"/>
          <a:chExt cx="0" cy="0"/>
        </a:xfrm>
      </p:grpSpPr>
      <p:sp>
        <p:nvSpPr>
          <p:cNvPr id="466" name="Google Shape;466;p2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7" name="Google Shape;467;p21"/>
          <p:cNvSpPr/>
          <p:nvPr/>
        </p:nvSpPr>
        <p:spPr>
          <a:xfrm flipH="1" rot="10800000">
            <a:off x="0" y="0"/>
            <a:ext cx="12192000" cy="2371134"/>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p21"/>
          <p:cNvSpPr txBox="1"/>
          <p:nvPr>
            <p:ph type="title"/>
          </p:nvPr>
        </p:nvSpPr>
        <p:spPr>
          <a:xfrm>
            <a:off x="838200" y="365125"/>
            <a:ext cx="10515600" cy="9302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id-ID"/>
              <a:t>Antara Sains dan Islam: Tidak Saling Menafikan </a:t>
            </a:r>
            <a:endParaRPr/>
          </a:p>
        </p:txBody>
      </p:sp>
      <p:sp>
        <p:nvSpPr>
          <p:cNvPr id="469" name="Google Shape;469;p21"/>
          <p:cNvSpPr/>
          <p:nvPr/>
        </p:nvSpPr>
        <p:spPr>
          <a:xfrm>
            <a:off x="838200" y="1876097"/>
            <a:ext cx="5578365" cy="42409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0" i="0" lang="id-ID" sz="2100" u="none" cap="none" strike="noStrike">
                <a:solidFill>
                  <a:schemeClr val="dk1"/>
                </a:solidFill>
                <a:latin typeface="Calibri"/>
                <a:ea typeface="Calibri"/>
                <a:cs typeface="Calibri"/>
                <a:sym typeface="Calibri"/>
              </a:rPr>
              <a:t>“Masalah konflik antara sains dan agama adalah dugaan belaka, jika kita melihat fakta sebenarnya. Ini karena para saintis sejati mengakui secara jelas dan tanpa ambigu bahwa objek kajian mereka adalah materi. Dalam mengkajinya, mereka bertumpu pada ekperimentasi dan observasi ... Berdasar fakta ini, maka sains tidak bisa masuk secara bebas ke dalam permasalahan-permasalahan agama, baik untuk mengukuhkan dan menguatkan ataupun untuk menafikan dan mengingkari ... , karena sains dalam ranah ruhani tidak dalam kapasitasnya untuk mengukuhkan ataupun menafikan.”    </a:t>
            </a:r>
            <a:endParaRPr b="0" i="0" sz="2100" u="none" cap="none" strike="noStrike">
              <a:solidFill>
                <a:schemeClr val="dk1"/>
              </a:solidFill>
              <a:latin typeface="Calibri"/>
              <a:ea typeface="Calibri"/>
              <a:cs typeface="Calibri"/>
              <a:sym typeface="Calibri"/>
            </a:endParaRPr>
          </a:p>
        </p:txBody>
      </p:sp>
      <p:sp>
        <p:nvSpPr>
          <p:cNvPr id="470" name="Google Shape;470;p21"/>
          <p:cNvSpPr txBox="1"/>
          <p:nvPr/>
        </p:nvSpPr>
        <p:spPr>
          <a:xfrm>
            <a:off x="7117985" y="5849255"/>
            <a:ext cx="3973362" cy="53553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40"/>
              <a:buFont typeface="Arial"/>
              <a:buNone/>
            </a:pPr>
            <a:r>
              <a:rPr b="0" i="0" lang="id-ID" sz="1440" u="none" cap="none" strike="noStrike">
                <a:solidFill>
                  <a:schemeClr val="dk1"/>
                </a:solidFill>
                <a:latin typeface="Calibri"/>
                <a:ea typeface="Calibri"/>
                <a:cs typeface="Calibri"/>
                <a:sym typeface="Calibri"/>
              </a:rPr>
              <a:t>Yusuf al-Qaradawi</a:t>
            </a:r>
            <a:r>
              <a:rPr b="0" i="1" lang="id-ID" sz="1440" u="none" cap="none" strike="noStrike">
                <a:solidFill>
                  <a:schemeClr val="dk1"/>
                </a:solidFill>
                <a:latin typeface="Calibri"/>
                <a:ea typeface="Calibri"/>
                <a:cs typeface="Calibri"/>
                <a:sym typeface="Calibri"/>
              </a:rPr>
              <a:t>, al-Din fi-al-’Ashr al-’Ilmi </a:t>
            </a:r>
            <a:r>
              <a:rPr b="0" i="0" lang="id-ID" sz="1440" u="none" cap="none" strike="noStrike">
                <a:solidFill>
                  <a:schemeClr val="dk1"/>
                </a:solidFill>
                <a:latin typeface="Calibri"/>
                <a:ea typeface="Calibri"/>
                <a:cs typeface="Calibri"/>
                <a:sym typeface="Calibri"/>
              </a:rPr>
              <a:t>(Kairo: Mathba’ah al-Fanniyyah, 1993), 23.  </a:t>
            </a:r>
            <a:endParaRPr b="0" i="0" sz="1600" u="none" cap="none" strike="noStrike">
              <a:solidFill>
                <a:schemeClr val="dk1"/>
              </a:solidFill>
              <a:latin typeface="Calibri"/>
              <a:ea typeface="Calibri"/>
              <a:cs typeface="Calibri"/>
              <a:sym typeface="Calibri"/>
            </a:endParaRPr>
          </a:p>
        </p:txBody>
      </p:sp>
      <p:pic>
        <p:nvPicPr>
          <p:cNvPr descr="A book on a stand with planets in the background&#10;&#10;Description automatically generated" id="471" name="Google Shape;471;p21"/>
          <p:cNvPicPr preferRelativeResize="0"/>
          <p:nvPr/>
        </p:nvPicPr>
        <p:blipFill rotWithShape="1">
          <a:blip r:embed="rId3">
            <a:alphaModFix/>
          </a:blip>
          <a:srcRect b="0" l="0" r="0" t="0"/>
          <a:stretch/>
        </p:blipFill>
        <p:spPr>
          <a:xfrm>
            <a:off x="7064015" y="2621541"/>
            <a:ext cx="4081303" cy="228553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22"/>
          <p:cNvSpPr txBox="1"/>
          <p:nvPr>
            <p:ph type="title"/>
          </p:nvPr>
        </p:nvSpPr>
        <p:spPr>
          <a:xfrm>
            <a:off x="712076" y="254767"/>
            <a:ext cx="865138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id-ID"/>
              <a:t>Penyelesaian Kesan Kontradiksi</a:t>
            </a:r>
            <a:endParaRPr/>
          </a:p>
        </p:txBody>
      </p:sp>
      <p:graphicFrame>
        <p:nvGraphicFramePr>
          <p:cNvPr id="477" name="Google Shape;477;p22"/>
          <p:cNvGraphicFramePr/>
          <p:nvPr/>
        </p:nvGraphicFramePr>
        <p:xfrm>
          <a:off x="838200" y="1580330"/>
          <a:ext cx="3000000" cy="3000000"/>
        </p:xfrm>
        <a:graphic>
          <a:graphicData uri="http://schemas.openxmlformats.org/drawingml/2006/table">
            <a:tbl>
              <a:tblPr bandRow="1" firstRow="1">
                <a:noFill/>
                <a:tableStyleId>{8AA564FD-5116-49E2-9354-E4103BDCA443}</a:tableStyleId>
              </a:tblPr>
              <a:tblGrid>
                <a:gridCol w="927550"/>
                <a:gridCol w="2585550"/>
                <a:gridCol w="2806250"/>
                <a:gridCol w="4196250"/>
              </a:tblGrid>
              <a:tr h="686400">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Kasus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Teks Wahyu</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Temuan Sains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Kesimpulan </a:t>
                      </a:r>
                      <a:endParaRPr sz="1400" u="none" cap="none" strike="noStrike"/>
                    </a:p>
                  </a:txBody>
                  <a:tcPr marT="45725" marB="45725" marR="91450" marL="91450"/>
                </a:tc>
              </a:tr>
              <a:tr h="686400">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i="1" lang="id-ID" sz="2200" u="none" cap="none" strike="noStrike"/>
                        <a:t>Qat‘i </a:t>
                      </a:r>
                      <a:r>
                        <a:rPr lang="id-ID" sz="2200" u="none" cap="none" strike="noStrike"/>
                        <a:t>(Pasti)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Fakta Saintifik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Tidak mungkin terjadi.</a:t>
                      </a:r>
                      <a:endParaRPr sz="1400" u="none" cap="none" strike="noStrike"/>
                    </a:p>
                  </a:txBody>
                  <a:tcPr marT="45725" marB="45725" marR="91450" marL="91450"/>
                </a:tc>
              </a:tr>
              <a:tr h="748425">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i="1" lang="id-ID" sz="2200" u="none" cap="none" strike="noStrike"/>
                        <a:t>Qat’i</a:t>
                      </a:r>
                      <a:r>
                        <a:rPr lang="id-ID" sz="2200" u="none" cap="none" strike="noStrike"/>
                        <a:t> (Pasti)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Teori Saintifik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Teori Sains bersifat dinamis, terbuka untuk dikembangkan. </a:t>
                      </a:r>
                      <a:endParaRPr sz="1400" u="none" cap="none" strike="noStrike"/>
                    </a:p>
                  </a:txBody>
                  <a:tcPr marT="45725" marB="45725" marR="91450" marL="91450"/>
                </a:tc>
              </a:tr>
              <a:tr h="803450">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i="1" lang="id-ID" sz="2200" u="none" cap="none" strike="noStrike"/>
                        <a:t>Dzanni </a:t>
                      </a:r>
                      <a:r>
                        <a:rPr lang="id-ID" sz="2200" u="none" cap="none" strike="noStrike"/>
                        <a:t>(Tidak Pasti)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Fakta Saintifik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Teks wahyu ditakwil berdasar fakta saintifik.</a:t>
                      </a:r>
                      <a:endParaRPr sz="1400" u="none" cap="none" strike="noStrike"/>
                    </a:p>
                  </a:txBody>
                  <a:tcPr marT="45725" marB="45725" marR="91450" marL="91450"/>
                </a:tc>
              </a:tr>
              <a:tr h="1407025">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i="1" lang="id-ID" sz="2200" u="none" cap="none" strike="noStrike"/>
                        <a:t>Dzanni</a:t>
                      </a:r>
                      <a:r>
                        <a:rPr lang="id-ID" sz="2200" u="none" cap="none" strike="noStrike"/>
                        <a:t> (Tidak Pasti)</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Teori Saintifik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200"/>
                        <a:buFont typeface="Arial"/>
                        <a:buNone/>
                      </a:pPr>
                      <a:r>
                        <a:rPr lang="id-ID" sz="2200" u="none" cap="none" strike="noStrike"/>
                        <a:t>Teks wahyu terbuka untuk reinterpetasi, dan teori sains terbuka untuk dikembangkan.</a:t>
                      </a:r>
                      <a:endParaRPr sz="2200" u="none" cap="none" strike="noStrike"/>
                    </a:p>
                    <a:p>
                      <a:pPr indent="0" lvl="0" marL="0" marR="0" rtl="0" algn="l">
                        <a:lnSpc>
                          <a:spcPct val="100000"/>
                        </a:lnSpc>
                        <a:spcBef>
                          <a:spcPts val="0"/>
                        </a:spcBef>
                        <a:spcAft>
                          <a:spcPts val="0"/>
                        </a:spcAft>
                        <a:buClr>
                          <a:srgbClr val="000000"/>
                        </a:buClr>
                        <a:buSzPts val="2200"/>
                        <a:buFont typeface="Arial"/>
                        <a:buNone/>
                      </a:pPr>
                      <a:r>
                        <a:t/>
                      </a:r>
                      <a:endParaRPr sz="2200" u="none" cap="none" strike="noStrike"/>
                    </a:p>
                  </a:txBody>
                  <a:tcPr marT="45725" marB="45725" marR="91450" marL="9145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1" name="Shape 481"/>
        <p:cNvGrpSpPr/>
        <p:nvPr/>
      </p:nvGrpSpPr>
      <p:grpSpPr>
        <a:xfrm>
          <a:off x="0" y="0"/>
          <a:ext cx="0" cy="0"/>
          <a:chOff x="0" y="0"/>
          <a:chExt cx="0" cy="0"/>
        </a:xfrm>
      </p:grpSpPr>
      <p:sp>
        <p:nvSpPr>
          <p:cNvPr id="482" name="Google Shape;482;p23"/>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blue and white tiled ceiling with Shah Mosque in the background&#10;&#10;Description automatically generated" id="483" name="Google Shape;483;p23"/>
          <p:cNvPicPr preferRelativeResize="0"/>
          <p:nvPr/>
        </p:nvPicPr>
        <p:blipFill rotWithShape="1">
          <a:blip r:embed="rId3">
            <a:alphaModFix/>
          </a:blip>
          <a:srcRect b="0" l="11552" r="10194" t="0"/>
          <a:stretch/>
        </p:blipFill>
        <p:spPr>
          <a:xfrm>
            <a:off x="2522358" y="10"/>
            <a:ext cx="9669642" cy="6857990"/>
          </a:xfrm>
          <a:prstGeom prst="rect">
            <a:avLst/>
          </a:prstGeom>
          <a:noFill/>
          <a:ln>
            <a:noFill/>
          </a:ln>
        </p:spPr>
      </p:pic>
      <p:sp>
        <p:nvSpPr>
          <p:cNvPr id="484" name="Google Shape;484;p23"/>
          <p:cNvSpPr/>
          <p:nvPr/>
        </p:nvSpPr>
        <p:spPr>
          <a:xfrm>
            <a:off x="-228600" y="0"/>
            <a:ext cx="7067100" cy="6858000"/>
          </a:xfrm>
          <a:prstGeom prst="rect">
            <a:avLst/>
          </a:prstGeom>
          <a:gradFill>
            <a:gsLst>
              <a:gs pos="0">
                <a:srgbClr val="FFFFFF">
                  <a:alpha val="0"/>
                </a:srgbClr>
              </a:gs>
              <a:gs pos="19000">
                <a:srgbClr val="FFFFFF">
                  <a:alpha val="37254"/>
                </a:srgbClr>
              </a:gs>
              <a:gs pos="35000">
                <a:srgbClr val="FFFFFF">
                  <a:alpha val="76470"/>
                </a:srgbClr>
              </a:gs>
              <a:gs pos="4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5" name="Google Shape;485;p23"/>
          <p:cNvSpPr txBox="1"/>
          <p:nvPr>
            <p:ph type="title"/>
          </p:nvPr>
        </p:nvSpPr>
        <p:spPr>
          <a:xfrm>
            <a:off x="952228" y="2695903"/>
            <a:ext cx="3973385" cy="173957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Calibri"/>
              <a:buNone/>
            </a:pPr>
            <a:r>
              <a:rPr b="1" lang="id-ID" sz="5200"/>
              <a:t>Demikian, Terima Kasih.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85"/>
                                        </p:tgtEl>
                                        <p:attrNameLst>
                                          <p:attrName>style.visibility</p:attrName>
                                        </p:attrNameLst>
                                      </p:cBhvr>
                                      <p:to>
                                        <p:strVal val="visible"/>
                                      </p:to>
                                    </p:set>
                                    <p:animEffect filter="fade" transition="in">
                                      <p:cBhvr>
                                        <p:cTn dur="7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2023-11-10T14:15:30Z</dcterms:created>
  <dc:creator>Sansan Ziaul Haq, M.A.Hum., LC.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2023-11-10T16:32:59Z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0075ca76-eacc-421d-9e6c-44c9d6d35e3e</vt:lpwstr>
  </property>
  <property fmtid="{D5CDD505-2E9C-101B-9397-08002B2CF9AE}" pid="8" name="MSIP_Label_38b525e5-f3da-4501-8f1e-526b6769fc56_ContentBits">
    <vt:lpwstr>0</vt:lpwstr>
  </property>
</Properties>
</file>