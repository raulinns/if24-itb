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08">
          <p15:clr>
            <a:srgbClr val="A4A3A4"/>
          </p15:clr>
        </p15:guide>
        <p15:guide id="2" pos="3840">
          <p15:clr>
            <a:srgbClr val="A4A3A4"/>
          </p15:clr>
        </p15:guide>
        <p15:guide id="3" pos="3984">
          <p15:clr>
            <a:srgbClr val="A4A3A4"/>
          </p15:clr>
        </p15:guide>
        <p15:guide id="4" pos="3973">
          <p15:clr>
            <a:srgbClr val="A4A3A4"/>
          </p15:clr>
        </p15:guide>
        <p15:guide id="5" pos="4128">
          <p15:clr>
            <a:srgbClr val="A4A3A4"/>
          </p15:clr>
        </p15:guide>
        <p15:guide id="6" orient="horz" pos="2256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i1rrg8h7SVxgnqN4f4+cD7Vz/v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08" orient="horz"/>
        <p:guide pos="3840"/>
        <p:guide pos="3984"/>
        <p:guide pos="3973"/>
        <p:guide pos="4128"/>
        <p:guide pos="225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d-ID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1" name="Google Shape;5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-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jpg"/><Relationship Id="rId4" Type="http://schemas.openxmlformats.org/officeDocument/2006/relationships/image" Target="../media/image5.jpg"/><Relationship Id="rId5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Relationship Id="rId4" Type="http://schemas.openxmlformats.org/officeDocument/2006/relationships/image" Target="../media/image17.jpg"/><Relationship Id="rId5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b="8515" l="0" r="-1" t="12794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  <p:sp>
        <p:nvSpPr>
          <p:cNvPr id="90" name="Google Shape;90;p1"/>
          <p:cNvSpPr/>
          <p:nvPr/>
        </p:nvSpPr>
        <p:spPr>
          <a:xfrm>
            <a:off x="850337" y="875758"/>
            <a:ext cx="5219885" cy="5109539"/>
          </a:xfrm>
          <a:custGeom>
            <a:rect b="b" l="l" r="r" t="t"/>
            <a:pathLst>
              <a:path extrusionOk="0" h="3634591" w="3810827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701986" y="673591"/>
            <a:ext cx="5565913" cy="5415406"/>
          </a:xfrm>
          <a:custGeom>
            <a:rect b="b" l="l" r="r" t="t"/>
            <a:pathLst>
              <a:path extrusionOk="0" h="3634591" w="3810827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cap="flat" cmpd="sng" w="19050">
            <a:solidFill>
              <a:srgbClr val="FFFFFF">
                <a:alpha val="69803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957734" y="1041621"/>
            <a:ext cx="4953365" cy="4801521"/>
          </a:xfrm>
          <a:custGeom>
            <a:rect b="b" l="l" r="r" t="t"/>
            <a:pathLst>
              <a:path extrusionOk="0" h="3634591" w="3810827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E8E6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93" name="Google Shape;93;p1"/>
          <p:cNvSpPr txBox="1"/>
          <p:nvPr>
            <p:ph type="ctrTitle"/>
          </p:nvPr>
        </p:nvSpPr>
        <p:spPr>
          <a:xfrm>
            <a:off x="1416871" y="1685677"/>
            <a:ext cx="4181444" cy="319112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6500"/>
              <a:buFont typeface="Arial"/>
              <a:buNone/>
            </a:pPr>
            <a:r>
              <a:rPr b="1" lang="id-ID" sz="6500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Ijtihad:</a:t>
            </a:r>
            <a:br>
              <a:rPr b="1" lang="id-ID" sz="5000"/>
            </a:br>
            <a:r>
              <a:rPr b="1" lang="id-ID" sz="5000"/>
              <a:t>Metodologi </a:t>
            </a:r>
            <a:br>
              <a:rPr b="1" lang="id-ID" sz="5000"/>
            </a:br>
            <a:r>
              <a:rPr b="1" lang="id-ID" sz="5000"/>
              <a:t>Pengembangan </a:t>
            </a:r>
            <a:br>
              <a:rPr b="1" lang="id-ID" sz="5000"/>
            </a:br>
            <a:r>
              <a:rPr b="1" lang="id-ID" sz="5000"/>
              <a:t>Hukum Islam</a:t>
            </a:r>
            <a:endParaRPr/>
          </a:p>
        </p:txBody>
      </p:sp>
      <p:sp>
        <p:nvSpPr>
          <p:cNvPr id="94" name="Google Shape;94;p1"/>
          <p:cNvSpPr txBox="1"/>
          <p:nvPr>
            <p:ph idx="1" type="subTitle"/>
          </p:nvPr>
        </p:nvSpPr>
        <p:spPr>
          <a:xfrm>
            <a:off x="9601200" y="203056"/>
            <a:ext cx="2350597" cy="470535"/>
          </a:xfrm>
          <a:prstGeom prst="rect">
            <a:avLst/>
          </a:prstGeom>
          <a:solidFill>
            <a:srgbClr val="3F3F3F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</a:pPr>
            <a:r>
              <a:rPr lang="id-ID" sz="2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Sansan Ziaul Haq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/>
              <a:t>Hakikat Ijtihad</a:t>
            </a:r>
            <a:endParaRPr/>
          </a:p>
        </p:txBody>
      </p:sp>
      <p:grpSp>
        <p:nvGrpSpPr>
          <p:cNvPr id="100" name="Google Shape;100;p2"/>
          <p:cNvGrpSpPr/>
          <p:nvPr/>
        </p:nvGrpSpPr>
        <p:grpSpPr>
          <a:xfrm>
            <a:off x="1616916" y="1405731"/>
            <a:ext cx="8947657" cy="4351337"/>
            <a:chOff x="783971" y="0"/>
            <a:chExt cx="8947657" cy="4351337"/>
          </a:xfrm>
        </p:grpSpPr>
        <p:sp>
          <p:nvSpPr>
            <p:cNvPr id="101" name="Google Shape;101;p2"/>
            <p:cNvSpPr/>
            <p:nvPr/>
          </p:nvSpPr>
          <p:spPr>
            <a:xfrm>
              <a:off x="783971" y="0"/>
              <a:ext cx="8947656" cy="1303225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3F3F3F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"/>
            <p:cNvSpPr txBox="1"/>
            <p:nvPr/>
          </p:nvSpPr>
          <p:spPr>
            <a:xfrm>
              <a:off x="783971" y="325806"/>
              <a:ext cx="8621850" cy="651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06875" lIns="83800" spcFirstLastPara="1" rIns="2540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Calibri"/>
                <a:buNone/>
              </a:pPr>
              <a:r>
                <a:rPr b="0" i="0" lang="id-ID" sz="2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Makna bahasa</a:t>
              </a: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783971" y="1008205"/>
              <a:ext cx="4133817" cy="2908869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2"/>
            <p:cNvSpPr txBox="1"/>
            <p:nvPr/>
          </p:nvSpPr>
          <p:spPr>
            <a:xfrm>
              <a:off x="783971" y="1008205"/>
              <a:ext cx="4133817" cy="29088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b="0" i="0" lang="id-ID" sz="2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Ijtihad bermakna mengerahkan segenap kemampuan untuk menghasilkan suatu tujuan. </a:t>
              </a: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4917789" y="434263"/>
              <a:ext cx="4813839" cy="1303225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2E75B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4917789" y="760069"/>
              <a:ext cx="4488033" cy="651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06875" lIns="83800" spcFirstLastPara="1" rIns="2540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Calibri"/>
                <a:buNone/>
              </a:pPr>
              <a:r>
                <a:rPr b="0" i="0" lang="id-ID" sz="22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Makna Istilah </a:t>
              </a: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917789" y="1442468"/>
              <a:ext cx="4133817" cy="2908869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4917789" y="1442468"/>
              <a:ext cx="4133817" cy="29088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alibri"/>
                <a:buNone/>
              </a:pPr>
              <a:r>
                <a:rPr b="0" i="0" lang="id-ID" sz="22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Ijtihad bermakna menggunakan seluruh kesanggupan berpikir untuk menetapkan ketetapan suatu hukum melalui proses penyimpulan hukum dari sumber-sumber hukum Islam. </a:t>
              </a:r>
              <a:endPara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2"/>
          <p:cNvSpPr txBox="1"/>
          <p:nvPr/>
        </p:nvSpPr>
        <p:spPr>
          <a:xfrm>
            <a:off x="1600200" y="5757069"/>
            <a:ext cx="3962400" cy="5232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d-ID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Muhammad Sulaiman al-Asyqar, </a:t>
            </a:r>
            <a:r>
              <a:rPr b="0" i="1" lang="id-ID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al-Wadhih fi-Usul al-Fiqh li-al-Mubtadi’in</a:t>
            </a:r>
            <a:r>
              <a:rPr b="0" i="0" lang="id-ID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(Kairo: Dar al-Salam, 2009)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/>
              <a:t>Mengapa Kita Butuh ijtihad?</a:t>
            </a:r>
            <a:endParaRPr/>
          </a:p>
        </p:txBody>
      </p:sp>
      <p:grpSp>
        <p:nvGrpSpPr>
          <p:cNvPr id="115" name="Google Shape;115;p3"/>
          <p:cNvGrpSpPr/>
          <p:nvPr/>
        </p:nvGrpSpPr>
        <p:grpSpPr>
          <a:xfrm>
            <a:off x="838200" y="1825625"/>
            <a:ext cx="10515600" cy="3813175"/>
            <a:chOff x="0" y="0"/>
            <a:chExt cx="10515600" cy="3813175"/>
          </a:xfrm>
        </p:grpSpPr>
        <p:sp>
          <p:nvSpPr>
            <p:cNvPr id="116" name="Google Shape;116;p3"/>
            <p:cNvSpPr/>
            <p:nvPr/>
          </p:nvSpPr>
          <p:spPr>
            <a:xfrm>
              <a:off x="0" y="0"/>
              <a:ext cx="10515600" cy="3813175"/>
            </a:xfrm>
            <a:prstGeom prst="roundRect">
              <a:avLst>
                <a:gd fmla="val 10000" name="adj"/>
              </a:avLst>
            </a:prstGeom>
            <a:solidFill>
              <a:srgbClr val="3A3838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3"/>
            <p:cNvSpPr txBox="1"/>
            <p:nvPr/>
          </p:nvSpPr>
          <p:spPr>
            <a:xfrm>
              <a:off x="2484437" y="0"/>
              <a:ext cx="8031162" cy="3813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87625" spcFirstLastPara="1" rIns="87625" wrap="square" tIns="87625">
              <a:noAutofit/>
            </a:bodyPr>
            <a:lstStyle/>
            <a:p>
              <a:pPr indent="0" lvl="0" marL="0" marR="0" rtl="0" algn="just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None/>
              </a:pPr>
              <a:r>
                <a:rPr lang="id-ID" sz="2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Dinamika kehidupan manusia dalam semua aspeknya memunculkan berbagai persoalan baru, sementara teks-teks keagamaan, baik itu Alquran ataupun Sunnah, bersifat terbatas. Untuk menjawab masalah-masalah tersebut, Nabi sejak awal telah mengajarkan umatnya untuk melakukan ijtihad. Dengan demikian, ijtihad pada dasarnya adalah perangkat berfikir untuk menyimpulkan penjelasan hukum bagi problem-problem baru.   </a:t>
              </a: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270462" y="317530"/>
              <a:ext cx="2103120" cy="3050540"/>
            </a:xfrm>
            <a:prstGeom prst="roundRect">
              <a:avLst>
                <a:gd fmla="val 10000" name="adj"/>
              </a:avLst>
            </a:prstGeom>
            <a:blipFill rotWithShape="1">
              <a:blip r:embed="rId3">
                <a:alphaModFix/>
              </a:blip>
              <a:stretch>
                <a:fillRect b="0" l="-51998" r="-51996" t="0"/>
              </a:stretch>
            </a:blip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/>
              <a:t>Ruang lingkup ijtihad</a:t>
            </a:r>
            <a:endParaRPr/>
          </a:p>
        </p:txBody>
      </p:sp>
      <p:grpSp>
        <p:nvGrpSpPr>
          <p:cNvPr id="125" name="Google Shape;125;p4"/>
          <p:cNvGrpSpPr/>
          <p:nvPr/>
        </p:nvGrpSpPr>
        <p:grpSpPr>
          <a:xfrm>
            <a:off x="838347" y="1825625"/>
            <a:ext cx="10515304" cy="3660774"/>
            <a:chOff x="147" y="0"/>
            <a:chExt cx="10515304" cy="3660774"/>
          </a:xfrm>
        </p:grpSpPr>
        <p:sp>
          <p:nvSpPr>
            <p:cNvPr id="126" name="Google Shape;126;p4"/>
            <p:cNvSpPr/>
            <p:nvPr/>
          </p:nvSpPr>
          <p:spPr>
            <a:xfrm>
              <a:off x="147" y="0"/>
              <a:ext cx="3784281" cy="2287984"/>
            </a:xfrm>
            <a:prstGeom prst="roundRect">
              <a:avLst>
                <a:gd fmla="val 10000" name="adj"/>
              </a:avLst>
            </a:prstGeom>
            <a:blipFill rotWithShape="1">
              <a:blip r:embed="rId3">
                <a:alphaModFix/>
              </a:blip>
              <a:stretch>
                <a:fillRect b="-4998" l="0" r="0" t="-4999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577366" y="1372790"/>
              <a:ext cx="4031772" cy="2287984"/>
            </a:xfrm>
            <a:prstGeom prst="roundRect">
              <a:avLst>
                <a:gd fmla="val 10000" name="adj"/>
              </a:avLst>
            </a:prstGeom>
            <a:solidFill>
              <a:srgbClr val="3F3F3F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4"/>
            <p:cNvSpPr txBox="1"/>
            <p:nvPr/>
          </p:nvSpPr>
          <p:spPr>
            <a:xfrm>
              <a:off x="644379" y="1439803"/>
              <a:ext cx="3897746" cy="21539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87625" spcFirstLastPara="1" rIns="87625" wrap="square" tIns="87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None/>
              </a:pPr>
              <a:r>
                <a:rPr lang="id-ID" sz="2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Penjelasan hukum terkait berbagai persoalan yang secara eksplisit tidak terdapat baik dalam Alquran, Sunnah, maupun Ijma.  </a:t>
              </a:r>
              <a:endParaRPr/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4556676" y="689337"/>
              <a:ext cx="772247" cy="909309"/>
            </a:xfrm>
            <a:prstGeom prst="rightArrow">
              <a:avLst>
                <a:gd fmla="val 60000" name="adj1"/>
                <a:gd fmla="val 50000" name="adj2"/>
              </a:avLst>
            </a:prstGeom>
            <a:solidFill>
              <a:srgbClr val="599B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4"/>
            <p:cNvSpPr txBox="1"/>
            <p:nvPr/>
          </p:nvSpPr>
          <p:spPr>
            <a:xfrm>
              <a:off x="4556676" y="871199"/>
              <a:ext cx="540573" cy="5455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900"/>
                <a:buFont typeface="Calibri"/>
                <a:buNone/>
              </a:pPr>
              <a:r>
                <a:t/>
              </a:r>
              <a:endParaRPr sz="3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5990849" y="0"/>
              <a:ext cx="3784281" cy="2287984"/>
            </a:xfrm>
            <a:prstGeom prst="roundRect">
              <a:avLst>
                <a:gd fmla="val 10000" name="adj"/>
              </a:avLst>
            </a:prstGeom>
            <a:blipFill rotWithShape="1">
              <a:blip r:embed="rId4">
                <a:alphaModFix/>
              </a:blip>
              <a:stretch>
                <a:fillRect b="0" l="-36998" r="-36996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6482619" y="1372790"/>
              <a:ext cx="4032832" cy="2287984"/>
            </a:xfrm>
            <a:prstGeom prst="roundRect">
              <a:avLst>
                <a:gd fmla="val 10000" name="adj"/>
              </a:avLst>
            </a:prstGeom>
            <a:solidFill>
              <a:srgbClr val="0070C0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4"/>
            <p:cNvSpPr txBox="1"/>
            <p:nvPr/>
          </p:nvSpPr>
          <p:spPr>
            <a:xfrm>
              <a:off x="6549632" y="1439803"/>
              <a:ext cx="3898806" cy="21539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87625" spcFirstLastPara="1" rIns="87625" wrap="square" tIns="876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None/>
              </a:pPr>
              <a:r>
                <a:rPr lang="id-ID" sz="2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Hukum-hukum syariat yang tidak mempunyai dalil </a:t>
              </a:r>
              <a:r>
                <a:rPr i="1" lang="id-ID" sz="2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qath’i</a:t>
              </a:r>
              <a:r>
                <a:rPr lang="id-ID" sz="2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, sehingga masih diperbedabatkan dan bisa direinterpretasi. </a:t>
              </a:r>
              <a:endParaRPr/>
            </a:p>
          </p:txBody>
        </p:sp>
      </p:grpSp>
      <p:sp>
        <p:nvSpPr>
          <p:cNvPr id="134" name="Google Shape;134;p4"/>
          <p:cNvSpPr txBox="1"/>
          <p:nvPr/>
        </p:nvSpPr>
        <p:spPr>
          <a:xfrm>
            <a:off x="838200" y="5867400"/>
            <a:ext cx="3975347" cy="5232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Muhammad Mustafa al-Zuhaili, </a:t>
            </a:r>
            <a:r>
              <a:rPr i="1" lang="id-ID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al-Wajiz fi-Usul al-Fiqh al-Islami</a:t>
            </a:r>
            <a:r>
              <a:rPr lang="id-ID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(Damaskus: Dar al-Khair, 2006)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/>
          <p:nvPr/>
        </p:nvSpPr>
        <p:spPr>
          <a:xfrm>
            <a:off x="336884" y="311449"/>
            <a:ext cx="4332307" cy="6179552"/>
          </a:xfrm>
          <a:prstGeom prst="rect">
            <a:avLst/>
          </a:prstGeom>
          <a:solidFill>
            <a:srgbClr val="404040"/>
          </a:solidFill>
          <a:ln cap="sq" cmpd="thinThick" w="12700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 txBox="1"/>
          <p:nvPr>
            <p:ph type="title"/>
          </p:nvPr>
        </p:nvSpPr>
        <p:spPr>
          <a:xfrm>
            <a:off x="742950" y="742951"/>
            <a:ext cx="3476625" cy="49625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lang="id-ID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Apakah setiap orang boleh berijtihad?</a:t>
            </a:r>
            <a:endParaRPr/>
          </a:p>
        </p:txBody>
      </p:sp>
      <p:pic>
        <p:nvPicPr>
          <p:cNvPr id="141" name="Google Shape;141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5673" y="492573"/>
            <a:ext cx="5549842" cy="5880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"/>
          <p:cNvSpPr txBox="1"/>
          <p:nvPr>
            <p:ph type="title"/>
          </p:nvPr>
        </p:nvSpPr>
        <p:spPr>
          <a:xfrm>
            <a:off x="838200" y="365125"/>
            <a:ext cx="105156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/>
              <a:t>Kualifikasi Mujtahid</a:t>
            </a:r>
            <a:endParaRPr/>
          </a:p>
        </p:txBody>
      </p:sp>
      <p:grpSp>
        <p:nvGrpSpPr>
          <p:cNvPr id="147" name="Google Shape;147;p6"/>
          <p:cNvGrpSpPr/>
          <p:nvPr/>
        </p:nvGrpSpPr>
        <p:grpSpPr>
          <a:xfrm>
            <a:off x="838200" y="1317719"/>
            <a:ext cx="10515600" cy="4527359"/>
            <a:chOff x="0" y="5254"/>
            <a:chExt cx="10515600" cy="4527359"/>
          </a:xfrm>
        </p:grpSpPr>
        <p:sp>
          <p:nvSpPr>
            <p:cNvPr id="148" name="Google Shape;148;p6"/>
            <p:cNvSpPr/>
            <p:nvPr/>
          </p:nvSpPr>
          <p:spPr>
            <a:xfrm>
              <a:off x="0" y="5254"/>
              <a:ext cx="10515600" cy="505439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6"/>
            <p:cNvSpPr txBox="1"/>
            <p:nvPr/>
          </p:nvSpPr>
          <p:spPr>
            <a:xfrm>
              <a:off x="24673" y="29927"/>
              <a:ext cx="10466254" cy="456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rPr lang="id-ID" sz="2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 Menguasai ilmu-ilmu yang berkaitan dengan al-Qur’an</a:t>
              </a:r>
              <a:endParaRPr/>
            </a:p>
          </p:txBody>
        </p:sp>
        <p:sp>
          <p:nvSpPr>
            <p:cNvPr id="150" name="Google Shape;150;p6"/>
            <p:cNvSpPr/>
            <p:nvPr/>
          </p:nvSpPr>
          <p:spPr>
            <a:xfrm>
              <a:off x="0" y="579814"/>
              <a:ext cx="10515600" cy="505439"/>
            </a:xfrm>
            <a:prstGeom prst="roundRect">
              <a:avLst>
                <a:gd fmla="val 16667" name="adj"/>
              </a:avLst>
            </a:prstGeom>
            <a:solidFill>
              <a:srgbClr val="D5F80C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6"/>
            <p:cNvSpPr txBox="1"/>
            <p:nvPr/>
          </p:nvSpPr>
          <p:spPr>
            <a:xfrm>
              <a:off x="24673" y="604487"/>
              <a:ext cx="10466254" cy="456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rPr lang="id-ID" sz="2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2. Memahami ilmu-ilmu yang berhubungan dengan al-Sunnah</a:t>
              </a:r>
              <a:endParaRPr/>
            </a:p>
          </p:txBody>
        </p:sp>
        <p:sp>
          <p:nvSpPr>
            <p:cNvPr id="152" name="Google Shape;152;p6"/>
            <p:cNvSpPr/>
            <p:nvPr/>
          </p:nvSpPr>
          <p:spPr>
            <a:xfrm>
              <a:off x="0" y="1154374"/>
              <a:ext cx="10515600" cy="505439"/>
            </a:xfrm>
            <a:prstGeom prst="roundRect">
              <a:avLst>
                <a:gd fmla="val 16667" name="adj"/>
              </a:avLst>
            </a:prstGeom>
            <a:solidFill>
              <a:srgbClr val="7EF11A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6"/>
            <p:cNvSpPr txBox="1"/>
            <p:nvPr/>
          </p:nvSpPr>
          <p:spPr>
            <a:xfrm>
              <a:off x="24673" y="1179047"/>
              <a:ext cx="10466254" cy="456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rPr lang="id-ID" sz="2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3. Mengetahui ilmu-ilmu bahasa Arab </a:t>
              </a:r>
              <a:endParaRPr/>
            </a:p>
          </p:txBody>
        </p:sp>
        <p:sp>
          <p:nvSpPr>
            <p:cNvPr id="154" name="Google Shape;154;p6"/>
            <p:cNvSpPr/>
            <p:nvPr/>
          </p:nvSpPr>
          <p:spPr>
            <a:xfrm>
              <a:off x="0" y="1728934"/>
              <a:ext cx="10515600" cy="505439"/>
            </a:xfrm>
            <a:prstGeom prst="roundRect">
              <a:avLst>
                <a:gd fmla="val 16667" name="adj"/>
              </a:avLst>
            </a:prstGeom>
            <a:solidFill>
              <a:srgbClr val="37EA28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6"/>
            <p:cNvSpPr txBox="1"/>
            <p:nvPr/>
          </p:nvSpPr>
          <p:spPr>
            <a:xfrm>
              <a:off x="24673" y="1753607"/>
              <a:ext cx="10466254" cy="456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rPr lang="id-ID" sz="2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4. Mengetahui hukum-hukum yang telah disepakati besama (m</a:t>
              </a:r>
              <a:r>
                <a:rPr i="1" lang="id-ID" sz="2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ujma’  ‘alahi</a:t>
              </a:r>
              <a:r>
                <a:rPr lang="id-ID" sz="2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sp>
          <p:nvSpPr>
            <p:cNvPr id="156" name="Google Shape;156;p6"/>
            <p:cNvSpPr/>
            <p:nvPr/>
          </p:nvSpPr>
          <p:spPr>
            <a:xfrm>
              <a:off x="0" y="2303494"/>
              <a:ext cx="10515600" cy="505439"/>
            </a:xfrm>
            <a:prstGeom prst="roundRect">
              <a:avLst>
                <a:gd fmla="val 16667" name="adj"/>
              </a:avLst>
            </a:prstGeom>
            <a:solidFill>
              <a:srgbClr val="35E46A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6"/>
            <p:cNvSpPr txBox="1"/>
            <p:nvPr/>
          </p:nvSpPr>
          <p:spPr>
            <a:xfrm>
              <a:off x="24673" y="2328167"/>
              <a:ext cx="10466254" cy="456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rPr lang="id-ID" sz="2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5. Menguasai ilmu usul fiqh</a:t>
              </a:r>
              <a:endParaRPr/>
            </a:p>
          </p:txBody>
        </p:sp>
        <p:sp>
          <p:nvSpPr>
            <p:cNvPr id="158" name="Google Shape;158;p6"/>
            <p:cNvSpPr/>
            <p:nvPr/>
          </p:nvSpPr>
          <p:spPr>
            <a:xfrm>
              <a:off x="0" y="2878054"/>
              <a:ext cx="10515600" cy="505439"/>
            </a:xfrm>
            <a:prstGeom prst="roundRect">
              <a:avLst>
                <a:gd fmla="val 16667" name="adj"/>
              </a:avLst>
            </a:prstGeom>
            <a:solidFill>
              <a:srgbClr val="42DEAE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6"/>
            <p:cNvSpPr txBox="1"/>
            <p:nvPr/>
          </p:nvSpPr>
          <p:spPr>
            <a:xfrm>
              <a:off x="24673" y="2902727"/>
              <a:ext cx="10466254" cy="456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rPr lang="id-ID" sz="2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6. Mengetahui </a:t>
              </a:r>
              <a:r>
                <a:rPr i="1" lang="id-ID" sz="2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maqashid al-syari’ah</a:t>
              </a:r>
              <a:endParaRPr/>
            </a:p>
          </p:txBody>
        </p:sp>
        <p:sp>
          <p:nvSpPr>
            <p:cNvPr id="160" name="Google Shape;160;p6"/>
            <p:cNvSpPr/>
            <p:nvPr/>
          </p:nvSpPr>
          <p:spPr>
            <a:xfrm>
              <a:off x="0" y="3452614"/>
              <a:ext cx="10515600" cy="505439"/>
            </a:xfrm>
            <a:prstGeom prst="roundRect">
              <a:avLst>
                <a:gd fmla="val 16667" name="adj"/>
              </a:avLst>
            </a:prstGeom>
            <a:solidFill>
              <a:srgbClr val="4ECDD9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6"/>
            <p:cNvSpPr txBox="1"/>
            <p:nvPr/>
          </p:nvSpPr>
          <p:spPr>
            <a:xfrm>
              <a:off x="24673" y="3477287"/>
              <a:ext cx="10466254" cy="456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rPr lang="id-ID" sz="2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7. Memahami manusia dan realitas kehidupan</a:t>
              </a:r>
              <a:endParaRPr/>
            </a:p>
          </p:txBody>
        </p:sp>
        <p:sp>
          <p:nvSpPr>
            <p:cNvPr id="162" name="Google Shape;162;p6"/>
            <p:cNvSpPr/>
            <p:nvPr/>
          </p:nvSpPr>
          <p:spPr>
            <a:xfrm>
              <a:off x="0" y="4027174"/>
              <a:ext cx="10515600" cy="505439"/>
            </a:xfrm>
            <a:prstGeom prst="roundRect">
              <a:avLst>
                <a:gd fmla="val 16667" name="adj"/>
              </a:avLst>
            </a:prstGeom>
            <a:solidFill>
              <a:srgbClr val="5999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6"/>
            <p:cNvSpPr txBox="1"/>
            <p:nvPr/>
          </p:nvSpPr>
          <p:spPr>
            <a:xfrm>
              <a:off x="24673" y="4051847"/>
              <a:ext cx="10466254" cy="456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alibri"/>
                <a:buNone/>
              </a:pPr>
              <a:r>
                <a:rPr lang="id-ID" sz="2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8. </a:t>
              </a:r>
              <a:r>
                <a:rPr lang="id-ID" sz="2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Berintegritas</a:t>
              </a:r>
              <a:r>
                <a:rPr lang="id-ID" sz="2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tinggi dan bertakwa kepada Allah    </a:t>
              </a:r>
              <a:endParaRPr/>
            </a:p>
          </p:txBody>
        </p:sp>
      </p:grpSp>
      <p:sp>
        <p:nvSpPr>
          <p:cNvPr id="164" name="Google Shape;164;p6"/>
          <p:cNvSpPr txBox="1"/>
          <p:nvPr/>
        </p:nvSpPr>
        <p:spPr>
          <a:xfrm>
            <a:off x="7327773" y="6096000"/>
            <a:ext cx="4026027" cy="5232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Yusuf al-Qaradhawi, </a:t>
            </a:r>
            <a:r>
              <a:rPr i="1" lang="id-ID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al-Ijtihad fi-al-Shari’ah al-Islamiyyah</a:t>
            </a:r>
            <a:r>
              <a:rPr lang="id-ID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(Kairo: Dar al-Qalam, 1996)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/>
              <a:t>Tingkatan Mujtahid</a:t>
            </a:r>
            <a:endParaRPr/>
          </a:p>
        </p:txBody>
      </p:sp>
      <p:grpSp>
        <p:nvGrpSpPr>
          <p:cNvPr id="170" name="Google Shape;170;p7"/>
          <p:cNvGrpSpPr/>
          <p:nvPr/>
        </p:nvGrpSpPr>
        <p:grpSpPr>
          <a:xfrm>
            <a:off x="5944430" y="1536494"/>
            <a:ext cx="5421678" cy="4430709"/>
            <a:chOff x="830" y="39235"/>
            <a:chExt cx="5421678" cy="4430709"/>
          </a:xfrm>
        </p:grpSpPr>
        <p:sp>
          <p:nvSpPr>
            <p:cNvPr id="171" name="Google Shape;171;p7"/>
            <p:cNvSpPr/>
            <p:nvPr/>
          </p:nvSpPr>
          <p:spPr>
            <a:xfrm>
              <a:off x="2796903" y="2254590"/>
              <a:ext cx="437600" cy="1881684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0"/>
                  </a:lnTo>
                  <a:lnTo>
                    <a:pt x="6000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rgbClr val="354254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172" name="Google Shape;172;p7"/>
            <p:cNvSpPr/>
            <p:nvPr/>
          </p:nvSpPr>
          <p:spPr>
            <a:xfrm>
              <a:off x="2796903" y="2254590"/>
              <a:ext cx="437600" cy="940842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0"/>
                  </a:lnTo>
                  <a:lnTo>
                    <a:pt x="6000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rgbClr val="354254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173" name="Google Shape;173;p7"/>
            <p:cNvSpPr/>
            <p:nvPr/>
          </p:nvSpPr>
          <p:spPr>
            <a:xfrm>
              <a:off x="2796903" y="2208870"/>
              <a:ext cx="437600" cy="9144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12700">
              <a:solidFill>
                <a:srgbClr val="354254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174" name="Google Shape;174;p7"/>
            <p:cNvSpPr/>
            <p:nvPr/>
          </p:nvSpPr>
          <p:spPr>
            <a:xfrm>
              <a:off x="2796903" y="1313748"/>
              <a:ext cx="437600" cy="940842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120000"/>
                  </a:lnTo>
                  <a:lnTo>
                    <a:pt x="60000" y="0"/>
                  </a:lnTo>
                  <a:lnTo>
                    <a:pt x="120000" y="0"/>
                  </a:lnTo>
                </a:path>
              </a:pathLst>
            </a:custGeom>
            <a:noFill/>
            <a:ln cap="flat" cmpd="sng" w="12700">
              <a:solidFill>
                <a:srgbClr val="354254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175" name="Google Shape;175;p7"/>
            <p:cNvSpPr/>
            <p:nvPr/>
          </p:nvSpPr>
          <p:spPr>
            <a:xfrm>
              <a:off x="2796903" y="372906"/>
              <a:ext cx="437600" cy="1881684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120000"/>
                  </a:lnTo>
                  <a:lnTo>
                    <a:pt x="60000" y="0"/>
                  </a:lnTo>
                  <a:lnTo>
                    <a:pt x="120000" y="0"/>
                  </a:lnTo>
                </a:path>
              </a:pathLst>
            </a:custGeom>
            <a:noFill/>
            <a:ln cap="flat" cmpd="sng" w="12700">
              <a:solidFill>
                <a:srgbClr val="354254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176" name="Google Shape;176;p7"/>
            <p:cNvSpPr/>
            <p:nvPr/>
          </p:nvSpPr>
          <p:spPr>
            <a:xfrm>
              <a:off x="830" y="1926001"/>
              <a:ext cx="2796073" cy="657177"/>
            </a:xfrm>
            <a:prstGeom prst="rect">
              <a:avLst/>
            </a:prstGeom>
            <a:solidFill>
              <a:srgbClr val="0070C0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7"/>
            <p:cNvSpPr txBox="1"/>
            <p:nvPr/>
          </p:nvSpPr>
          <p:spPr>
            <a:xfrm>
              <a:off x="830" y="1926001"/>
              <a:ext cx="2796073" cy="6571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600" lIns="14600" spcFirstLastPara="1" rIns="14600" wrap="square" tIns="14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None/>
              </a:pPr>
              <a:r>
                <a:rPr lang="id-ID" sz="2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Berdasarkan tingkat independensi ijtihad </a:t>
              </a:r>
              <a:endParaRPr/>
            </a:p>
          </p:txBody>
        </p:sp>
        <p:sp>
          <p:nvSpPr>
            <p:cNvPr id="178" name="Google Shape;178;p7"/>
            <p:cNvSpPr/>
            <p:nvPr/>
          </p:nvSpPr>
          <p:spPr>
            <a:xfrm>
              <a:off x="3234504" y="39235"/>
              <a:ext cx="2188004" cy="667341"/>
            </a:xfrm>
            <a:prstGeom prst="rect">
              <a:avLst/>
            </a:prstGeom>
            <a:solidFill>
              <a:srgbClr val="00B050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7"/>
            <p:cNvSpPr txBox="1"/>
            <p:nvPr/>
          </p:nvSpPr>
          <p:spPr>
            <a:xfrm>
              <a:off x="3234504" y="39235"/>
              <a:ext cx="2188004" cy="6673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600" lIns="14600" spcFirstLastPara="1" rIns="14600" wrap="square" tIns="14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None/>
              </a:pPr>
              <a:r>
                <a:rPr lang="id-ID" sz="2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Mustaqill Mutlaq</a:t>
              </a:r>
              <a:endParaRPr/>
            </a:p>
          </p:txBody>
        </p:sp>
        <p:sp>
          <p:nvSpPr>
            <p:cNvPr id="180" name="Google Shape;180;p7"/>
            <p:cNvSpPr/>
            <p:nvPr/>
          </p:nvSpPr>
          <p:spPr>
            <a:xfrm>
              <a:off x="3234504" y="980077"/>
              <a:ext cx="2188004" cy="667341"/>
            </a:xfrm>
            <a:prstGeom prst="rect">
              <a:avLst/>
            </a:prstGeom>
            <a:solidFill>
              <a:srgbClr val="FFC000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7"/>
            <p:cNvSpPr txBox="1"/>
            <p:nvPr/>
          </p:nvSpPr>
          <p:spPr>
            <a:xfrm>
              <a:off x="3234504" y="980077"/>
              <a:ext cx="2188004" cy="6673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600" lIns="14600" spcFirstLastPara="1" rIns="14600" wrap="square" tIns="14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None/>
              </a:pPr>
              <a:r>
                <a:rPr lang="id-ID" sz="2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Mutlaq Ghair Mustaqill</a:t>
              </a:r>
              <a:endParaRPr/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3234504" y="1920919"/>
              <a:ext cx="2188004" cy="667341"/>
            </a:xfrm>
            <a:prstGeom prst="rect">
              <a:avLst/>
            </a:prstGeom>
            <a:solidFill>
              <a:srgbClr val="525252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7"/>
            <p:cNvSpPr txBox="1"/>
            <p:nvPr/>
          </p:nvSpPr>
          <p:spPr>
            <a:xfrm>
              <a:off x="3234504" y="1920919"/>
              <a:ext cx="2188004" cy="6673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600" lIns="14600" spcFirstLastPara="1" rIns="14600" wrap="square" tIns="14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None/>
              </a:pPr>
              <a:r>
                <a:rPr lang="id-ID" sz="2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Muqayyad</a:t>
              </a:r>
              <a:endParaRPr/>
            </a:p>
          </p:txBody>
        </p:sp>
        <p:sp>
          <p:nvSpPr>
            <p:cNvPr id="184" name="Google Shape;184;p7"/>
            <p:cNvSpPr/>
            <p:nvPr/>
          </p:nvSpPr>
          <p:spPr>
            <a:xfrm>
              <a:off x="3234504" y="2861761"/>
              <a:ext cx="2188004" cy="667341"/>
            </a:xfrm>
            <a:prstGeom prst="rect">
              <a:avLst/>
            </a:prstGeom>
            <a:solidFill>
              <a:srgbClr val="C00000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7"/>
            <p:cNvSpPr txBox="1"/>
            <p:nvPr/>
          </p:nvSpPr>
          <p:spPr>
            <a:xfrm>
              <a:off x="3234504" y="2861761"/>
              <a:ext cx="2188004" cy="6673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600" lIns="14600" spcFirstLastPara="1" rIns="14600" wrap="square" tIns="14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None/>
              </a:pPr>
              <a:r>
                <a:rPr lang="id-ID" sz="2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Mujtahid al-Tarjih </a:t>
              </a:r>
              <a:endParaRPr/>
            </a:p>
          </p:txBody>
        </p:sp>
        <p:sp>
          <p:nvSpPr>
            <p:cNvPr id="186" name="Google Shape;186;p7"/>
            <p:cNvSpPr/>
            <p:nvPr/>
          </p:nvSpPr>
          <p:spPr>
            <a:xfrm>
              <a:off x="3234504" y="3802603"/>
              <a:ext cx="2188004" cy="667341"/>
            </a:xfrm>
            <a:prstGeom prst="rect">
              <a:avLst/>
            </a:prstGeom>
            <a:solidFill>
              <a:srgbClr val="7030A0"/>
            </a:solidFill>
            <a:ln cap="flat" cmpd="sng" w="127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7"/>
            <p:cNvSpPr txBox="1"/>
            <p:nvPr/>
          </p:nvSpPr>
          <p:spPr>
            <a:xfrm>
              <a:off x="3234504" y="3802603"/>
              <a:ext cx="2188004" cy="6673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600" lIns="14600" spcFirstLastPara="1" rIns="14600" wrap="square" tIns="14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None/>
              </a:pPr>
              <a:r>
                <a:rPr lang="id-ID" sz="2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Mujtahid al-Futya</a:t>
              </a:r>
              <a:endParaRPr/>
            </a:p>
          </p:txBody>
        </p:sp>
      </p:grpSp>
      <p:sp>
        <p:nvSpPr>
          <p:cNvPr id="188" name="Google Shape;188;p7"/>
          <p:cNvSpPr txBox="1"/>
          <p:nvPr/>
        </p:nvSpPr>
        <p:spPr>
          <a:xfrm>
            <a:off x="948853" y="5969655"/>
            <a:ext cx="3975347" cy="5232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Muhammad Mustafa al-Zuhaili, </a:t>
            </a:r>
            <a:r>
              <a:rPr i="1" lang="id-ID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al-Wajiz fi-Usul al-Fiqh al-Islami</a:t>
            </a:r>
            <a:r>
              <a:rPr lang="id-ID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(Damaskus: Dar al-Khair, 2006)</a:t>
            </a:r>
            <a:endParaRPr/>
          </a:p>
        </p:txBody>
      </p:sp>
      <p:pic>
        <p:nvPicPr>
          <p:cNvPr descr="A group of people reading korans&#10;&#10;Description automatically generated" id="189" name="Google Shape;18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853" y="1764151"/>
            <a:ext cx="4815952" cy="387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/>
              <a:t>Jenis-jenis ijtihad</a:t>
            </a:r>
            <a:endParaRPr/>
          </a:p>
        </p:txBody>
      </p:sp>
      <p:sp>
        <p:nvSpPr>
          <p:cNvPr id="195" name="Google Shape;195;p8"/>
          <p:cNvSpPr txBox="1"/>
          <p:nvPr>
            <p:ph idx="1" type="body"/>
          </p:nvPr>
        </p:nvSpPr>
        <p:spPr>
          <a:xfrm>
            <a:off x="839788" y="1681163"/>
            <a:ext cx="5157787" cy="60483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id-ID">
                <a:solidFill>
                  <a:schemeClr val="lt1"/>
                </a:solidFill>
              </a:rPr>
              <a:t>Berdasarkan kuantitas mujtahid</a:t>
            </a:r>
            <a:endParaRPr/>
          </a:p>
        </p:txBody>
      </p:sp>
      <p:grpSp>
        <p:nvGrpSpPr>
          <p:cNvPr id="196" name="Google Shape;196;p8"/>
          <p:cNvGrpSpPr/>
          <p:nvPr/>
        </p:nvGrpSpPr>
        <p:grpSpPr>
          <a:xfrm>
            <a:off x="832150" y="2746424"/>
            <a:ext cx="5155299" cy="2822585"/>
            <a:chOff x="1243" y="431001"/>
            <a:chExt cx="5155299" cy="2822585"/>
          </a:xfrm>
        </p:grpSpPr>
        <p:sp>
          <p:nvSpPr>
            <p:cNvPr id="197" name="Google Shape;197;p8"/>
            <p:cNvSpPr/>
            <p:nvPr/>
          </p:nvSpPr>
          <p:spPr>
            <a:xfrm>
              <a:off x="2578893" y="1597358"/>
              <a:ext cx="1411292" cy="48987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60000"/>
                  </a:lnTo>
                  <a:lnTo>
                    <a:pt x="120000" y="6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rgbClr val="599BD5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198" name="Google Shape;198;p8"/>
            <p:cNvSpPr/>
            <p:nvPr/>
          </p:nvSpPr>
          <p:spPr>
            <a:xfrm>
              <a:off x="1167600" y="1597358"/>
              <a:ext cx="1411292" cy="489870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60000"/>
                  </a:lnTo>
                  <a:lnTo>
                    <a:pt x="0" y="60000"/>
                  </a:lnTo>
                  <a:lnTo>
                    <a:pt x="0" y="120000"/>
                  </a:lnTo>
                </a:path>
              </a:pathLst>
            </a:custGeom>
            <a:noFill/>
            <a:ln cap="flat" cmpd="sng" w="12700">
              <a:solidFill>
                <a:srgbClr val="599BD5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199" name="Google Shape;199;p8"/>
            <p:cNvSpPr/>
            <p:nvPr/>
          </p:nvSpPr>
          <p:spPr>
            <a:xfrm>
              <a:off x="1412536" y="431001"/>
              <a:ext cx="2332714" cy="1166357"/>
            </a:xfrm>
            <a:prstGeom prst="rect">
              <a:avLst/>
            </a:prstGeom>
            <a:solidFill>
              <a:srgbClr val="FFC000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8"/>
            <p:cNvSpPr txBox="1"/>
            <p:nvPr/>
          </p:nvSpPr>
          <p:spPr>
            <a:xfrm>
              <a:off x="1412536" y="431001"/>
              <a:ext cx="2332714" cy="1166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600" lIns="14600" spcFirstLastPara="1" rIns="14600" wrap="square" tIns="14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None/>
              </a:pPr>
              <a:r>
                <a:rPr lang="id-ID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Ijtihad</a:t>
              </a:r>
              <a:endParaRPr/>
            </a:p>
          </p:txBody>
        </p:sp>
        <p:sp>
          <p:nvSpPr>
            <p:cNvPr id="201" name="Google Shape;201;p8"/>
            <p:cNvSpPr/>
            <p:nvPr/>
          </p:nvSpPr>
          <p:spPr>
            <a:xfrm>
              <a:off x="1243" y="2087229"/>
              <a:ext cx="2332714" cy="1166357"/>
            </a:xfrm>
            <a:prstGeom prst="rect">
              <a:avLst/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8"/>
            <p:cNvSpPr txBox="1"/>
            <p:nvPr/>
          </p:nvSpPr>
          <p:spPr>
            <a:xfrm>
              <a:off x="1243" y="2087229"/>
              <a:ext cx="2332714" cy="1166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600" lIns="14600" spcFirstLastPara="1" rIns="14600" wrap="square" tIns="14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None/>
              </a:pPr>
              <a:r>
                <a:rPr i="1" lang="id-ID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Fardi</a:t>
              </a:r>
              <a:r>
                <a:rPr lang="id-ID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(individual)</a:t>
              </a:r>
              <a:endParaRPr/>
            </a:p>
          </p:txBody>
        </p:sp>
        <p:sp>
          <p:nvSpPr>
            <p:cNvPr id="203" name="Google Shape;203;p8"/>
            <p:cNvSpPr/>
            <p:nvPr/>
          </p:nvSpPr>
          <p:spPr>
            <a:xfrm>
              <a:off x="2823828" y="2087229"/>
              <a:ext cx="2332714" cy="1166357"/>
            </a:xfrm>
            <a:prstGeom prst="rect">
              <a:avLst/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8"/>
            <p:cNvSpPr txBox="1"/>
            <p:nvPr/>
          </p:nvSpPr>
          <p:spPr>
            <a:xfrm>
              <a:off x="2823828" y="2087229"/>
              <a:ext cx="2332714" cy="11663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600" lIns="14600" spcFirstLastPara="1" rIns="14600" wrap="square" tIns="14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None/>
              </a:pPr>
              <a:r>
                <a:rPr i="1" lang="id-ID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Jama’i</a:t>
              </a:r>
              <a:r>
                <a:rPr lang="id-ID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(kolektif)</a:t>
              </a:r>
              <a:endParaRPr/>
            </a:p>
          </p:txBody>
        </p:sp>
      </p:grpSp>
      <p:sp>
        <p:nvSpPr>
          <p:cNvPr id="205" name="Google Shape;205;p8"/>
          <p:cNvSpPr txBox="1"/>
          <p:nvPr>
            <p:ph idx="3" type="body"/>
          </p:nvPr>
        </p:nvSpPr>
        <p:spPr>
          <a:xfrm>
            <a:off x="6172200" y="1681163"/>
            <a:ext cx="5183188" cy="60483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id-ID">
                <a:solidFill>
                  <a:schemeClr val="lt1"/>
                </a:solidFill>
              </a:rPr>
              <a:t>Berdasarkan kebaharuannya</a:t>
            </a:r>
            <a:endParaRPr/>
          </a:p>
        </p:txBody>
      </p:sp>
      <p:grpSp>
        <p:nvGrpSpPr>
          <p:cNvPr id="206" name="Google Shape;206;p8"/>
          <p:cNvGrpSpPr/>
          <p:nvPr/>
        </p:nvGrpSpPr>
        <p:grpSpPr>
          <a:xfrm>
            <a:off x="6155506" y="2723885"/>
            <a:ext cx="5180689" cy="2852074"/>
            <a:chOff x="1249" y="408462"/>
            <a:chExt cx="5180689" cy="2852074"/>
          </a:xfrm>
        </p:grpSpPr>
        <p:sp>
          <p:nvSpPr>
            <p:cNvPr id="207" name="Google Shape;207;p8"/>
            <p:cNvSpPr/>
            <p:nvPr/>
          </p:nvSpPr>
          <p:spPr>
            <a:xfrm>
              <a:off x="2591125" y="1580563"/>
              <a:ext cx="1418711" cy="507871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61842"/>
                  </a:lnTo>
                  <a:lnTo>
                    <a:pt x="120000" y="61842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208" name="Google Shape;208;p8"/>
            <p:cNvSpPr/>
            <p:nvPr/>
          </p:nvSpPr>
          <p:spPr>
            <a:xfrm>
              <a:off x="1173351" y="1580563"/>
              <a:ext cx="1417774" cy="507871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61842"/>
                  </a:lnTo>
                  <a:lnTo>
                    <a:pt x="0" y="61842"/>
                  </a:lnTo>
                  <a:lnTo>
                    <a:pt x="0" y="120000"/>
                  </a:lnTo>
                </a:path>
              </a:pathLst>
            </a:custGeom>
            <a:noFill/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209" name="Google Shape;209;p8"/>
            <p:cNvSpPr/>
            <p:nvPr/>
          </p:nvSpPr>
          <p:spPr>
            <a:xfrm>
              <a:off x="1419023" y="408462"/>
              <a:ext cx="2344203" cy="1172101"/>
            </a:xfrm>
            <a:prstGeom prst="rect">
              <a:avLst/>
            </a:prstGeom>
            <a:solidFill>
              <a:srgbClr val="FF0000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8"/>
            <p:cNvSpPr txBox="1"/>
            <p:nvPr/>
          </p:nvSpPr>
          <p:spPr>
            <a:xfrm>
              <a:off x="1419023" y="408462"/>
              <a:ext cx="2344203" cy="11721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600" lIns="14600" spcFirstLastPara="1" rIns="14600" wrap="square" tIns="14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None/>
              </a:pPr>
              <a:r>
                <a:rPr lang="id-ID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Ijtihad</a:t>
              </a:r>
              <a:endParaRPr/>
            </a:p>
          </p:txBody>
        </p:sp>
        <p:sp>
          <p:nvSpPr>
            <p:cNvPr id="211" name="Google Shape;211;p8"/>
            <p:cNvSpPr/>
            <p:nvPr/>
          </p:nvSpPr>
          <p:spPr>
            <a:xfrm>
              <a:off x="1249" y="2088435"/>
              <a:ext cx="2344203" cy="1172101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8"/>
            <p:cNvSpPr txBox="1"/>
            <p:nvPr/>
          </p:nvSpPr>
          <p:spPr>
            <a:xfrm>
              <a:off x="1249" y="2088435"/>
              <a:ext cx="2344203" cy="11721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600" lIns="14600" spcFirstLastPara="1" rIns="14600" wrap="square" tIns="14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None/>
              </a:pPr>
              <a:r>
                <a:rPr i="1" lang="id-ID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Insya’i</a:t>
              </a:r>
              <a:r>
                <a:rPr lang="id-ID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(inovatif)</a:t>
              </a:r>
              <a:endParaRPr/>
            </a:p>
          </p:txBody>
        </p:sp>
        <p:sp>
          <p:nvSpPr>
            <p:cNvPr id="213" name="Google Shape;213;p8"/>
            <p:cNvSpPr/>
            <p:nvPr/>
          </p:nvSpPr>
          <p:spPr>
            <a:xfrm>
              <a:off x="2837735" y="2088435"/>
              <a:ext cx="2344203" cy="1172101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8"/>
            <p:cNvSpPr txBox="1"/>
            <p:nvPr/>
          </p:nvSpPr>
          <p:spPr>
            <a:xfrm>
              <a:off x="2837735" y="2088435"/>
              <a:ext cx="2344203" cy="11721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600" lIns="14600" spcFirstLastPara="1" rIns="14600" wrap="square" tIns="14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None/>
              </a:pPr>
              <a:r>
                <a:rPr i="1" lang="id-ID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Intiqa’i </a:t>
              </a:r>
              <a:r>
                <a:rPr lang="id-ID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(selektif)</a:t>
              </a:r>
              <a:endParaRPr/>
            </a:p>
          </p:txBody>
        </p:sp>
      </p:grpSp>
      <p:sp>
        <p:nvSpPr>
          <p:cNvPr id="215" name="Google Shape;215;p8"/>
          <p:cNvSpPr txBox="1"/>
          <p:nvPr/>
        </p:nvSpPr>
        <p:spPr>
          <a:xfrm>
            <a:off x="839240" y="5969655"/>
            <a:ext cx="3975347" cy="5232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Muhammad Mustafa al-Zuhaili, </a:t>
            </a:r>
            <a:r>
              <a:rPr i="1" lang="id-ID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al-Wajiz fi-Usul al-Fiqh al-Islami</a:t>
            </a:r>
            <a:r>
              <a:rPr lang="id-ID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(Damaskus: Dar al-Khair, 2006)</a:t>
            </a:r>
            <a:endParaRPr/>
          </a:p>
        </p:txBody>
      </p:sp>
      <p:sp>
        <p:nvSpPr>
          <p:cNvPr id="216" name="Google Shape;216;p8"/>
          <p:cNvSpPr txBox="1"/>
          <p:nvPr/>
        </p:nvSpPr>
        <p:spPr>
          <a:xfrm>
            <a:off x="7162801" y="5948413"/>
            <a:ext cx="4189412" cy="5232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Yusuf al-Qaradhawi, </a:t>
            </a:r>
            <a:r>
              <a:rPr i="1" lang="id-ID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al-Ijtihad fi-al-Shari’ah al-Islamiyyah</a:t>
            </a:r>
            <a:r>
              <a:rPr lang="id-ID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(Kairo: Dar al-Qalam, 1996)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/>
              <a:t>Dalil-Dalil Hukum Syariat</a:t>
            </a:r>
            <a:endParaRPr/>
          </a:p>
        </p:txBody>
      </p:sp>
      <p:sp>
        <p:nvSpPr>
          <p:cNvPr id="222" name="Google Shape;222;p9"/>
          <p:cNvSpPr txBox="1"/>
          <p:nvPr>
            <p:ph idx="1" type="body"/>
          </p:nvPr>
        </p:nvSpPr>
        <p:spPr>
          <a:xfrm>
            <a:off x="839788" y="1681163"/>
            <a:ext cx="5157787" cy="52863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id-ID">
                <a:solidFill>
                  <a:schemeClr val="lt1"/>
                </a:solidFill>
              </a:rPr>
              <a:t>Al-Mujma’ ‘alaihi</a:t>
            </a:r>
            <a:endParaRPr/>
          </a:p>
        </p:txBody>
      </p:sp>
      <p:grpSp>
        <p:nvGrpSpPr>
          <p:cNvPr id="223" name="Google Shape;223;p9"/>
          <p:cNvGrpSpPr/>
          <p:nvPr/>
        </p:nvGrpSpPr>
        <p:grpSpPr>
          <a:xfrm>
            <a:off x="-3339847" y="1600540"/>
            <a:ext cx="9273667" cy="4962886"/>
            <a:chOff x="-4165075" y="-639149"/>
            <a:chExt cx="9273667" cy="4962886"/>
          </a:xfrm>
        </p:grpSpPr>
        <p:sp>
          <p:nvSpPr>
            <p:cNvPr id="224" name="Google Shape;224;p9"/>
            <p:cNvSpPr/>
            <p:nvPr/>
          </p:nvSpPr>
          <p:spPr>
            <a:xfrm>
              <a:off x="-4165075" y="-639149"/>
              <a:ext cx="4962886" cy="4962886"/>
            </a:xfrm>
            <a:prstGeom prst="blockArc">
              <a:avLst>
                <a:gd fmla="val 18900000" name="adj1"/>
                <a:gd fmla="val 2700000" name="adj2"/>
                <a:gd fmla="val 435" name="adj3"/>
              </a:avLst>
            </a:prstGeom>
            <a:noFill/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9"/>
            <p:cNvSpPr/>
            <p:nvPr/>
          </p:nvSpPr>
          <p:spPr>
            <a:xfrm>
              <a:off x="418011" y="283271"/>
              <a:ext cx="4690581" cy="566837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9"/>
            <p:cNvSpPr txBox="1"/>
            <p:nvPr/>
          </p:nvSpPr>
          <p:spPr>
            <a:xfrm>
              <a:off x="418011" y="283271"/>
              <a:ext cx="4690581" cy="5668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8400" lIns="449925" spcFirstLastPara="1" rIns="58400" wrap="square" tIns="584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None/>
              </a:pPr>
              <a:r>
                <a:rPr lang="id-ID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 Al-Qur’an</a:t>
              </a:r>
              <a:endParaRPr/>
            </a:p>
          </p:txBody>
        </p:sp>
        <p:sp>
          <p:nvSpPr>
            <p:cNvPr id="227" name="Google Shape;227;p9"/>
            <p:cNvSpPr/>
            <p:nvPr/>
          </p:nvSpPr>
          <p:spPr>
            <a:xfrm>
              <a:off x="63738" y="212416"/>
              <a:ext cx="708546" cy="708546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9"/>
            <p:cNvSpPr/>
            <p:nvPr/>
          </p:nvSpPr>
          <p:spPr>
            <a:xfrm>
              <a:off x="742992" y="1133674"/>
              <a:ext cx="4365600" cy="566837"/>
            </a:xfrm>
            <a:prstGeom prst="rect">
              <a:avLst/>
            </a:prstGeom>
            <a:solidFill>
              <a:schemeClr val="accent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9"/>
            <p:cNvSpPr txBox="1"/>
            <p:nvPr/>
          </p:nvSpPr>
          <p:spPr>
            <a:xfrm>
              <a:off x="742992" y="1133674"/>
              <a:ext cx="4365600" cy="5668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8400" lIns="449925" spcFirstLastPara="1" rIns="58400" wrap="square" tIns="584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None/>
              </a:pPr>
              <a:r>
                <a:rPr lang="id-ID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2. Al-Sunnah</a:t>
              </a:r>
              <a:endParaRPr/>
            </a:p>
          </p:txBody>
        </p:sp>
        <p:sp>
          <p:nvSpPr>
            <p:cNvPr id="230" name="Google Shape;230;p9"/>
            <p:cNvSpPr/>
            <p:nvPr/>
          </p:nvSpPr>
          <p:spPr>
            <a:xfrm>
              <a:off x="388719" y="1062819"/>
              <a:ext cx="708546" cy="708546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9"/>
            <p:cNvSpPr/>
            <p:nvPr/>
          </p:nvSpPr>
          <p:spPr>
            <a:xfrm>
              <a:off x="742992" y="1984076"/>
              <a:ext cx="4365600" cy="566837"/>
            </a:xfrm>
            <a:prstGeom prst="rect">
              <a:avLst/>
            </a:prstGeom>
            <a:solidFill>
              <a:schemeClr val="accent4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9"/>
            <p:cNvSpPr txBox="1"/>
            <p:nvPr/>
          </p:nvSpPr>
          <p:spPr>
            <a:xfrm>
              <a:off x="742992" y="1984076"/>
              <a:ext cx="4365600" cy="5668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8400" lIns="449925" spcFirstLastPara="1" rIns="58400" wrap="square" tIns="584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None/>
              </a:pPr>
              <a:r>
                <a:rPr lang="id-ID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3. Al-Ijma</a:t>
              </a:r>
              <a:endParaRPr/>
            </a:p>
          </p:txBody>
        </p:sp>
        <p:sp>
          <p:nvSpPr>
            <p:cNvPr id="233" name="Google Shape;233;p9"/>
            <p:cNvSpPr/>
            <p:nvPr/>
          </p:nvSpPr>
          <p:spPr>
            <a:xfrm>
              <a:off x="388719" y="1913222"/>
              <a:ext cx="708546" cy="708546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9"/>
            <p:cNvSpPr/>
            <p:nvPr/>
          </p:nvSpPr>
          <p:spPr>
            <a:xfrm>
              <a:off x="418011" y="2834479"/>
              <a:ext cx="4690581" cy="566837"/>
            </a:xfrm>
            <a:prstGeom prst="rect">
              <a:avLst/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9"/>
            <p:cNvSpPr txBox="1"/>
            <p:nvPr/>
          </p:nvSpPr>
          <p:spPr>
            <a:xfrm>
              <a:off x="418011" y="2834479"/>
              <a:ext cx="4690581" cy="5668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8400" lIns="449925" spcFirstLastPara="1" rIns="58400" wrap="square" tIns="584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None/>
              </a:pPr>
              <a:r>
                <a:rPr lang="id-ID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4. Al-Qiyas</a:t>
              </a:r>
              <a:endParaRPr/>
            </a:p>
          </p:txBody>
        </p:sp>
        <p:sp>
          <p:nvSpPr>
            <p:cNvPr id="236" name="Google Shape;236;p9"/>
            <p:cNvSpPr/>
            <p:nvPr/>
          </p:nvSpPr>
          <p:spPr>
            <a:xfrm>
              <a:off x="63738" y="2763625"/>
              <a:ext cx="708546" cy="708546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rgbClr val="599B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7" name="Google Shape;237;p9"/>
          <p:cNvSpPr txBox="1"/>
          <p:nvPr>
            <p:ph idx="3" type="body"/>
          </p:nvPr>
        </p:nvSpPr>
        <p:spPr>
          <a:xfrm>
            <a:off x="6172200" y="1681163"/>
            <a:ext cx="5183188" cy="52863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id-ID">
                <a:solidFill>
                  <a:schemeClr val="lt1"/>
                </a:solidFill>
              </a:rPr>
              <a:t>Al-Mukhtalaf fihi</a:t>
            </a:r>
            <a:endParaRPr/>
          </a:p>
        </p:txBody>
      </p:sp>
      <p:grpSp>
        <p:nvGrpSpPr>
          <p:cNvPr id="238" name="Google Shape;238;p9"/>
          <p:cNvGrpSpPr/>
          <p:nvPr/>
        </p:nvGrpSpPr>
        <p:grpSpPr>
          <a:xfrm>
            <a:off x="6172200" y="2240138"/>
            <a:ext cx="5183188" cy="3683689"/>
            <a:chOff x="0" y="449"/>
            <a:chExt cx="5183188" cy="3683689"/>
          </a:xfrm>
        </p:grpSpPr>
        <p:cxnSp>
          <p:nvCxnSpPr>
            <p:cNvPr id="239" name="Google Shape;239;p9"/>
            <p:cNvCxnSpPr/>
            <p:nvPr/>
          </p:nvCxnSpPr>
          <p:spPr>
            <a:xfrm>
              <a:off x="0" y="449"/>
              <a:ext cx="5183188" cy="0"/>
            </a:xfrm>
            <a:prstGeom prst="straightConnector1">
              <a:avLst/>
            </a:prstGeom>
            <a:solidFill>
              <a:srgbClr val="4372C3"/>
            </a:solidFill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40" name="Google Shape;240;p9"/>
            <p:cNvSpPr/>
            <p:nvPr/>
          </p:nvSpPr>
          <p:spPr>
            <a:xfrm>
              <a:off x="0" y="449"/>
              <a:ext cx="5183188" cy="526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9"/>
            <p:cNvSpPr txBox="1"/>
            <p:nvPr/>
          </p:nvSpPr>
          <p:spPr>
            <a:xfrm>
              <a:off x="0" y="449"/>
              <a:ext cx="5183188" cy="526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None/>
              </a:pPr>
              <a:r>
                <a:rPr lang="id-ID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 </a:t>
              </a:r>
              <a:r>
                <a:rPr lang="id-ID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al-Istihsan</a:t>
              </a:r>
              <a:endParaRPr/>
            </a:p>
          </p:txBody>
        </p:sp>
        <p:cxnSp>
          <p:nvCxnSpPr>
            <p:cNvPr id="242" name="Google Shape;242;p9"/>
            <p:cNvCxnSpPr/>
            <p:nvPr/>
          </p:nvCxnSpPr>
          <p:spPr>
            <a:xfrm>
              <a:off x="0" y="526690"/>
              <a:ext cx="5183188" cy="0"/>
            </a:xfrm>
            <a:prstGeom prst="straightConnector1">
              <a:avLst/>
            </a:prstGeom>
            <a:solidFill>
              <a:srgbClr val="4372C3"/>
            </a:solidFill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43" name="Google Shape;243;p9"/>
            <p:cNvSpPr/>
            <p:nvPr/>
          </p:nvSpPr>
          <p:spPr>
            <a:xfrm>
              <a:off x="0" y="526690"/>
              <a:ext cx="5183188" cy="526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9"/>
            <p:cNvSpPr txBox="1"/>
            <p:nvPr/>
          </p:nvSpPr>
          <p:spPr>
            <a:xfrm>
              <a:off x="0" y="526690"/>
              <a:ext cx="5183188" cy="526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None/>
              </a:pPr>
              <a:r>
                <a:rPr lang="id-ID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2. </a:t>
              </a:r>
              <a:r>
                <a:rPr lang="id-ID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al-Masalih al-Mursalah</a:t>
              </a:r>
              <a:endParaRPr/>
            </a:p>
          </p:txBody>
        </p:sp>
        <p:cxnSp>
          <p:nvCxnSpPr>
            <p:cNvPr id="245" name="Google Shape;245;p9"/>
            <p:cNvCxnSpPr/>
            <p:nvPr/>
          </p:nvCxnSpPr>
          <p:spPr>
            <a:xfrm>
              <a:off x="0" y="1052932"/>
              <a:ext cx="5183188" cy="0"/>
            </a:xfrm>
            <a:prstGeom prst="straightConnector1">
              <a:avLst/>
            </a:prstGeom>
            <a:solidFill>
              <a:srgbClr val="4372C3"/>
            </a:solidFill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46" name="Google Shape;246;p9"/>
            <p:cNvSpPr/>
            <p:nvPr/>
          </p:nvSpPr>
          <p:spPr>
            <a:xfrm>
              <a:off x="0" y="1052932"/>
              <a:ext cx="5183188" cy="526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9"/>
            <p:cNvSpPr txBox="1"/>
            <p:nvPr/>
          </p:nvSpPr>
          <p:spPr>
            <a:xfrm>
              <a:off x="0" y="1052932"/>
              <a:ext cx="5183188" cy="526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None/>
              </a:pPr>
              <a:r>
                <a:rPr lang="id-ID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3. al-Istishab</a:t>
              </a:r>
              <a:endParaRPr/>
            </a:p>
          </p:txBody>
        </p:sp>
        <p:cxnSp>
          <p:nvCxnSpPr>
            <p:cNvPr id="248" name="Google Shape;248;p9"/>
            <p:cNvCxnSpPr/>
            <p:nvPr/>
          </p:nvCxnSpPr>
          <p:spPr>
            <a:xfrm>
              <a:off x="0" y="1579173"/>
              <a:ext cx="5183188" cy="0"/>
            </a:xfrm>
            <a:prstGeom prst="straightConnector1">
              <a:avLst/>
            </a:prstGeom>
            <a:solidFill>
              <a:srgbClr val="4372C3"/>
            </a:solidFill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49" name="Google Shape;249;p9"/>
            <p:cNvSpPr/>
            <p:nvPr/>
          </p:nvSpPr>
          <p:spPr>
            <a:xfrm>
              <a:off x="0" y="1579173"/>
              <a:ext cx="5183188" cy="526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9"/>
            <p:cNvSpPr txBox="1"/>
            <p:nvPr/>
          </p:nvSpPr>
          <p:spPr>
            <a:xfrm>
              <a:off x="0" y="1579173"/>
              <a:ext cx="5183188" cy="526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None/>
              </a:pPr>
              <a:r>
                <a:rPr lang="id-ID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4. Al-’Urf</a:t>
              </a:r>
              <a:endParaRPr/>
            </a:p>
          </p:txBody>
        </p:sp>
        <p:cxnSp>
          <p:nvCxnSpPr>
            <p:cNvPr id="251" name="Google Shape;251;p9"/>
            <p:cNvCxnSpPr/>
            <p:nvPr/>
          </p:nvCxnSpPr>
          <p:spPr>
            <a:xfrm>
              <a:off x="0" y="2105414"/>
              <a:ext cx="5183188" cy="0"/>
            </a:xfrm>
            <a:prstGeom prst="straightConnector1">
              <a:avLst/>
            </a:prstGeom>
            <a:solidFill>
              <a:srgbClr val="4372C3"/>
            </a:solidFill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52" name="Google Shape;252;p9"/>
            <p:cNvSpPr/>
            <p:nvPr/>
          </p:nvSpPr>
          <p:spPr>
            <a:xfrm>
              <a:off x="0" y="2105414"/>
              <a:ext cx="5183188" cy="526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9"/>
            <p:cNvSpPr txBox="1"/>
            <p:nvPr/>
          </p:nvSpPr>
          <p:spPr>
            <a:xfrm>
              <a:off x="0" y="2105414"/>
              <a:ext cx="5183188" cy="526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None/>
              </a:pPr>
              <a:r>
                <a:rPr lang="id-ID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5. Madhhab al-Sahabi</a:t>
              </a:r>
              <a:endParaRPr/>
            </a:p>
          </p:txBody>
        </p:sp>
        <p:cxnSp>
          <p:nvCxnSpPr>
            <p:cNvPr id="254" name="Google Shape;254;p9"/>
            <p:cNvCxnSpPr/>
            <p:nvPr/>
          </p:nvCxnSpPr>
          <p:spPr>
            <a:xfrm>
              <a:off x="0" y="2631655"/>
              <a:ext cx="5183188" cy="0"/>
            </a:xfrm>
            <a:prstGeom prst="straightConnector1">
              <a:avLst/>
            </a:prstGeom>
            <a:solidFill>
              <a:srgbClr val="4372C3"/>
            </a:solidFill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55" name="Google Shape;255;p9"/>
            <p:cNvSpPr/>
            <p:nvPr/>
          </p:nvSpPr>
          <p:spPr>
            <a:xfrm>
              <a:off x="0" y="2631655"/>
              <a:ext cx="5183188" cy="526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9"/>
            <p:cNvSpPr txBox="1"/>
            <p:nvPr/>
          </p:nvSpPr>
          <p:spPr>
            <a:xfrm>
              <a:off x="0" y="2631655"/>
              <a:ext cx="5183188" cy="526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None/>
              </a:pPr>
              <a:r>
                <a:rPr lang="id-ID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6. Syar’u Man Qablana</a:t>
              </a:r>
              <a:endParaRPr/>
            </a:p>
          </p:txBody>
        </p:sp>
        <p:cxnSp>
          <p:nvCxnSpPr>
            <p:cNvPr id="257" name="Google Shape;257;p9"/>
            <p:cNvCxnSpPr/>
            <p:nvPr/>
          </p:nvCxnSpPr>
          <p:spPr>
            <a:xfrm>
              <a:off x="0" y="3157897"/>
              <a:ext cx="5183188" cy="0"/>
            </a:xfrm>
            <a:prstGeom prst="straightConnector1">
              <a:avLst/>
            </a:prstGeom>
            <a:solidFill>
              <a:srgbClr val="4372C3"/>
            </a:solidFill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58" name="Google Shape;258;p9"/>
            <p:cNvSpPr/>
            <p:nvPr/>
          </p:nvSpPr>
          <p:spPr>
            <a:xfrm>
              <a:off x="0" y="3157897"/>
              <a:ext cx="5183188" cy="526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9"/>
            <p:cNvSpPr txBox="1"/>
            <p:nvPr/>
          </p:nvSpPr>
          <p:spPr>
            <a:xfrm>
              <a:off x="0" y="3157897"/>
              <a:ext cx="5183188" cy="5262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None/>
              </a:pPr>
              <a:r>
                <a:rPr lang="id-ID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7. Al-Dhara’i</a:t>
              </a:r>
              <a:endParaRPr/>
            </a:p>
          </p:txBody>
        </p:sp>
      </p:grpSp>
      <p:sp>
        <p:nvSpPr>
          <p:cNvPr id="260" name="Google Shape;260;p9"/>
          <p:cNvSpPr txBox="1"/>
          <p:nvPr/>
        </p:nvSpPr>
        <p:spPr>
          <a:xfrm>
            <a:off x="7324362" y="5924277"/>
            <a:ext cx="4042410" cy="5232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Wahbah Zuhaili, </a:t>
            </a:r>
            <a:r>
              <a:rPr i="1" lang="id-ID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Usul al-Fiqh al-Islami </a:t>
            </a:r>
            <a:r>
              <a:rPr lang="id-ID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(Damaskus: Dar al-Fikr, 1987).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/>
              <a:t>Arah Ijtihad di Era Kontemorer</a:t>
            </a:r>
            <a:endParaRPr/>
          </a:p>
        </p:txBody>
      </p:sp>
      <p:grpSp>
        <p:nvGrpSpPr>
          <p:cNvPr id="266" name="Google Shape;266;p10"/>
          <p:cNvGrpSpPr/>
          <p:nvPr/>
        </p:nvGrpSpPr>
        <p:grpSpPr>
          <a:xfrm>
            <a:off x="838200" y="1674812"/>
            <a:ext cx="10515600" cy="3813174"/>
            <a:chOff x="0" y="0"/>
            <a:chExt cx="10515600" cy="3813174"/>
          </a:xfrm>
        </p:grpSpPr>
        <p:sp>
          <p:nvSpPr>
            <p:cNvPr id="267" name="Google Shape;267;p10"/>
            <p:cNvSpPr/>
            <p:nvPr/>
          </p:nvSpPr>
          <p:spPr>
            <a:xfrm>
              <a:off x="0" y="0"/>
              <a:ext cx="10515600" cy="1191617"/>
            </a:xfrm>
            <a:prstGeom prst="roundRect">
              <a:avLst>
                <a:gd fmla="val 10000" name="adj"/>
              </a:avLst>
            </a:prstGeom>
            <a:solidFill>
              <a:schemeClr val="accent4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0"/>
            <p:cNvSpPr txBox="1"/>
            <p:nvPr/>
          </p:nvSpPr>
          <p:spPr>
            <a:xfrm>
              <a:off x="2222281" y="0"/>
              <a:ext cx="8293318" cy="11916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None/>
              </a:pPr>
              <a:r>
                <a:rPr lang="id-ID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Mengkaji ulang khazanah fikih klasik untuk memilih pendapat yang paling kuat dan selaras dengan dinamika kehidupan umat masa kini.   </a:t>
              </a:r>
              <a:endParaRPr/>
            </a:p>
          </p:txBody>
        </p:sp>
        <p:sp>
          <p:nvSpPr>
            <p:cNvPr id="269" name="Google Shape;269;p10"/>
            <p:cNvSpPr/>
            <p:nvPr/>
          </p:nvSpPr>
          <p:spPr>
            <a:xfrm>
              <a:off x="119161" y="119161"/>
              <a:ext cx="2103120" cy="953293"/>
            </a:xfrm>
            <a:prstGeom prst="roundRect">
              <a:avLst>
                <a:gd fmla="val 10000" name="adj"/>
              </a:avLst>
            </a:prstGeom>
            <a:blipFill rotWithShape="1">
              <a:blip r:embed="rId3">
                <a:alphaModFix/>
              </a:blip>
              <a:stretch>
                <a:fillRect b="-999" l="0" r="0" t="-999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0"/>
            <p:cNvSpPr/>
            <p:nvPr/>
          </p:nvSpPr>
          <p:spPr>
            <a:xfrm>
              <a:off x="0" y="1310778"/>
              <a:ext cx="10515600" cy="1191617"/>
            </a:xfrm>
            <a:prstGeom prst="roundRect">
              <a:avLst>
                <a:gd fmla="val 10000" name="adj"/>
              </a:avLst>
            </a:prstGeom>
            <a:solidFill>
              <a:srgbClr val="2EE844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0"/>
            <p:cNvSpPr txBox="1"/>
            <p:nvPr/>
          </p:nvSpPr>
          <p:spPr>
            <a:xfrm>
              <a:off x="2222281" y="1310778"/>
              <a:ext cx="8293318" cy="11916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None/>
              </a:pPr>
              <a:r>
                <a:rPr lang="id-ID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Kembali kepada teks-teks Islam yang valid, baik al-Qur’an maupun hadis-hadis sahih, serta berusaha memahaminya dalam kerangka </a:t>
              </a:r>
              <a:r>
                <a:rPr i="1" lang="id-ID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maqashid al-shariah</a:t>
              </a:r>
              <a:r>
                <a:rPr lang="id-ID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 </a:t>
              </a:r>
              <a:endParaRPr/>
            </a:p>
          </p:txBody>
        </p:sp>
        <p:sp>
          <p:nvSpPr>
            <p:cNvPr id="272" name="Google Shape;272;p10"/>
            <p:cNvSpPr/>
            <p:nvPr/>
          </p:nvSpPr>
          <p:spPr>
            <a:xfrm>
              <a:off x="119161" y="1429940"/>
              <a:ext cx="2103120" cy="953293"/>
            </a:xfrm>
            <a:prstGeom prst="roundRect">
              <a:avLst>
                <a:gd fmla="val 10000" name="adj"/>
              </a:avLst>
            </a:prstGeom>
            <a:blipFill rotWithShape="1">
              <a:blip r:embed="rId4">
                <a:alphaModFix/>
              </a:blip>
              <a:stretch>
                <a:fillRect b="-6999" l="0" r="0" t="-6998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0"/>
            <p:cNvSpPr/>
            <p:nvPr/>
          </p:nvSpPr>
          <p:spPr>
            <a:xfrm>
              <a:off x="0" y="2621557"/>
              <a:ext cx="10515600" cy="1191617"/>
            </a:xfrm>
            <a:prstGeom prst="roundRect">
              <a:avLst>
                <a:gd fmla="val 10000" name="adj"/>
              </a:avLst>
            </a:prstGeom>
            <a:solidFill>
              <a:srgbClr val="5999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0"/>
            <p:cNvSpPr txBox="1"/>
            <p:nvPr/>
          </p:nvSpPr>
          <p:spPr>
            <a:xfrm>
              <a:off x="2222281" y="2621557"/>
              <a:ext cx="8293318" cy="11916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None/>
              </a:pPr>
              <a:r>
                <a:rPr lang="id-ID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Berijtihad dalam persoalan-persoalan baru yang tidak pernah dikaji oleh para ulama terdahulu berdasarkan dalil-dalil syar’i (</a:t>
              </a:r>
              <a:r>
                <a:rPr i="1" lang="id-ID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al-adillah al-syar’iyyah</a:t>
              </a:r>
              <a:r>
                <a:rPr lang="id-ID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). </a:t>
              </a: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>
              <a:off x="119161" y="2740719"/>
              <a:ext cx="2103120" cy="953293"/>
            </a:xfrm>
            <a:prstGeom prst="roundRect">
              <a:avLst>
                <a:gd fmla="val 10000" name="adj"/>
              </a:avLst>
            </a:prstGeom>
            <a:blipFill rotWithShape="1">
              <a:blip r:embed="rId5">
                <a:alphaModFix/>
              </a:blip>
              <a:stretch>
                <a:fillRect b="-2999" l="0" r="0" t="-2999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6" name="Google Shape;276;p10"/>
          <p:cNvSpPr txBox="1"/>
          <p:nvPr/>
        </p:nvSpPr>
        <p:spPr>
          <a:xfrm>
            <a:off x="6502400" y="5867400"/>
            <a:ext cx="4851400" cy="5232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Yusuf al-Qaradhawi, </a:t>
            </a:r>
            <a:r>
              <a:rPr i="1" lang="id-ID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Shari’at al-Islam Shalihat li-al-Tatbiq fi-Kulli Zaman wa Makan</a:t>
            </a:r>
            <a:r>
              <a:rPr lang="id-ID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(Kairo: Maktabat Wahbab, 2013)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1"/>
          <p:cNvSpPr txBox="1"/>
          <p:nvPr>
            <p:ph type="title"/>
          </p:nvPr>
        </p:nvSpPr>
        <p:spPr>
          <a:xfrm>
            <a:off x="838200" y="365126"/>
            <a:ext cx="10515600" cy="1002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/>
              <a:t>Bentuk-Bentuk Ijtihad Masa Kini</a:t>
            </a:r>
            <a:endParaRPr/>
          </a:p>
        </p:txBody>
      </p:sp>
      <p:grpSp>
        <p:nvGrpSpPr>
          <p:cNvPr id="282" name="Google Shape;282;p11"/>
          <p:cNvGrpSpPr/>
          <p:nvPr/>
        </p:nvGrpSpPr>
        <p:grpSpPr>
          <a:xfrm>
            <a:off x="838200" y="1367889"/>
            <a:ext cx="10499834" cy="4663561"/>
            <a:chOff x="0" y="0"/>
            <a:chExt cx="10499834" cy="4663561"/>
          </a:xfrm>
        </p:grpSpPr>
        <p:sp>
          <p:nvSpPr>
            <p:cNvPr id="283" name="Google Shape;283;p11"/>
            <p:cNvSpPr/>
            <p:nvPr/>
          </p:nvSpPr>
          <p:spPr>
            <a:xfrm>
              <a:off x="0" y="0"/>
              <a:ext cx="10499834" cy="1457363"/>
            </a:xfrm>
            <a:prstGeom prst="roundRect">
              <a:avLst>
                <a:gd fmla="val 10000" name="adj"/>
              </a:avLst>
            </a:prstGeom>
            <a:solidFill>
              <a:srgbClr val="92D050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1"/>
            <p:cNvSpPr txBox="1"/>
            <p:nvPr/>
          </p:nvSpPr>
          <p:spPr>
            <a:xfrm>
              <a:off x="2245703" y="0"/>
              <a:ext cx="8254130" cy="14573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None/>
              </a:pPr>
              <a:r>
                <a:rPr lang="id-ID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Legislasi undang-undang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805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b="0" i="0" lang="id-ID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Pemerintah 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b="0" i="0" lang="id-ID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Parlemen (DPR) </a:t>
              </a:r>
              <a:endParaRPr/>
            </a:p>
          </p:txBody>
        </p:sp>
        <p:sp>
          <p:nvSpPr>
            <p:cNvPr id="285" name="Google Shape;285;p11"/>
            <p:cNvSpPr/>
            <p:nvPr/>
          </p:nvSpPr>
          <p:spPr>
            <a:xfrm>
              <a:off x="145736" y="145736"/>
              <a:ext cx="2099966" cy="1165890"/>
            </a:xfrm>
            <a:prstGeom prst="roundRect">
              <a:avLst>
                <a:gd fmla="val 10000" name="adj"/>
              </a:avLst>
            </a:prstGeom>
            <a:blipFill rotWithShape="1">
              <a:blip r:embed="rId3">
                <a:alphaModFix/>
              </a:blip>
              <a:stretch>
                <a:fillRect b="-999" l="0" r="0" t="-999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1"/>
            <p:cNvSpPr/>
            <p:nvPr/>
          </p:nvSpPr>
          <p:spPr>
            <a:xfrm>
              <a:off x="0" y="1603099"/>
              <a:ext cx="10499834" cy="1457363"/>
            </a:xfrm>
            <a:prstGeom prst="roundRect">
              <a:avLst>
                <a:gd fmla="val 10000" name="adj"/>
              </a:avLst>
            </a:prstGeom>
            <a:solidFill>
              <a:srgbClr val="8DA9DB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1"/>
            <p:cNvSpPr txBox="1"/>
            <p:nvPr/>
          </p:nvSpPr>
          <p:spPr>
            <a:xfrm>
              <a:off x="2245703" y="1603099"/>
              <a:ext cx="8254130" cy="14573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None/>
              </a:pPr>
              <a:r>
                <a:rPr lang="id-ID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Pembahasan dan penerbitan Fatwa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805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b="0" i="0" lang="id-ID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Lembaga Fatwa (MUI)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b="0" i="0" lang="id-ID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Lembaga Pendidikan Tinggi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b="0" i="0" lang="id-ID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Ormas Islam (NU, Muhammadiyyah, dll.)</a:t>
              </a:r>
              <a:endParaRPr/>
            </a:p>
            <a:p>
              <a:pPr indent="-82550" lvl="1" marL="17145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11"/>
            <p:cNvSpPr/>
            <p:nvPr/>
          </p:nvSpPr>
          <p:spPr>
            <a:xfrm>
              <a:off x="145736" y="1748835"/>
              <a:ext cx="2099966" cy="1165890"/>
            </a:xfrm>
            <a:prstGeom prst="roundRect">
              <a:avLst>
                <a:gd fmla="val 10000" name="adj"/>
              </a:avLst>
            </a:prstGeom>
            <a:blipFill rotWithShape="1">
              <a:blip r:embed="rId4">
                <a:alphaModFix/>
              </a:blip>
              <a:stretch>
                <a:fillRect b="0" l="-2999" r="-2999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1"/>
            <p:cNvSpPr/>
            <p:nvPr/>
          </p:nvSpPr>
          <p:spPr>
            <a:xfrm>
              <a:off x="0" y="3206198"/>
              <a:ext cx="10499834" cy="1457363"/>
            </a:xfrm>
            <a:prstGeom prst="roundRect">
              <a:avLst>
                <a:gd fmla="val 10000" name="adj"/>
              </a:avLst>
            </a:prstGeom>
            <a:solidFill>
              <a:srgbClr val="C55A1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1"/>
            <p:cNvSpPr txBox="1"/>
            <p:nvPr/>
          </p:nvSpPr>
          <p:spPr>
            <a:xfrm>
              <a:off x="2245703" y="3206198"/>
              <a:ext cx="8254130" cy="14573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None/>
              </a:pPr>
              <a:r>
                <a:rPr lang="id-ID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Studi dan kajian ilmiah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805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b="0" i="0" lang="id-ID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Buku Ilmiah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b="0" i="0" lang="id-ID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Karya akademik (tesis atau disertasi)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b="0" i="0" lang="id-ID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Makalah/ artikel ilmiah </a:t>
              </a:r>
              <a:endParaRPr/>
            </a:p>
          </p:txBody>
        </p:sp>
        <p:sp>
          <p:nvSpPr>
            <p:cNvPr id="291" name="Google Shape;291;p11"/>
            <p:cNvSpPr/>
            <p:nvPr/>
          </p:nvSpPr>
          <p:spPr>
            <a:xfrm>
              <a:off x="145736" y="3351935"/>
              <a:ext cx="2099966" cy="1165890"/>
            </a:xfrm>
            <a:prstGeom prst="roundRect">
              <a:avLst>
                <a:gd fmla="val 10000" name="adj"/>
              </a:avLst>
            </a:prstGeom>
            <a:blipFill rotWithShape="1">
              <a:blip r:embed="rId5">
                <a:alphaModFix/>
              </a:blip>
              <a:stretch>
                <a:fillRect b="0" l="-2999" r="-2999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2" name="Google Shape;292;p11"/>
          <p:cNvSpPr txBox="1"/>
          <p:nvPr/>
        </p:nvSpPr>
        <p:spPr>
          <a:xfrm>
            <a:off x="4952999" y="6231265"/>
            <a:ext cx="6385035" cy="30777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Yusuf al-Qaradhawi, </a:t>
            </a:r>
            <a:r>
              <a:rPr i="1" lang="id-ID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al-Ijtihad fi-al-Shari’ah al-Islamiyyah</a:t>
            </a:r>
            <a:r>
              <a:rPr lang="id-ID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(Kairo: Dar al-Qalam, 1996).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2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person, table, pizza&#10;&#10;Description automatically generated" id="299" name="Google Shape;299;p12"/>
          <p:cNvPicPr preferRelativeResize="0"/>
          <p:nvPr/>
        </p:nvPicPr>
        <p:blipFill rotWithShape="1">
          <a:blip r:embed="rId3">
            <a:alphaModFix/>
          </a:blip>
          <a:srcRect b="0" l="3857" r="22118" t="0"/>
          <a:stretch/>
        </p:blipFill>
        <p:spPr>
          <a:xfrm>
            <a:off x="1" y="10"/>
            <a:ext cx="966964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2"/>
          <p:cNvSpPr/>
          <p:nvPr/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7647"/>
                </a:srgbClr>
              </a:gs>
              <a:gs pos="35000">
                <a:srgbClr val="FFFFFF">
                  <a:alpha val="76862"/>
                </a:srgbClr>
              </a:gs>
              <a:gs pos="48000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 txBox="1"/>
          <p:nvPr>
            <p:ph type="title"/>
          </p:nvPr>
        </p:nvSpPr>
        <p:spPr>
          <a:xfrm>
            <a:off x="7238999" y="438753"/>
            <a:ext cx="4571999" cy="2225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/>
              <a:t>Mengapa Terdapat Banyak </a:t>
            </a:r>
            <a:r>
              <a:rPr b="1" lang="id-ID">
                <a:solidFill>
                  <a:srgbClr val="00B050"/>
                </a:solidFill>
              </a:rPr>
              <a:t>Madhhab</a:t>
            </a:r>
            <a:r>
              <a:rPr b="1" lang="id-ID"/>
              <a:t>?</a:t>
            </a:r>
            <a:endParaRPr/>
          </a:p>
        </p:txBody>
      </p:sp>
      <p:sp>
        <p:nvSpPr>
          <p:cNvPr id="302" name="Google Shape;302;p12"/>
          <p:cNvSpPr txBox="1"/>
          <p:nvPr>
            <p:ph idx="1" type="body"/>
          </p:nvPr>
        </p:nvSpPr>
        <p:spPr>
          <a:xfrm>
            <a:off x="7315200" y="3124200"/>
            <a:ext cx="4419599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i="1" lang="id-ID" sz="2500"/>
              <a:t>“Kesepakatan generasi salaf adalah pegangan yang kuat, sedangkan perbedaan mereka merupakan rahmat yang luas.”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id-ID" sz="2500"/>
              <a:t>(al-Imam Ibn Qudamah) </a:t>
            </a:r>
            <a:endParaRPr sz="2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3"/>
          <p:cNvSpPr txBox="1"/>
          <p:nvPr>
            <p:ph type="title"/>
          </p:nvPr>
        </p:nvSpPr>
        <p:spPr>
          <a:xfrm>
            <a:off x="838200" y="365125"/>
            <a:ext cx="10515600" cy="7699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/>
              <a:t>Faktor-Faktor Perbedaan Pendapat</a:t>
            </a:r>
            <a:endParaRPr/>
          </a:p>
        </p:txBody>
      </p:sp>
      <p:grpSp>
        <p:nvGrpSpPr>
          <p:cNvPr id="308" name="Google Shape;308;p13"/>
          <p:cNvGrpSpPr/>
          <p:nvPr/>
        </p:nvGrpSpPr>
        <p:grpSpPr>
          <a:xfrm>
            <a:off x="859879" y="1418862"/>
            <a:ext cx="10509027" cy="3965126"/>
            <a:chOff x="3286" y="362571"/>
            <a:chExt cx="10509027" cy="3965126"/>
          </a:xfrm>
        </p:grpSpPr>
        <p:sp>
          <p:nvSpPr>
            <p:cNvPr id="309" name="Google Shape;309;p13"/>
            <p:cNvSpPr/>
            <p:nvPr/>
          </p:nvSpPr>
          <p:spPr>
            <a:xfrm>
              <a:off x="3286" y="362571"/>
              <a:ext cx="3203971" cy="852295"/>
            </a:xfrm>
            <a:prstGeom prst="rect">
              <a:avLst/>
            </a:prstGeom>
            <a:solidFill>
              <a:srgbClr val="7030A0"/>
            </a:solidFill>
            <a:ln cap="flat" cmpd="sng" w="127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3"/>
            <p:cNvSpPr txBox="1"/>
            <p:nvPr/>
          </p:nvSpPr>
          <p:spPr>
            <a:xfrm>
              <a:off x="3286" y="362571"/>
              <a:ext cx="3203971" cy="8522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3450" lIns="163575" spcFirstLastPara="1" rIns="163575" wrap="square" tIns="934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None/>
              </a:pPr>
              <a:r>
                <a:rPr lang="id-ID" sz="2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1. Faktor Periwayatan Hadis</a:t>
              </a:r>
              <a:endParaRPr/>
            </a:p>
          </p:txBody>
        </p:sp>
        <p:sp>
          <p:nvSpPr>
            <p:cNvPr id="311" name="Google Shape;311;p13"/>
            <p:cNvSpPr/>
            <p:nvPr/>
          </p:nvSpPr>
          <p:spPr>
            <a:xfrm>
              <a:off x="3286" y="1214867"/>
              <a:ext cx="3203971" cy="3112830"/>
            </a:xfrm>
            <a:prstGeom prst="rect">
              <a:avLst/>
            </a:prstGeom>
            <a:solidFill>
              <a:srgbClr val="FFE8CA">
                <a:alpha val="89803"/>
              </a:srgbClr>
            </a:solidFill>
            <a:ln cap="flat" cmpd="sng" w="12700">
              <a:solidFill>
                <a:srgbClr val="FFE8CA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3"/>
            <p:cNvSpPr txBox="1"/>
            <p:nvPr/>
          </p:nvSpPr>
          <p:spPr>
            <a:xfrm>
              <a:off x="3286" y="1214867"/>
              <a:ext cx="3203971" cy="31128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4000" lIns="96000" spcFirstLastPara="1" rIns="128000" wrap="square" tIns="9600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b="0" i="0" lang="id-ID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Sampai atau tidaknya suatu hadis kepada seorang mujtahid 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b="0" i="0" lang="id-ID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Valid atau tidaknya suatu hadis menurut seorang mujtahid 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b="0" i="0" lang="id-ID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Faktor-faktor ‘luar teks’ yang mengakibatkan perbedaan dalam memahami suatu hadis (</a:t>
              </a:r>
              <a:r>
                <a:rPr b="0" i="1" lang="id-ID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asbab al-wurud, nasikh-mansukh, umum-khusus</a:t>
              </a:r>
              <a:r>
                <a:rPr b="0" i="0" lang="id-ID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dll.) </a:t>
              </a:r>
              <a:endParaRPr/>
            </a:p>
          </p:txBody>
        </p:sp>
        <p:sp>
          <p:nvSpPr>
            <p:cNvPr id="313" name="Google Shape;313;p13"/>
            <p:cNvSpPr/>
            <p:nvPr/>
          </p:nvSpPr>
          <p:spPr>
            <a:xfrm>
              <a:off x="3655814" y="362571"/>
              <a:ext cx="3203971" cy="852295"/>
            </a:xfrm>
            <a:prstGeom prst="rect">
              <a:avLst/>
            </a:prstGeom>
            <a:solidFill>
              <a:srgbClr val="00B050"/>
            </a:solidFill>
            <a:ln cap="flat" cmpd="sng" w="12700">
              <a:solidFill>
                <a:srgbClr val="2EE84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3"/>
            <p:cNvSpPr txBox="1"/>
            <p:nvPr/>
          </p:nvSpPr>
          <p:spPr>
            <a:xfrm>
              <a:off x="3655814" y="362571"/>
              <a:ext cx="3203971" cy="8522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7200" lIns="135125" spcFirstLastPara="1" rIns="135125" wrap="square" tIns="77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None/>
              </a:pPr>
              <a:r>
                <a:rPr lang="id-ID" sz="19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2. </a:t>
              </a:r>
              <a:r>
                <a:rPr lang="id-ID" sz="2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Faktor Pemahaman Teks </a:t>
              </a:r>
              <a:endParaRPr/>
            </a:p>
          </p:txBody>
        </p:sp>
        <p:sp>
          <p:nvSpPr>
            <p:cNvPr id="315" name="Google Shape;315;p13"/>
            <p:cNvSpPr/>
            <p:nvPr/>
          </p:nvSpPr>
          <p:spPr>
            <a:xfrm>
              <a:off x="3655814" y="1214867"/>
              <a:ext cx="3203971" cy="3112830"/>
            </a:xfrm>
            <a:prstGeom prst="rect">
              <a:avLst/>
            </a:prstGeom>
            <a:solidFill>
              <a:srgbClr val="CBF7CF">
                <a:alpha val="89803"/>
              </a:srgbClr>
            </a:solidFill>
            <a:ln cap="flat" cmpd="sng" w="12700">
              <a:solidFill>
                <a:srgbClr val="CBF7CF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3"/>
            <p:cNvSpPr txBox="1"/>
            <p:nvPr/>
          </p:nvSpPr>
          <p:spPr>
            <a:xfrm>
              <a:off x="3655814" y="1214867"/>
              <a:ext cx="3203971" cy="31128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4000" lIns="96000" spcFirstLastPara="1" rIns="128000" wrap="square" tIns="9600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b="0" i="0" lang="id-ID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Perbedaan metode istinbat hukum dalam merespon persoalan baru 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b="0" i="0" lang="id-ID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Perbedaan dalam memahami teks-teks yang tampak bertentangan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b="0" i="0" lang="id-ID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Perbedaan kaidah-kaidah usuliyyah </a:t>
              </a:r>
              <a:endParaRPr/>
            </a:p>
          </p:txBody>
        </p:sp>
        <p:sp>
          <p:nvSpPr>
            <p:cNvPr id="317" name="Google Shape;317;p13"/>
            <p:cNvSpPr/>
            <p:nvPr/>
          </p:nvSpPr>
          <p:spPr>
            <a:xfrm>
              <a:off x="7308342" y="362571"/>
              <a:ext cx="3203971" cy="852295"/>
            </a:xfrm>
            <a:prstGeom prst="rect">
              <a:avLst/>
            </a:prstGeom>
            <a:solidFill>
              <a:srgbClr val="C00000"/>
            </a:solidFill>
            <a:ln cap="flat" cmpd="sng" w="12700">
              <a:solidFill>
                <a:srgbClr val="5999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3"/>
            <p:cNvSpPr txBox="1"/>
            <p:nvPr/>
          </p:nvSpPr>
          <p:spPr>
            <a:xfrm>
              <a:off x="7308342" y="362571"/>
              <a:ext cx="3203971" cy="8522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3450" lIns="163575" spcFirstLastPara="1" rIns="163575" wrap="square" tIns="934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None/>
              </a:pPr>
              <a:r>
                <a:rPr lang="id-ID" sz="2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3. Faktor Pemahaman Kebahasaan</a:t>
              </a:r>
              <a:endParaRPr/>
            </a:p>
          </p:txBody>
        </p:sp>
        <p:sp>
          <p:nvSpPr>
            <p:cNvPr id="319" name="Google Shape;319;p13"/>
            <p:cNvSpPr/>
            <p:nvPr/>
          </p:nvSpPr>
          <p:spPr>
            <a:xfrm>
              <a:off x="7308342" y="1214867"/>
              <a:ext cx="3203971" cy="3112830"/>
            </a:xfrm>
            <a:prstGeom prst="rect">
              <a:avLst/>
            </a:prstGeom>
            <a:solidFill>
              <a:srgbClr val="D0DCEE">
                <a:alpha val="89803"/>
              </a:srgbClr>
            </a:solidFill>
            <a:ln cap="flat" cmpd="sng" w="12700">
              <a:solidFill>
                <a:srgbClr val="D0DCEE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3"/>
            <p:cNvSpPr txBox="1"/>
            <p:nvPr/>
          </p:nvSpPr>
          <p:spPr>
            <a:xfrm>
              <a:off x="7308342" y="1214867"/>
              <a:ext cx="3203971" cy="31128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4000" lIns="96000" spcFirstLastPara="1" rIns="128000" wrap="square" tIns="9600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b="0" i="0" lang="id-ID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Perbedaan akibat homonimitas kata (</a:t>
              </a:r>
              <a:r>
                <a:rPr b="0" i="1" lang="id-ID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musrtarak al-lafdzi</a:t>
              </a:r>
              <a:r>
                <a:rPr b="0" i="0" lang="id-ID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b="0" i="0" lang="id-ID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Pemahaman makna antara hakikat dan majaz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•"/>
              </a:pPr>
              <a:r>
                <a:rPr b="0" i="0" lang="id-ID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Keragaman penggunaan makna-makna bahasa (</a:t>
              </a:r>
              <a:r>
                <a:rPr b="0" i="1" lang="id-ID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dilalat al-alfadz</a:t>
              </a:r>
              <a:r>
                <a:rPr b="0" i="0" lang="id-ID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 </a:t>
              </a:r>
              <a:endParaRPr/>
            </a:p>
          </p:txBody>
        </p:sp>
      </p:grpSp>
      <p:sp>
        <p:nvSpPr>
          <p:cNvPr id="321" name="Google Shape;321;p13"/>
          <p:cNvSpPr txBox="1"/>
          <p:nvPr/>
        </p:nvSpPr>
        <p:spPr>
          <a:xfrm>
            <a:off x="7135368" y="5746560"/>
            <a:ext cx="4218432" cy="5232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Taha Jabir al-’Alwani, </a:t>
            </a:r>
            <a:r>
              <a:rPr i="1" lang="id-ID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Adab al-Ikhtilaf fi-al-Islam </a:t>
            </a:r>
            <a:r>
              <a:rPr lang="id-ID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(Qatar: Ri’asat al-Mahakim al-Syar’iyyah, 1405 H)</a:t>
            </a:r>
            <a:endParaRPr/>
          </a:p>
        </p:txBody>
      </p:sp>
      <p:sp>
        <p:nvSpPr>
          <p:cNvPr id="322" name="Google Shape;322;p13"/>
          <p:cNvSpPr txBox="1"/>
          <p:nvPr/>
        </p:nvSpPr>
        <p:spPr>
          <a:xfrm>
            <a:off x="856593" y="5746560"/>
            <a:ext cx="4218432" cy="5232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Al-Syaikh ‘Ali al-Khafif, </a:t>
            </a:r>
            <a:r>
              <a:rPr i="1" lang="id-ID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Asbab Ikhtilaf al-Fuqaha </a:t>
            </a:r>
            <a:r>
              <a:rPr lang="id-ID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(Kairo: Dar al-Fikr al’Arabi, t.t.)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4"/>
          <p:cNvSpPr/>
          <p:nvPr/>
        </p:nvSpPr>
        <p:spPr>
          <a:xfrm>
            <a:off x="336884" y="311449"/>
            <a:ext cx="4332307" cy="6179552"/>
          </a:xfrm>
          <a:prstGeom prst="rect">
            <a:avLst/>
          </a:prstGeom>
          <a:solidFill>
            <a:srgbClr val="404040"/>
          </a:solidFill>
          <a:ln cap="sq" cmpd="thinThick" w="12700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 txBox="1"/>
          <p:nvPr>
            <p:ph type="title"/>
          </p:nvPr>
        </p:nvSpPr>
        <p:spPr>
          <a:xfrm>
            <a:off x="742950" y="742951"/>
            <a:ext cx="3476625" cy="49625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lang="id-ID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Mana Madhhab yang Paling Benar?</a:t>
            </a:r>
            <a:endParaRPr/>
          </a:p>
        </p:txBody>
      </p:sp>
      <p:pic>
        <p:nvPicPr>
          <p:cNvPr descr="A cartoon of a person thinking&#10;&#10;Description automatically generated" id="329" name="Google Shape;329;p14"/>
          <p:cNvPicPr preferRelativeResize="0"/>
          <p:nvPr/>
        </p:nvPicPr>
        <p:blipFill rotWithShape="1">
          <a:blip r:embed="rId3">
            <a:alphaModFix/>
          </a:blip>
          <a:srcRect b="1" l="0" r="23533" t="0"/>
          <a:stretch/>
        </p:blipFill>
        <p:spPr>
          <a:xfrm>
            <a:off x="6110949" y="492573"/>
            <a:ext cx="4639290" cy="5880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5"/>
          <p:cNvSpPr txBox="1"/>
          <p:nvPr>
            <p:ph type="title"/>
          </p:nvPr>
        </p:nvSpPr>
        <p:spPr>
          <a:xfrm>
            <a:off x="729300" y="508417"/>
            <a:ext cx="5385093" cy="130570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/>
              <a:t>Kemungkinan Kebenaran Hasil Ijtihad</a:t>
            </a:r>
            <a:endParaRPr/>
          </a:p>
        </p:txBody>
      </p:sp>
      <p:sp>
        <p:nvSpPr>
          <p:cNvPr id="335" name="Google Shape;335;p15"/>
          <p:cNvSpPr txBox="1"/>
          <p:nvPr>
            <p:ph idx="1" type="body"/>
          </p:nvPr>
        </p:nvSpPr>
        <p:spPr>
          <a:xfrm>
            <a:off x="811921" y="2275370"/>
            <a:ext cx="5281451" cy="2372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id-ID" sz="2400"/>
              <a:t>Kebenaran hasil ijtihad itu bersifat </a:t>
            </a:r>
            <a:r>
              <a:rPr i="1" lang="id-ID" sz="2400"/>
              <a:t>dzanniyah</a:t>
            </a:r>
            <a:r>
              <a:rPr lang="id-ID" sz="2400"/>
              <a:t> (dugaan kuat).  Sebab itu, kita tidak dapat memastikan mana yang paling benar, karena yang dapat mengukur kebenaran hakiki hanyalah Allah </a:t>
            </a:r>
            <a:r>
              <a:rPr i="1" lang="id-ID" sz="2400"/>
              <a:t>ta’ala</a:t>
            </a:r>
            <a:r>
              <a:rPr lang="id-ID" sz="2400"/>
              <a:t>.</a:t>
            </a:r>
            <a:endParaRPr/>
          </a:p>
          <a:p>
            <a:pPr indent="-127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grpSp>
        <p:nvGrpSpPr>
          <p:cNvPr id="336" name="Google Shape;336;p15"/>
          <p:cNvGrpSpPr/>
          <p:nvPr/>
        </p:nvGrpSpPr>
        <p:grpSpPr>
          <a:xfrm>
            <a:off x="-167586" y="4843360"/>
            <a:ext cx="2137158" cy="2365398"/>
            <a:chOff x="-183916" y="4530903"/>
            <a:chExt cx="2462416" cy="2725395"/>
          </a:xfrm>
        </p:grpSpPr>
        <p:sp>
          <p:nvSpPr>
            <p:cNvPr id="337" name="Google Shape;337;p15"/>
            <p:cNvSpPr/>
            <p:nvPr/>
          </p:nvSpPr>
          <p:spPr>
            <a:xfrm rot="-199868">
              <a:off x="1073269" y="6038524"/>
              <a:ext cx="374890" cy="373361"/>
            </a:xfrm>
            <a:custGeom>
              <a:rect b="b" l="l" r="r" t="t"/>
              <a:pathLst>
                <a:path extrusionOk="0" h="4842789" w="4806392">
                  <a:moveTo>
                    <a:pt x="2649000" y="2"/>
                  </a:moveTo>
                  <a:cubicBezTo>
                    <a:pt x="3339628" y="183344"/>
                    <a:pt x="4435570" y="1271060"/>
                    <a:pt x="4735908" y="1905908"/>
                  </a:cubicBezTo>
                  <a:cubicBezTo>
                    <a:pt x="5036246" y="2540756"/>
                    <a:pt x="4316853" y="4034873"/>
                    <a:pt x="3706624" y="4493428"/>
                  </a:cubicBezTo>
                  <a:cubicBezTo>
                    <a:pt x="3096395" y="4951983"/>
                    <a:pt x="1686746" y="4906865"/>
                    <a:pt x="1074535" y="4657238"/>
                  </a:cubicBezTo>
                  <a:cubicBezTo>
                    <a:pt x="462324" y="4407611"/>
                    <a:pt x="145196" y="3624902"/>
                    <a:pt x="33359" y="2995667"/>
                  </a:cubicBezTo>
                  <a:cubicBezTo>
                    <a:pt x="-94426" y="2318585"/>
                    <a:pt x="156197" y="1305135"/>
                    <a:pt x="592137" y="805858"/>
                  </a:cubicBezTo>
                  <a:cubicBezTo>
                    <a:pt x="1028077" y="306581"/>
                    <a:pt x="1996327" y="30750"/>
                    <a:pt x="2649000" y="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15"/>
            <p:cNvSpPr/>
            <p:nvPr/>
          </p:nvSpPr>
          <p:spPr>
            <a:xfrm rot="-2670924">
              <a:off x="962723" y="6319494"/>
              <a:ext cx="1307564" cy="558574"/>
            </a:xfrm>
            <a:custGeom>
              <a:rect b="b" l="l" r="r" t="t"/>
              <a:pathLst>
                <a:path extrusionOk="0" h="558574" w="1307564">
                  <a:moveTo>
                    <a:pt x="1307564" y="360848"/>
                  </a:moveTo>
                  <a:cubicBezTo>
                    <a:pt x="1303188" y="403876"/>
                    <a:pt x="1279827" y="564823"/>
                    <a:pt x="1264610" y="558387"/>
                  </a:cubicBezTo>
                  <a:cubicBezTo>
                    <a:pt x="1237694" y="559849"/>
                    <a:pt x="802592" y="520038"/>
                    <a:pt x="496925" y="469382"/>
                  </a:cubicBezTo>
                  <a:lnTo>
                    <a:pt x="472802" y="464872"/>
                  </a:lnTo>
                  <a:lnTo>
                    <a:pt x="0" y="0"/>
                  </a:lnTo>
                  <a:lnTo>
                    <a:pt x="152076" y="41404"/>
                  </a:lnTo>
                  <a:cubicBezTo>
                    <a:pt x="614511" y="166095"/>
                    <a:pt x="1270124" y="336305"/>
                    <a:pt x="1307564" y="360848"/>
                  </a:cubicBezTo>
                  <a:close/>
                </a:path>
              </a:pathLst>
            </a:custGeom>
            <a:solidFill>
              <a:srgbClr val="FEE5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15"/>
            <p:cNvSpPr/>
            <p:nvPr/>
          </p:nvSpPr>
          <p:spPr>
            <a:xfrm rot="-2670924">
              <a:off x="962723" y="6319494"/>
              <a:ext cx="1307564" cy="558574"/>
            </a:xfrm>
            <a:custGeom>
              <a:rect b="b" l="l" r="r" t="t"/>
              <a:pathLst>
                <a:path extrusionOk="0" h="558574" w="1307564">
                  <a:moveTo>
                    <a:pt x="1307564" y="360848"/>
                  </a:moveTo>
                  <a:cubicBezTo>
                    <a:pt x="1303188" y="403876"/>
                    <a:pt x="1279827" y="564823"/>
                    <a:pt x="1264610" y="558387"/>
                  </a:cubicBezTo>
                  <a:cubicBezTo>
                    <a:pt x="1237694" y="559849"/>
                    <a:pt x="802592" y="520038"/>
                    <a:pt x="496925" y="469382"/>
                  </a:cubicBezTo>
                  <a:lnTo>
                    <a:pt x="472802" y="464872"/>
                  </a:lnTo>
                  <a:lnTo>
                    <a:pt x="0" y="0"/>
                  </a:lnTo>
                  <a:lnTo>
                    <a:pt x="152076" y="41404"/>
                  </a:lnTo>
                  <a:cubicBezTo>
                    <a:pt x="614511" y="166095"/>
                    <a:pt x="1270124" y="336305"/>
                    <a:pt x="1307564" y="360848"/>
                  </a:cubicBezTo>
                  <a:close/>
                </a:path>
              </a:pathLst>
            </a:custGeom>
            <a:solidFill>
              <a:srgbClr val="EDEDED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15"/>
            <p:cNvSpPr/>
            <p:nvPr/>
          </p:nvSpPr>
          <p:spPr>
            <a:xfrm flipH="1" rot="-5861993">
              <a:off x="-570599" y="5091873"/>
              <a:ext cx="1904974" cy="884345"/>
            </a:xfrm>
            <a:custGeom>
              <a:rect b="b" l="l" r="r" t="t"/>
              <a:pathLst>
                <a:path extrusionOk="0" h="884345" w="1904974">
                  <a:moveTo>
                    <a:pt x="0" y="421557"/>
                  </a:moveTo>
                  <a:cubicBezTo>
                    <a:pt x="3634" y="427260"/>
                    <a:pt x="235761" y="473169"/>
                    <a:pt x="416370" y="530740"/>
                  </a:cubicBezTo>
                  <a:lnTo>
                    <a:pt x="1800731" y="866036"/>
                  </a:lnTo>
                  <a:cubicBezTo>
                    <a:pt x="1847450" y="875071"/>
                    <a:pt x="1894389" y="892323"/>
                    <a:pt x="1904485" y="880134"/>
                  </a:cubicBezTo>
                  <a:cubicBezTo>
                    <a:pt x="1907165" y="859490"/>
                    <a:pt x="1898113" y="808332"/>
                    <a:pt x="1894966" y="779469"/>
                  </a:cubicBezTo>
                  <a:cubicBezTo>
                    <a:pt x="1878988" y="675447"/>
                    <a:pt x="1847255" y="520751"/>
                    <a:pt x="1761844" y="402374"/>
                  </a:cubicBezTo>
                  <a:cubicBezTo>
                    <a:pt x="1676433" y="283997"/>
                    <a:pt x="1531056" y="114087"/>
                    <a:pt x="1377785" y="3317"/>
                  </a:cubicBezTo>
                  <a:lnTo>
                    <a:pt x="1372668" y="0"/>
                  </a:lnTo>
                  <a:lnTo>
                    <a:pt x="337869" y="139908"/>
                  </a:lnTo>
                  <a:lnTo>
                    <a:pt x="188081" y="203651"/>
                  </a:lnTo>
                  <a:lnTo>
                    <a:pt x="125663" y="268413"/>
                  </a:lnTo>
                  <a:cubicBezTo>
                    <a:pt x="56438" y="343137"/>
                    <a:pt x="7361" y="404648"/>
                    <a:pt x="0" y="421557"/>
                  </a:cubicBez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5"/>
            <p:cNvSpPr/>
            <p:nvPr/>
          </p:nvSpPr>
          <p:spPr>
            <a:xfrm flipH="1" rot="-5861993">
              <a:off x="-570599" y="5091873"/>
              <a:ext cx="1904974" cy="884345"/>
            </a:xfrm>
            <a:custGeom>
              <a:rect b="b" l="l" r="r" t="t"/>
              <a:pathLst>
                <a:path extrusionOk="0" h="884345" w="1904974">
                  <a:moveTo>
                    <a:pt x="0" y="421557"/>
                  </a:moveTo>
                  <a:cubicBezTo>
                    <a:pt x="3634" y="427260"/>
                    <a:pt x="235761" y="473169"/>
                    <a:pt x="416370" y="530740"/>
                  </a:cubicBezTo>
                  <a:lnTo>
                    <a:pt x="1800731" y="866036"/>
                  </a:lnTo>
                  <a:cubicBezTo>
                    <a:pt x="1847450" y="875071"/>
                    <a:pt x="1894389" y="892323"/>
                    <a:pt x="1904485" y="880134"/>
                  </a:cubicBezTo>
                  <a:cubicBezTo>
                    <a:pt x="1907165" y="859490"/>
                    <a:pt x="1898113" y="808332"/>
                    <a:pt x="1894966" y="779469"/>
                  </a:cubicBezTo>
                  <a:cubicBezTo>
                    <a:pt x="1878988" y="675447"/>
                    <a:pt x="1847255" y="520751"/>
                    <a:pt x="1761844" y="402374"/>
                  </a:cubicBezTo>
                  <a:cubicBezTo>
                    <a:pt x="1676433" y="283997"/>
                    <a:pt x="1531056" y="114087"/>
                    <a:pt x="1377785" y="3317"/>
                  </a:cubicBezTo>
                  <a:lnTo>
                    <a:pt x="1372668" y="0"/>
                  </a:lnTo>
                  <a:lnTo>
                    <a:pt x="337869" y="139908"/>
                  </a:lnTo>
                  <a:lnTo>
                    <a:pt x="188081" y="203651"/>
                  </a:lnTo>
                  <a:lnTo>
                    <a:pt x="125663" y="268413"/>
                  </a:lnTo>
                  <a:cubicBezTo>
                    <a:pt x="56438" y="343137"/>
                    <a:pt x="7361" y="404648"/>
                    <a:pt x="0" y="421557"/>
                  </a:cubicBezTo>
                  <a:close/>
                </a:path>
              </a:pathLst>
            </a:custGeom>
            <a:solidFill>
              <a:srgbClr val="FEE599">
                <a:alpha val="3490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A green and black text&#10;&#10;Description automatically generated" id="342" name="Google Shape;34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81249" y="742890"/>
            <a:ext cx="5281451" cy="4972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6"/>
          <p:cNvSpPr txBox="1"/>
          <p:nvPr>
            <p:ph type="title"/>
          </p:nvPr>
        </p:nvSpPr>
        <p:spPr>
          <a:xfrm>
            <a:off x="849836" y="5138135"/>
            <a:ext cx="10461543" cy="1258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>
                <a:latin typeface="Calibri"/>
                <a:ea typeface="Calibri"/>
                <a:cs typeface="Calibri"/>
                <a:sym typeface="Calibri"/>
              </a:rPr>
              <a:t>Sebagai orang awam, </a:t>
            </a:r>
            <a:br>
              <a:rPr b="1" lang="id-ID">
                <a:latin typeface="Calibri"/>
                <a:ea typeface="Calibri"/>
                <a:cs typeface="Calibri"/>
                <a:sym typeface="Calibri"/>
              </a:rPr>
            </a:br>
            <a:r>
              <a:rPr b="1" lang="id-ID">
                <a:latin typeface="Calibri"/>
                <a:ea typeface="Calibri"/>
                <a:cs typeface="Calibri"/>
                <a:sym typeface="Calibri"/>
              </a:rPr>
              <a:t>apa yang harus kita lakukan?</a:t>
            </a:r>
            <a:endParaRPr/>
          </a:p>
        </p:txBody>
      </p:sp>
      <p:pic>
        <p:nvPicPr>
          <p:cNvPr descr="A group of people with speech bubbles&#10;&#10;Description automatically generated" id="348" name="Google Shape;348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9243" l="0" r="0" t="19242"/>
          <a:stretch/>
        </p:blipFill>
        <p:spPr>
          <a:xfrm>
            <a:off x="849836" y="461563"/>
            <a:ext cx="10461544" cy="4408190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7"/>
          <p:cNvSpPr txBox="1"/>
          <p:nvPr>
            <p:ph type="title"/>
          </p:nvPr>
        </p:nvSpPr>
        <p:spPr>
          <a:xfrm>
            <a:off x="838200" y="365125"/>
            <a:ext cx="10515600" cy="930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/>
              <a:t>‘Kewajiban’ Selain Mujtahid</a:t>
            </a:r>
            <a:endParaRPr/>
          </a:p>
        </p:txBody>
      </p:sp>
      <p:grpSp>
        <p:nvGrpSpPr>
          <p:cNvPr id="355" name="Google Shape;355;p17"/>
          <p:cNvGrpSpPr/>
          <p:nvPr/>
        </p:nvGrpSpPr>
        <p:grpSpPr>
          <a:xfrm>
            <a:off x="2377717" y="1471468"/>
            <a:ext cx="7436564" cy="4240256"/>
            <a:chOff x="1539517" y="3274"/>
            <a:chExt cx="7436564" cy="4240256"/>
          </a:xfrm>
        </p:grpSpPr>
        <p:sp>
          <p:nvSpPr>
            <p:cNvPr id="356" name="Google Shape;356;p17"/>
            <p:cNvSpPr/>
            <p:nvPr/>
          </p:nvSpPr>
          <p:spPr>
            <a:xfrm>
              <a:off x="5105512" y="1580229"/>
              <a:ext cx="2043119" cy="911129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71538"/>
                  </a:lnTo>
                  <a:lnTo>
                    <a:pt x="120000" y="71538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rgbClr val="599BD5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357" name="Google Shape;357;p17"/>
            <p:cNvSpPr/>
            <p:nvPr/>
          </p:nvSpPr>
          <p:spPr>
            <a:xfrm>
              <a:off x="3062393" y="1580229"/>
              <a:ext cx="2043119" cy="911129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71538"/>
                  </a:lnTo>
                  <a:lnTo>
                    <a:pt x="0" y="71538"/>
                  </a:lnTo>
                  <a:lnTo>
                    <a:pt x="0" y="120000"/>
                  </a:lnTo>
                </a:path>
              </a:pathLst>
            </a:custGeom>
            <a:noFill/>
            <a:ln cap="flat" cmpd="sng" w="12700">
              <a:solidFill>
                <a:srgbClr val="599BD5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358" name="Google Shape;358;p17"/>
            <p:cNvSpPr/>
            <p:nvPr/>
          </p:nvSpPr>
          <p:spPr>
            <a:xfrm>
              <a:off x="3582636" y="3274"/>
              <a:ext cx="3045751" cy="1576954"/>
            </a:xfrm>
            <a:prstGeom prst="rect">
              <a:avLst/>
            </a:prstGeom>
            <a:solidFill>
              <a:srgbClr val="C00000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17"/>
            <p:cNvSpPr txBox="1"/>
            <p:nvPr/>
          </p:nvSpPr>
          <p:spPr>
            <a:xfrm>
              <a:off x="3582636" y="3274"/>
              <a:ext cx="3045751" cy="1576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2525" lIns="14600" spcFirstLastPara="1" rIns="14600" wrap="square" tIns="14600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None/>
              </a:pPr>
              <a:r>
                <a:rPr lang="id-ID" sz="2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Mengikuti pendapat salah seorang mujtahid atau ulama mazhhab tertentu</a:t>
              </a:r>
              <a:endParaRPr/>
            </a:p>
          </p:txBody>
        </p:sp>
        <p:sp>
          <p:nvSpPr>
            <p:cNvPr id="360" name="Google Shape;360;p17"/>
            <p:cNvSpPr/>
            <p:nvPr/>
          </p:nvSpPr>
          <p:spPr>
            <a:xfrm>
              <a:off x="4191787" y="1229795"/>
              <a:ext cx="2741175" cy="525651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17"/>
            <p:cNvSpPr txBox="1"/>
            <p:nvPr/>
          </p:nvSpPr>
          <p:spPr>
            <a:xfrm>
              <a:off x="4191787" y="1229795"/>
              <a:ext cx="2741175" cy="5256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600" lIns="58400" spcFirstLastPara="1" rIns="58400" wrap="square" tIns="14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Calibri"/>
                <a:buNone/>
              </a:pPr>
              <a:r>
                <a:rPr i="1" lang="id-ID" sz="2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Tamadhhub</a:t>
              </a:r>
              <a:endParaRPr/>
            </a:p>
          </p:txBody>
        </p:sp>
        <p:sp>
          <p:nvSpPr>
            <p:cNvPr id="362" name="Google Shape;362;p17"/>
            <p:cNvSpPr/>
            <p:nvPr/>
          </p:nvSpPr>
          <p:spPr>
            <a:xfrm>
              <a:off x="1539517" y="2491359"/>
              <a:ext cx="3045751" cy="1576954"/>
            </a:xfrm>
            <a:prstGeom prst="rect">
              <a:avLst/>
            </a:prstGeom>
            <a:solidFill>
              <a:srgbClr val="00B050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17"/>
            <p:cNvSpPr txBox="1"/>
            <p:nvPr/>
          </p:nvSpPr>
          <p:spPr>
            <a:xfrm>
              <a:off x="1539517" y="2491359"/>
              <a:ext cx="3045751" cy="1576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2525" lIns="14600" spcFirstLastPara="1" rIns="14600" wrap="square" tIns="14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None/>
              </a:pPr>
              <a:r>
                <a:rPr lang="id-ID" sz="2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Mengikuti suatu pendapat disertai dengan mengetahui dalil dan penalaran hukumnya</a:t>
              </a:r>
              <a:endParaRPr/>
            </a:p>
          </p:txBody>
        </p:sp>
        <p:sp>
          <p:nvSpPr>
            <p:cNvPr id="364" name="Google Shape;364;p17"/>
            <p:cNvSpPr/>
            <p:nvPr/>
          </p:nvSpPr>
          <p:spPr>
            <a:xfrm>
              <a:off x="2148667" y="3717879"/>
              <a:ext cx="2741175" cy="525651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127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17"/>
            <p:cNvSpPr txBox="1"/>
            <p:nvPr/>
          </p:nvSpPr>
          <p:spPr>
            <a:xfrm>
              <a:off x="2148667" y="3717879"/>
              <a:ext cx="2741175" cy="5256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875" lIns="63500" spcFirstLastPara="1" rIns="63500" wrap="square" tIns="15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rPr i="1" lang="id-ID" sz="2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Ittiba’</a:t>
              </a:r>
              <a:endParaRPr/>
            </a:p>
          </p:txBody>
        </p:sp>
        <p:sp>
          <p:nvSpPr>
            <p:cNvPr id="366" name="Google Shape;366;p17"/>
            <p:cNvSpPr/>
            <p:nvPr/>
          </p:nvSpPr>
          <p:spPr>
            <a:xfrm>
              <a:off x="5625756" y="2491359"/>
              <a:ext cx="3045751" cy="1576954"/>
            </a:xfrm>
            <a:prstGeom prst="rect">
              <a:avLst/>
            </a:prstGeom>
            <a:solidFill>
              <a:srgbClr val="0070C0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17"/>
            <p:cNvSpPr txBox="1"/>
            <p:nvPr/>
          </p:nvSpPr>
          <p:spPr>
            <a:xfrm>
              <a:off x="5625756" y="2491359"/>
              <a:ext cx="3045751" cy="1576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2525" lIns="14600" spcFirstLastPara="1" rIns="14600" wrap="square" tIns="14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None/>
              </a:pPr>
              <a:r>
                <a:rPr lang="id-ID" sz="2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Mengikuti pendapat ulama tanpa mengetahui dalilnya</a:t>
              </a:r>
              <a:endParaRPr/>
            </a:p>
          </p:txBody>
        </p:sp>
        <p:sp>
          <p:nvSpPr>
            <p:cNvPr id="368" name="Google Shape;368;p17"/>
            <p:cNvSpPr/>
            <p:nvPr/>
          </p:nvSpPr>
          <p:spPr>
            <a:xfrm>
              <a:off x="6234906" y="3717879"/>
              <a:ext cx="2741175" cy="525651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12700">
              <a:solidFill>
                <a:srgbClr val="5999D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7"/>
            <p:cNvSpPr txBox="1"/>
            <p:nvPr/>
          </p:nvSpPr>
          <p:spPr>
            <a:xfrm>
              <a:off x="6234906" y="3717879"/>
              <a:ext cx="2741175" cy="5256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875" lIns="63500" spcFirstLastPara="1" rIns="63500" wrap="square" tIns="15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rPr i="1" lang="id-ID" sz="2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Taqlid</a:t>
              </a:r>
              <a:endParaRPr/>
            </a:p>
          </p:txBody>
        </p:sp>
      </p:grpSp>
      <p:sp>
        <p:nvSpPr>
          <p:cNvPr id="370" name="Google Shape;370;p17"/>
          <p:cNvSpPr txBox="1"/>
          <p:nvPr/>
        </p:nvSpPr>
        <p:spPr>
          <a:xfrm>
            <a:off x="838200" y="5969655"/>
            <a:ext cx="3975347" cy="5232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Muhammad Mustafa al-Zuhaili, </a:t>
            </a:r>
            <a:r>
              <a:rPr i="1" lang="id-ID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al-Wajiz fi-Usul al-Fiqh al-Islami</a:t>
            </a:r>
            <a:r>
              <a:rPr lang="id-ID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(Damaskus: Dar al-Khair, 2006)</a:t>
            </a:r>
            <a:endParaRPr/>
          </a:p>
        </p:txBody>
      </p:sp>
      <p:sp>
        <p:nvSpPr>
          <p:cNvPr id="371" name="Google Shape;371;p17"/>
          <p:cNvSpPr txBox="1"/>
          <p:nvPr/>
        </p:nvSpPr>
        <p:spPr>
          <a:xfrm>
            <a:off x="7378453" y="5969655"/>
            <a:ext cx="3975347" cy="5232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‘Ali Jum’ah, </a:t>
            </a:r>
            <a:r>
              <a:rPr i="1" lang="id-ID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al-Bayan li-Ma Yusyghil al-Adhhan, vol. 2 </a:t>
            </a:r>
            <a:r>
              <a:rPr lang="id-ID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(Kairo: Dar al-Muqatham, 2008).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8"/>
          <p:cNvSpPr txBox="1"/>
          <p:nvPr>
            <p:ph type="title"/>
          </p:nvPr>
        </p:nvSpPr>
        <p:spPr>
          <a:xfrm>
            <a:off x="868319" y="825162"/>
            <a:ext cx="4998888" cy="7990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id-ID"/>
              <a:t>Kapasitas Awam</a:t>
            </a:r>
            <a:endParaRPr/>
          </a:p>
        </p:txBody>
      </p:sp>
      <p:sp>
        <p:nvSpPr>
          <p:cNvPr id="377" name="Google Shape;377;p18"/>
          <p:cNvSpPr/>
          <p:nvPr/>
        </p:nvSpPr>
        <p:spPr>
          <a:xfrm rot="-8628479">
            <a:off x="10657075" y="182303"/>
            <a:ext cx="1414214" cy="511935"/>
          </a:xfrm>
          <a:custGeom>
            <a:rect b="b" l="l" r="r" t="t"/>
            <a:pathLst>
              <a:path extrusionOk="0" h="511935" w="1414214">
                <a:moveTo>
                  <a:pt x="1414214" y="281652"/>
                </a:moveTo>
                <a:lnTo>
                  <a:pt x="1099481" y="511935"/>
                </a:lnTo>
                <a:lnTo>
                  <a:pt x="996953" y="499092"/>
                </a:lnTo>
                <a:cubicBezTo>
                  <a:pt x="901102" y="486845"/>
                  <a:pt x="814760" y="475243"/>
                  <a:pt x="752474" y="465695"/>
                </a:cubicBezTo>
                <a:cubicBezTo>
                  <a:pt x="425047" y="415944"/>
                  <a:pt x="206254" y="352678"/>
                  <a:pt x="22399" y="308988"/>
                </a:cubicBezTo>
                <a:cubicBezTo>
                  <a:pt x="1595" y="292696"/>
                  <a:pt x="-21851" y="307630"/>
                  <a:pt x="38819" y="240901"/>
                </a:cubicBezTo>
                <a:lnTo>
                  <a:pt x="183869" y="0"/>
                </a:lnTo>
                <a:lnTo>
                  <a:pt x="371788" y="44535"/>
                </a:lnTo>
                <a:cubicBezTo>
                  <a:pt x="681468" y="117668"/>
                  <a:pt x="1029104" y="194340"/>
                  <a:pt x="1301107" y="255886"/>
                </a:cubicBezTo>
                <a:close/>
              </a:path>
            </a:pathLst>
          </a:custGeom>
          <a:solidFill>
            <a:srgbClr val="EDEDE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8" name="Google Shape;378;p18"/>
          <p:cNvGrpSpPr/>
          <p:nvPr/>
        </p:nvGrpSpPr>
        <p:grpSpPr>
          <a:xfrm>
            <a:off x="10216404" y="192009"/>
            <a:ext cx="568342" cy="589919"/>
            <a:chOff x="9523810" y="4392812"/>
            <a:chExt cx="446413" cy="448514"/>
          </a:xfrm>
        </p:grpSpPr>
        <p:sp>
          <p:nvSpPr>
            <p:cNvPr id="379" name="Google Shape;379;p18"/>
            <p:cNvSpPr/>
            <p:nvPr/>
          </p:nvSpPr>
          <p:spPr>
            <a:xfrm rot="-1121023">
              <a:off x="9571360" y="4439737"/>
              <a:ext cx="351312" cy="354664"/>
            </a:xfrm>
            <a:custGeom>
              <a:rect b="b" l="l" r="r" t="t"/>
              <a:pathLst>
                <a:path extrusionOk="0" h="5416782" w="3964997">
                  <a:moveTo>
                    <a:pt x="1967294" y="-3"/>
                  </a:moveTo>
                  <a:cubicBezTo>
                    <a:pt x="2657922" y="183339"/>
                    <a:pt x="3353760" y="861649"/>
                    <a:pt x="3668011" y="1478862"/>
                  </a:cubicBezTo>
                  <a:cubicBezTo>
                    <a:pt x="3982262" y="2096075"/>
                    <a:pt x="4052598" y="3052222"/>
                    <a:pt x="3852803" y="3703277"/>
                  </a:cubicBezTo>
                  <a:cubicBezTo>
                    <a:pt x="3653008" y="4354332"/>
                    <a:pt x="2782065" y="5270224"/>
                    <a:pt x="2469239" y="5385193"/>
                  </a:cubicBezTo>
                  <a:cubicBezTo>
                    <a:pt x="1758393" y="5606258"/>
                    <a:pt x="630952" y="4617717"/>
                    <a:pt x="258547" y="3955645"/>
                  </a:cubicBezTo>
                  <a:cubicBezTo>
                    <a:pt x="-113858" y="3293573"/>
                    <a:pt x="-49980" y="2072034"/>
                    <a:pt x="234811" y="1412759"/>
                  </a:cubicBezTo>
                  <a:cubicBezTo>
                    <a:pt x="519602" y="753484"/>
                    <a:pt x="1314621" y="30745"/>
                    <a:pt x="1967294" y="-3"/>
                  </a:cubicBezTo>
                  <a:close/>
                </a:path>
              </a:pathLst>
            </a:custGeom>
            <a:solidFill>
              <a:srgbClr val="FEE5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18"/>
            <p:cNvSpPr/>
            <p:nvPr/>
          </p:nvSpPr>
          <p:spPr>
            <a:xfrm rot="-1121023">
              <a:off x="9571360" y="4439737"/>
              <a:ext cx="351312" cy="354664"/>
            </a:xfrm>
            <a:custGeom>
              <a:rect b="b" l="l" r="r" t="t"/>
              <a:pathLst>
                <a:path extrusionOk="0" h="5416782" w="3964997">
                  <a:moveTo>
                    <a:pt x="1967294" y="-3"/>
                  </a:moveTo>
                  <a:cubicBezTo>
                    <a:pt x="2657922" y="183339"/>
                    <a:pt x="3353760" y="861649"/>
                    <a:pt x="3668011" y="1478862"/>
                  </a:cubicBezTo>
                  <a:cubicBezTo>
                    <a:pt x="3982262" y="2096075"/>
                    <a:pt x="4052598" y="3052222"/>
                    <a:pt x="3852803" y="3703277"/>
                  </a:cubicBezTo>
                  <a:cubicBezTo>
                    <a:pt x="3653008" y="4354332"/>
                    <a:pt x="2782065" y="5270224"/>
                    <a:pt x="2469239" y="5385193"/>
                  </a:cubicBezTo>
                  <a:cubicBezTo>
                    <a:pt x="1758393" y="5606258"/>
                    <a:pt x="630952" y="4617717"/>
                    <a:pt x="258547" y="3955645"/>
                  </a:cubicBezTo>
                  <a:cubicBezTo>
                    <a:pt x="-113858" y="3293573"/>
                    <a:pt x="-49980" y="2072034"/>
                    <a:pt x="234811" y="1412759"/>
                  </a:cubicBezTo>
                  <a:cubicBezTo>
                    <a:pt x="519602" y="753484"/>
                    <a:pt x="1314621" y="30745"/>
                    <a:pt x="1967294" y="-3"/>
                  </a:cubicBezTo>
                  <a:close/>
                </a:path>
              </a:pathLst>
            </a:custGeom>
            <a:solidFill>
              <a:srgbClr val="EDEDED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1" name="Google Shape;381;p18"/>
          <p:cNvSpPr txBox="1"/>
          <p:nvPr>
            <p:ph idx="1" type="body"/>
          </p:nvPr>
        </p:nvSpPr>
        <p:spPr>
          <a:xfrm>
            <a:off x="961234" y="1879465"/>
            <a:ext cx="4952052" cy="26925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id-ID" sz="2600"/>
              <a:t>العامي لا مذهب له، بل مذهبه مذهب مفتيه.</a:t>
            </a:r>
            <a:endParaRPr sz="2600"/>
          </a:p>
          <a:p>
            <a:pPr indent="-190500" lvl="0" marL="2286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</a:pPr>
            <a:r>
              <a:t/>
            </a:r>
            <a:endParaRPr i="1" sz="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i="1" lang="id-ID" sz="2400"/>
              <a:t>“Orang awam tidak memiliki madhhab, sebab madhhabnya adalah madhhab mufti (yang diikuti)-nya.”  </a:t>
            </a:r>
            <a:endParaRPr i="1"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id-ID" sz="2400"/>
              <a:t>(Al-Syekh ‘Ali Jum’ah)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i="1" sz="2400">
              <a:solidFill>
                <a:schemeClr val="dk2"/>
              </a:solidFill>
            </a:endParaRPr>
          </a:p>
          <a:p>
            <a:pPr indent="0" lvl="0" marL="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descr="A person in a green robe&#10;&#10;Description automatically generated" id="382" name="Google Shape;382;p18"/>
          <p:cNvPicPr preferRelativeResize="0"/>
          <p:nvPr/>
        </p:nvPicPr>
        <p:blipFill rotWithShape="1">
          <a:blip r:embed="rId3">
            <a:alphaModFix/>
          </a:blip>
          <a:srcRect b="-1" l="34213" r="8793" t="0"/>
          <a:stretch/>
        </p:blipFill>
        <p:spPr>
          <a:xfrm>
            <a:off x="6278715" y="825162"/>
            <a:ext cx="5397522" cy="5321279"/>
          </a:xfrm>
          <a:custGeom>
            <a:rect b="b" l="l" r="r" t="t"/>
            <a:pathLst>
              <a:path extrusionOk="0" h="5000863" w="4907989">
                <a:moveTo>
                  <a:pt x="2470191" y="1"/>
                </a:moveTo>
                <a:cubicBezTo>
                  <a:pt x="2830241" y="-195"/>
                  <a:pt x="3415742" y="46328"/>
                  <a:pt x="3765819" y="252773"/>
                </a:cubicBezTo>
                <a:cubicBezTo>
                  <a:pt x="4165907" y="488709"/>
                  <a:pt x="4458341" y="954942"/>
                  <a:pt x="4731557" y="1418236"/>
                </a:cubicBezTo>
                <a:cubicBezTo>
                  <a:pt x="4789564" y="1659858"/>
                  <a:pt x="4891070" y="1860738"/>
                  <a:pt x="4905579" y="2143103"/>
                </a:cubicBezTo>
                <a:cubicBezTo>
                  <a:pt x="4920089" y="2425468"/>
                  <a:pt x="4866326" y="2818061"/>
                  <a:pt x="4818615" y="3112430"/>
                </a:cubicBezTo>
                <a:cubicBezTo>
                  <a:pt x="4770904" y="3406800"/>
                  <a:pt x="4806203" y="3646923"/>
                  <a:pt x="4619311" y="3909319"/>
                </a:cubicBezTo>
                <a:cubicBezTo>
                  <a:pt x="4432419" y="4171716"/>
                  <a:pt x="4049620" y="4492340"/>
                  <a:pt x="3697259" y="4686813"/>
                </a:cubicBezTo>
                <a:cubicBezTo>
                  <a:pt x="3344898" y="4881286"/>
                  <a:pt x="2734541" y="4985891"/>
                  <a:pt x="2333694" y="4997577"/>
                </a:cubicBezTo>
                <a:cubicBezTo>
                  <a:pt x="1932846" y="5009263"/>
                  <a:pt x="1918305" y="5002441"/>
                  <a:pt x="1292179" y="4756925"/>
                </a:cubicBezTo>
                <a:cubicBezTo>
                  <a:pt x="666053" y="4511409"/>
                  <a:pt x="241665" y="3438040"/>
                  <a:pt x="84531" y="2817164"/>
                </a:cubicBezTo>
                <a:cubicBezTo>
                  <a:pt x="-72603" y="2196288"/>
                  <a:pt x="-25040" y="1500760"/>
                  <a:pt x="349377" y="1031668"/>
                </a:cubicBezTo>
                <a:cubicBezTo>
                  <a:pt x="723793" y="562576"/>
                  <a:pt x="1315167" y="14311"/>
                  <a:pt x="2331031" y="2616"/>
                </a:cubicBezTo>
                <a:cubicBezTo>
                  <a:pt x="2371921" y="1011"/>
                  <a:pt x="2418756" y="29"/>
                  <a:pt x="2470191" y="1"/>
                </a:cubicBezTo>
                <a:close/>
              </a:path>
            </a:pathLst>
          </a:custGeom>
          <a:noFill/>
          <a:ln>
            <a:noFill/>
          </a:ln>
        </p:spPr>
      </p:pic>
      <p:grpSp>
        <p:nvGrpSpPr>
          <p:cNvPr id="383" name="Google Shape;383;p18"/>
          <p:cNvGrpSpPr/>
          <p:nvPr/>
        </p:nvGrpSpPr>
        <p:grpSpPr>
          <a:xfrm flipH="1" rot="-1440888">
            <a:off x="5887693" y="4698769"/>
            <a:ext cx="2250149" cy="2299542"/>
            <a:chOff x="11396801" y="2934374"/>
            <a:chExt cx="2250149" cy="2299542"/>
          </a:xfrm>
        </p:grpSpPr>
        <p:sp>
          <p:nvSpPr>
            <p:cNvPr id="384" name="Google Shape;384;p18"/>
            <p:cNvSpPr/>
            <p:nvPr/>
          </p:nvSpPr>
          <p:spPr>
            <a:xfrm flipH="1" rot="2516067">
              <a:off x="11879717" y="3115440"/>
              <a:ext cx="1284318" cy="1937410"/>
            </a:xfrm>
            <a:custGeom>
              <a:rect b="b" l="l" r="r" t="t"/>
              <a:pathLst>
                <a:path extrusionOk="0" h="2991507" w="1983085">
                  <a:moveTo>
                    <a:pt x="1503751" y="708401"/>
                  </a:moveTo>
                  <a:cubicBezTo>
                    <a:pt x="1523712" y="737061"/>
                    <a:pt x="1480707" y="845173"/>
                    <a:pt x="1441158" y="919813"/>
                  </a:cubicBezTo>
                  <a:cubicBezTo>
                    <a:pt x="1395959" y="1005116"/>
                    <a:pt x="1303636" y="1124669"/>
                    <a:pt x="1219955" y="1213129"/>
                  </a:cubicBezTo>
                  <a:cubicBezTo>
                    <a:pt x="1136275" y="1301590"/>
                    <a:pt x="1042931" y="1380723"/>
                    <a:pt x="939074" y="1450576"/>
                  </a:cubicBezTo>
                  <a:cubicBezTo>
                    <a:pt x="835217" y="1520429"/>
                    <a:pt x="606345" y="1620692"/>
                    <a:pt x="596813" y="1632245"/>
                  </a:cubicBezTo>
                  <a:cubicBezTo>
                    <a:pt x="587281" y="1643798"/>
                    <a:pt x="649167" y="1649587"/>
                    <a:pt x="767161" y="1653421"/>
                  </a:cubicBezTo>
                  <a:cubicBezTo>
                    <a:pt x="885155" y="1657255"/>
                    <a:pt x="1148491" y="1639184"/>
                    <a:pt x="1304775" y="1655250"/>
                  </a:cubicBezTo>
                  <a:cubicBezTo>
                    <a:pt x="1461059" y="1671316"/>
                    <a:pt x="1595303" y="1714658"/>
                    <a:pt x="1704867" y="1749816"/>
                  </a:cubicBezTo>
                  <a:cubicBezTo>
                    <a:pt x="1814430" y="1784976"/>
                    <a:pt x="1923629" y="1833850"/>
                    <a:pt x="1962156" y="1866208"/>
                  </a:cubicBezTo>
                  <a:cubicBezTo>
                    <a:pt x="2000683" y="1898565"/>
                    <a:pt x="1982548" y="1903952"/>
                    <a:pt x="1936030" y="1943962"/>
                  </a:cubicBezTo>
                  <a:cubicBezTo>
                    <a:pt x="1889511" y="1983971"/>
                    <a:pt x="1791890" y="2062239"/>
                    <a:pt x="1683043" y="2106263"/>
                  </a:cubicBezTo>
                  <a:cubicBezTo>
                    <a:pt x="1574197" y="2150286"/>
                    <a:pt x="1402519" y="2193274"/>
                    <a:pt x="1282951" y="2208104"/>
                  </a:cubicBezTo>
                  <a:cubicBezTo>
                    <a:pt x="1163382" y="2222935"/>
                    <a:pt x="1078036" y="2215074"/>
                    <a:pt x="965636" y="2195250"/>
                  </a:cubicBezTo>
                  <a:cubicBezTo>
                    <a:pt x="853235" y="2175427"/>
                    <a:pt x="710858" y="2130115"/>
                    <a:pt x="608544" y="2089164"/>
                  </a:cubicBezTo>
                  <a:cubicBezTo>
                    <a:pt x="506230" y="2048213"/>
                    <a:pt x="368968" y="1961518"/>
                    <a:pt x="351750" y="1949541"/>
                  </a:cubicBezTo>
                  <a:cubicBezTo>
                    <a:pt x="334532" y="1937564"/>
                    <a:pt x="335386" y="1931327"/>
                    <a:pt x="342904" y="1997936"/>
                  </a:cubicBezTo>
                  <a:cubicBezTo>
                    <a:pt x="350422" y="2064545"/>
                    <a:pt x="369159" y="2221809"/>
                    <a:pt x="396860" y="2349194"/>
                  </a:cubicBezTo>
                  <a:cubicBezTo>
                    <a:pt x="424561" y="2476579"/>
                    <a:pt x="467735" y="2639985"/>
                    <a:pt x="509109" y="2762247"/>
                  </a:cubicBezTo>
                  <a:lnTo>
                    <a:pt x="553044" y="2882494"/>
                  </a:lnTo>
                  <a:cubicBezTo>
                    <a:pt x="473777" y="2939687"/>
                    <a:pt x="326860" y="2968014"/>
                    <a:pt x="250563" y="2991507"/>
                  </a:cubicBezTo>
                  <a:cubicBezTo>
                    <a:pt x="170949" y="2783480"/>
                    <a:pt x="105033" y="2580461"/>
                    <a:pt x="63306" y="2363639"/>
                  </a:cubicBezTo>
                  <a:cubicBezTo>
                    <a:pt x="21579" y="2146817"/>
                    <a:pt x="-2461" y="1929490"/>
                    <a:pt x="200" y="1690577"/>
                  </a:cubicBezTo>
                  <a:cubicBezTo>
                    <a:pt x="2859" y="1451663"/>
                    <a:pt x="68717" y="1117581"/>
                    <a:pt x="120047" y="908009"/>
                  </a:cubicBezTo>
                  <a:cubicBezTo>
                    <a:pt x="171377" y="698438"/>
                    <a:pt x="249239" y="555730"/>
                    <a:pt x="308179" y="433148"/>
                  </a:cubicBezTo>
                  <a:cubicBezTo>
                    <a:pt x="367119" y="310566"/>
                    <a:pt x="414822" y="245163"/>
                    <a:pt x="473686" y="172515"/>
                  </a:cubicBezTo>
                  <a:cubicBezTo>
                    <a:pt x="525192" y="108949"/>
                    <a:pt x="595112" y="17610"/>
                    <a:pt x="642537" y="0"/>
                  </a:cubicBezTo>
                  <a:cubicBezTo>
                    <a:pt x="709556" y="115352"/>
                    <a:pt x="737990" y="210065"/>
                    <a:pt x="761759" y="332056"/>
                  </a:cubicBezTo>
                  <a:cubicBezTo>
                    <a:pt x="780973" y="477891"/>
                    <a:pt x="781276" y="547748"/>
                    <a:pt x="754645" y="678085"/>
                  </a:cubicBezTo>
                  <a:cubicBezTo>
                    <a:pt x="727497" y="810951"/>
                    <a:pt x="606647" y="943826"/>
                    <a:pt x="577543" y="1005788"/>
                  </a:cubicBezTo>
                  <a:cubicBezTo>
                    <a:pt x="548438" y="1067749"/>
                    <a:pt x="509816" y="1081918"/>
                    <a:pt x="580017" y="1049853"/>
                  </a:cubicBezTo>
                  <a:cubicBezTo>
                    <a:pt x="650219" y="1017789"/>
                    <a:pt x="846899" y="871489"/>
                    <a:pt x="998755" y="813397"/>
                  </a:cubicBezTo>
                  <a:cubicBezTo>
                    <a:pt x="1150609" y="755308"/>
                    <a:pt x="1446228" y="697135"/>
                    <a:pt x="1491149" y="701311"/>
                  </a:cubicBezTo>
                  <a:cubicBezTo>
                    <a:pt x="1496764" y="701833"/>
                    <a:pt x="1500901" y="704307"/>
                    <a:pt x="1503751" y="708401"/>
                  </a:cubicBezTo>
                  <a:close/>
                </a:path>
              </a:pathLst>
            </a:custGeom>
            <a:solidFill>
              <a:srgbClr val="FEE5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18"/>
            <p:cNvSpPr/>
            <p:nvPr/>
          </p:nvSpPr>
          <p:spPr>
            <a:xfrm flipH="1" rot="2516067">
              <a:off x="11879717" y="3115440"/>
              <a:ext cx="1284318" cy="1937410"/>
            </a:xfrm>
            <a:custGeom>
              <a:rect b="b" l="l" r="r" t="t"/>
              <a:pathLst>
                <a:path extrusionOk="0" h="2991507" w="1983085">
                  <a:moveTo>
                    <a:pt x="1503751" y="708401"/>
                  </a:moveTo>
                  <a:cubicBezTo>
                    <a:pt x="1523712" y="737061"/>
                    <a:pt x="1480707" y="845173"/>
                    <a:pt x="1441158" y="919813"/>
                  </a:cubicBezTo>
                  <a:cubicBezTo>
                    <a:pt x="1395959" y="1005116"/>
                    <a:pt x="1303636" y="1124669"/>
                    <a:pt x="1219955" y="1213129"/>
                  </a:cubicBezTo>
                  <a:cubicBezTo>
                    <a:pt x="1136275" y="1301590"/>
                    <a:pt x="1042931" y="1380723"/>
                    <a:pt x="939074" y="1450576"/>
                  </a:cubicBezTo>
                  <a:cubicBezTo>
                    <a:pt x="835217" y="1520429"/>
                    <a:pt x="606345" y="1620692"/>
                    <a:pt x="596813" y="1632245"/>
                  </a:cubicBezTo>
                  <a:cubicBezTo>
                    <a:pt x="587281" y="1643798"/>
                    <a:pt x="649167" y="1649587"/>
                    <a:pt x="767161" y="1653421"/>
                  </a:cubicBezTo>
                  <a:cubicBezTo>
                    <a:pt x="885155" y="1657255"/>
                    <a:pt x="1148491" y="1639184"/>
                    <a:pt x="1304775" y="1655250"/>
                  </a:cubicBezTo>
                  <a:cubicBezTo>
                    <a:pt x="1461059" y="1671316"/>
                    <a:pt x="1595303" y="1714658"/>
                    <a:pt x="1704867" y="1749816"/>
                  </a:cubicBezTo>
                  <a:cubicBezTo>
                    <a:pt x="1814430" y="1784976"/>
                    <a:pt x="1923629" y="1833850"/>
                    <a:pt x="1962156" y="1866208"/>
                  </a:cubicBezTo>
                  <a:cubicBezTo>
                    <a:pt x="2000683" y="1898565"/>
                    <a:pt x="1982548" y="1903952"/>
                    <a:pt x="1936030" y="1943962"/>
                  </a:cubicBezTo>
                  <a:cubicBezTo>
                    <a:pt x="1889511" y="1983971"/>
                    <a:pt x="1791890" y="2062239"/>
                    <a:pt x="1683043" y="2106263"/>
                  </a:cubicBezTo>
                  <a:cubicBezTo>
                    <a:pt x="1574197" y="2150286"/>
                    <a:pt x="1402519" y="2193274"/>
                    <a:pt x="1282951" y="2208104"/>
                  </a:cubicBezTo>
                  <a:cubicBezTo>
                    <a:pt x="1163382" y="2222935"/>
                    <a:pt x="1078036" y="2215074"/>
                    <a:pt x="965636" y="2195250"/>
                  </a:cubicBezTo>
                  <a:cubicBezTo>
                    <a:pt x="853235" y="2175427"/>
                    <a:pt x="710858" y="2130115"/>
                    <a:pt x="608544" y="2089164"/>
                  </a:cubicBezTo>
                  <a:cubicBezTo>
                    <a:pt x="506230" y="2048213"/>
                    <a:pt x="368968" y="1961518"/>
                    <a:pt x="351750" y="1949541"/>
                  </a:cubicBezTo>
                  <a:cubicBezTo>
                    <a:pt x="334532" y="1937564"/>
                    <a:pt x="335386" y="1931327"/>
                    <a:pt x="342904" y="1997936"/>
                  </a:cubicBezTo>
                  <a:cubicBezTo>
                    <a:pt x="350422" y="2064545"/>
                    <a:pt x="369159" y="2221809"/>
                    <a:pt x="396860" y="2349194"/>
                  </a:cubicBezTo>
                  <a:cubicBezTo>
                    <a:pt x="424561" y="2476579"/>
                    <a:pt x="467735" y="2639985"/>
                    <a:pt x="509109" y="2762247"/>
                  </a:cubicBezTo>
                  <a:lnTo>
                    <a:pt x="553044" y="2882494"/>
                  </a:lnTo>
                  <a:cubicBezTo>
                    <a:pt x="473777" y="2939687"/>
                    <a:pt x="326860" y="2968014"/>
                    <a:pt x="250563" y="2991507"/>
                  </a:cubicBezTo>
                  <a:cubicBezTo>
                    <a:pt x="170949" y="2783480"/>
                    <a:pt x="105033" y="2580461"/>
                    <a:pt x="63306" y="2363639"/>
                  </a:cubicBezTo>
                  <a:cubicBezTo>
                    <a:pt x="21579" y="2146817"/>
                    <a:pt x="-2461" y="1929490"/>
                    <a:pt x="200" y="1690577"/>
                  </a:cubicBezTo>
                  <a:cubicBezTo>
                    <a:pt x="2859" y="1451663"/>
                    <a:pt x="68717" y="1117581"/>
                    <a:pt x="120047" y="908009"/>
                  </a:cubicBezTo>
                  <a:cubicBezTo>
                    <a:pt x="171377" y="698438"/>
                    <a:pt x="249239" y="555730"/>
                    <a:pt x="308179" y="433148"/>
                  </a:cubicBezTo>
                  <a:cubicBezTo>
                    <a:pt x="367119" y="310566"/>
                    <a:pt x="414822" y="245163"/>
                    <a:pt x="473686" y="172515"/>
                  </a:cubicBezTo>
                  <a:cubicBezTo>
                    <a:pt x="525192" y="108949"/>
                    <a:pt x="595112" y="17610"/>
                    <a:pt x="642537" y="0"/>
                  </a:cubicBezTo>
                  <a:cubicBezTo>
                    <a:pt x="709556" y="115352"/>
                    <a:pt x="737990" y="210065"/>
                    <a:pt x="761759" y="332056"/>
                  </a:cubicBezTo>
                  <a:cubicBezTo>
                    <a:pt x="780973" y="477891"/>
                    <a:pt x="781276" y="547748"/>
                    <a:pt x="754645" y="678085"/>
                  </a:cubicBezTo>
                  <a:cubicBezTo>
                    <a:pt x="727497" y="810951"/>
                    <a:pt x="606647" y="943826"/>
                    <a:pt x="577543" y="1005788"/>
                  </a:cubicBezTo>
                  <a:cubicBezTo>
                    <a:pt x="548438" y="1067749"/>
                    <a:pt x="509816" y="1081918"/>
                    <a:pt x="580017" y="1049853"/>
                  </a:cubicBezTo>
                  <a:cubicBezTo>
                    <a:pt x="650219" y="1017789"/>
                    <a:pt x="846899" y="871489"/>
                    <a:pt x="998755" y="813397"/>
                  </a:cubicBezTo>
                  <a:cubicBezTo>
                    <a:pt x="1150609" y="755308"/>
                    <a:pt x="1446228" y="697135"/>
                    <a:pt x="1491149" y="701311"/>
                  </a:cubicBezTo>
                  <a:cubicBezTo>
                    <a:pt x="1496764" y="701833"/>
                    <a:pt x="1500901" y="704307"/>
                    <a:pt x="1503751" y="708401"/>
                  </a:cubicBezTo>
                  <a:close/>
                </a:path>
              </a:pathLst>
            </a:custGeom>
            <a:solidFill>
              <a:srgbClr val="EDEDED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6" name="Google Shape;386;p18"/>
          <p:cNvSpPr txBox="1"/>
          <p:nvPr/>
        </p:nvSpPr>
        <p:spPr>
          <a:xfrm>
            <a:off x="961234" y="4867338"/>
            <a:ext cx="3975347" cy="52322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‘Ali Jum’ah, </a:t>
            </a:r>
            <a:r>
              <a:rPr i="1" lang="id-ID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al-Bayan li-Ma Yusyghil al-Adhhan, vol. 2 </a:t>
            </a:r>
            <a:r>
              <a:rPr lang="id-ID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(Kairo: Dar al-Muqatham, 2008).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2" name="Google Shape;392;p19"/>
          <p:cNvPicPr preferRelativeResize="0"/>
          <p:nvPr/>
        </p:nvPicPr>
        <p:blipFill rotWithShape="1">
          <a:blip r:embed="rId3">
            <a:alphaModFix/>
          </a:blip>
          <a:srcRect b="0" l="9717" r="25862" t="6483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9"/>
          <p:cNvSpPr/>
          <p:nvPr/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33000">
                <a:srgbClr val="000000">
                  <a:alpha val="63921"/>
                </a:srgbClr>
              </a:gs>
              <a:gs pos="58000">
                <a:schemeClr val="dk1"/>
              </a:gs>
              <a:gs pos="100000">
                <a:schemeClr val="dk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9"/>
          <p:cNvSpPr txBox="1"/>
          <p:nvPr>
            <p:ph type="title"/>
          </p:nvPr>
        </p:nvSpPr>
        <p:spPr>
          <a:xfrm>
            <a:off x="477981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b="1" lang="id-ID" sz="4800">
                <a:solidFill>
                  <a:schemeClr val="lt1"/>
                </a:solidFill>
              </a:rPr>
              <a:t>Terima Kasih.</a:t>
            </a:r>
            <a:endParaRPr/>
          </a:p>
        </p:txBody>
      </p:sp>
      <p:sp>
        <p:nvSpPr>
          <p:cNvPr id="395" name="Google Shape;395;p19"/>
          <p:cNvSpPr/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9"/>
          <p:cNvSpPr/>
          <p:nvPr/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QW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b525e5-f3da-4501-8f1e-526b6769fc56_Enabled">
    <vt:lpwstr>true</vt:lpwstr>
  </property>
  <property fmtid="{D5CDD505-2E9C-101B-9397-08002B2CF9AE}" pid="3" name="MSIP_Label_38b525e5-f3da-4501-8f1e-526b6769fc56_SetDate">
    <vt:lpwstr>2023-09-22T16:03:25Z</vt:lpwstr>
  </property>
  <property fmtid="{D5CDD505-2E9C-101B-9397-08002B2CF9AE}" pid="4" name="MSIP_Label_38b525e5-f3da-4501-8f1e-526b6769fc56_Method">
    <vt:lpwstr>Standard</vt:lpwstr>
  </property>
  <property fmtid="{D5CDD505-2E9C-101B-9397-08002B2CF9AE}" pid="5" name="MSIP_Label_38b525e5-f3da-4501-8f1e-526b6769fc56_Name">
    <vt:lpwstr>defa4170-0d19-0005-0004-bc88714345d2</vt:lpwstr>
  </property>
  <property fmtid="{D5CDD505-2E9C-101B-9397-08002B2CF9AE}" pid="6" name="MSIP_Label_38b525e5-f3da-4501-8f1e-526b6769fc56_SiteId">
    <vt:lpwstr>db6e1183-4c65-405c-82ce-7cd53fa6e9dc</vt:lpwstr>
  </property>
  <property fmtid="{D5CDD505-2E9C-101B-9397-08002B2CF9AE}" pid="7" name="MSIP_Label_38b525e5-f3da-4501-8f1e-526b6769fc56_ActionId">
    <vt:lpwstr>54b5b4bb-59ae-4403-af6b-0dc94b66fc5d</vt:lpwstr>
  </property>
  <property fmtid="{D5CDD505-2E9C-101B-9397-08002B2CF9AE}" pid="8" name="MSIP_Label_38b525e5-f3da-4501-8f1e-526b6769fc56_ContentBits">
    <vt:lpwstr>0</vt:lpwstr>
  </property>
</Properties>
</file>