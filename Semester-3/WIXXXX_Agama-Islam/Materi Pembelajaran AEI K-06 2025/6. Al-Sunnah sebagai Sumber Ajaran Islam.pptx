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0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jukDLICU5crvyye0dtG9Ad6zfF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08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" name="Google Shape;26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" name="Google Shape;28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_ynEy-A1gv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hyperlink" Target="https://it.wikipedia.org/wiki/Sunna" TargetMode="External"/><Relationship Id="rId5" Type="http://schemas.openxmlformats.org/officeDocument/2006/relationships/hyperlink" Target="https://creativecommons.org/licenses/by-sa/3.0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Relationship Id="rId4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type="ctrTitle"/>
          </p:nvPr>
        </p:nvSpPr>
        <p:spPr>
          <a:xfrm>
            <a:off x="908454" y="1360480"/>
            <a:ext cx="4892280" cy="26781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6000"/>
              <a:buFont typeface="Calibri"/>
              <a:buNone/>
            </a:pPr>
            <a:r>
              <a:rPr b="1" lang="en-US">
                <a:solidFill>
                  <a:srgbClr val="92D050"/>
                </a:solidFill>
              </a:rPr>
              <a:t>Sunnah</a:t>
            </a:r>
            <a:br>
              <a:rPr b="1" lang="en-US" sz="4800">
                <a:solidFill>
                  <a:schemeClr val="lt1"/>
                </a:solidFill>
              </a:rPr>
            </a:br>
            <a:r>
              <a:rPr b="1" lang="en-US" sz="4800">
                <a:solidFill>
                  <a:schemeClr val="lt1"/>
                </a:solidFill>
              </a:rPr>
              <a:t>sebagai Sumber Ajaran Islam</a:t>
            </a:r>
            <a:endParaRPr/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908454" y="4343400"/>
            <a:ext cx="4605340" cy="11525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None/>
            </a:pPr>
            <a:r>
              <a:rPr lang="en-US">
                <a:solidFill>
                  <a:srgbClr val="FFC000"/>
                </a:solidFill>
              </a:rPr>
              <a:t>Tim Dosen AEI</a:t>
            </a:r>
            <a:endParaRPr/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3">
            <a:alphaModFix/>
          </a:blip>
          <a:srcRect b="0" l="3678" r="33947" t="0"/>
          <a:stretch/>
        </p:blipFill>
        <p:spPr>
          <a:xfrm>
            <a:off x="5800734" y="1057275"/>
            <a:ext cx="5917401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602461" y="1197769"/>
            <a:ext cx="10987078" cy="4462463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 rot="-5400000">
            <a:off x="800100" y="1491343"/>
            <a:ext cx="3333749" cy="3499103"/>
          </a:xfrm>
          <a:prstGeom prst="downArrow">
            <a:avLst>
              <a:gd fmla="val 100000" name="adj1"/>
              <a:gd fmla="val 15788" name="adj2"/>
            </a:avLst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>
            <p:ph type="title"/>
          </p:nvPr>
        </p:nvSpPr>
        <p:spPr>
          <a:xfrm>
            <a:off x="1028700" y="1967266"/>
            <a:ext cx="2781300" cy="25472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Muqaddimah</a:t>
            </a:r>
            <a:endParaRPr b="1" i="1"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-up of a white page&#10;&#10;Description automatically generated" id="95" name="Google Shape;95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10833" r="10832" t="0"/>
          <a:stretch/>
        </p:blipFill>
        <p:spPr>
          <a:xfrm>
            <a:off x="4777316" y="993296"/>
            <a:ext cx="6780700" cy="4869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/>
          <p:nvPr/>
        </p:nvSpPr>
        <p:spPr>
          <a:xfrm>
            <a:off x="3049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1" l="13756" r="9752" t="0"/>
          <a:stretch/>
        </p:blipFill>
        <p:spPr>
          <a:xfrm>
            <a:off x="2522356" y="10"/>
            <a:ext cx="966964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>
            <p:ph type="title"/>
          </p:nvPr>
        </p:nvSpPr>
        <p:spPr>
          <a:xfrm>
            <a:off x="838200" y="1219199"/>
            <a:ext cx="3822189" cy="1045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Apa itu Sunnah?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838200" y="2275546"/>
            <a:ext cx="3822189" cy="842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4"/>
              </a:rPr>
              <a:t>https://www.youtube.com/watch?v=_ynEy-A1gvE</a:t>
            </a:r>
            <a:r>
              <a:rPr lang="en-US" sz="2000"/>
              <a:t> 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-2" y="2074490"/>
            <a:ext cx="12192000" cy="4783510"/>
          </a:xfrm>
          <a:custGeom>
            <a:rect b="b" l="l" r="r" t="t"/>
            <a:pathLst>
              <a:path extrusionOk="0" h="4783510" w="12192000">
                <a:moveTo>
                  <a:pt x="54039" y="133"/>
                </a:moveTo>
                <a:cubicBezTo>
                  <a:pt x="63704" y="2639"/>
                  <a:pt x="62723" y="39358"/>
                  <a:pt x="83989" y="21326"/>
                </a:cubicBezTo>
                <a:cubicBezTo>
                  <a:pt x="105981" y="-11024"/>
                  <a:pt x="111081" y="45279"/>
                  <a:pt x="127696" y="48217"/>
                </a:cubicBezTo>
                <a:cubicBezTo>
                  <a:pt x="144311" y="51155"/>
                  <a:pt x="175067" y="46490"/>
                  <a:pt x="195328" y="60745"/>
                </a:cubicBezTo>
                <a:cubicBezTo>
                  <a:pt x="202114" y="49815"/>
                  <a:pt x="211298" y="72404"/>
                  <a:pt x="217130" y="52754"/>
                </a:cubicBezTo>
                <a:cubicBezTo>
                  <a:pt x="224172" y="55476"/>
                  <a:pt x="227826" y="61398"/>
                  <a:pt x="232932" y="50560"/>
                </a:cubicBezTo>
                <a:cubicBezTo>
                  <a:pt x="248268" y="92855"/>
                  <a:pt x="280981" y="52963"/>
                  <a:pt x="296960" y="85674"/>
                </a:cubicBezTo>
                <a:cubicBezTo>
                  <a:pt x="299830" y="67582"/>
                  <a:pt x="319291" y="68613"/>
                  <a:pt x="329442" y="61820"/>
                </a:cubicBezTo>
                <a:cubicBezTo>
                  <a:pt x="298380" y="131083"/>
                  <a:pt x="368905" y="57302"/>
                  <a:pt x="386012" y="80741"/>
                </a:cubicBezTo>
                <a:cubicBezTo>
                  <a:pt x="377510" y="29578"/>
                  <a:pt x="414386" y="72354"/>
                  <a:pt x="425496" y="47729"/>
                </a:cubicBezTo>
                <a:cubicBezTo>
                  <a:pt x="437040" y="71659"/>
                  <a:pt x="445854" y="45812"/>
                  <a:pt x="459561" y="55824"/>
                </a:cubicBezTo>
                <a:cubicBezTo>
                  <a:pt x="489863" y="61969"/>
                  <a:pt x="520202" y="89712"/>
                  <a:pt x="559233" y="72799"/>
                </a:cubicBezTo>
                <a:cubicBezTo>
                  <a:pt x="577813" y="147164"/>
                  <a:pt x="623281" y="104139"/>
                  <a:pt x="661345" y="147481"/>
                </a:cubicBezTo>
                <a:cubicBezTo>
                  <a:pt x="683250" y="156781"/>
                  <a:pt x="717059" y="121215"/>
                  <a:pt x="725095" y="161274"/>
                </a:cubicBezTo>
                <a:cubicBezTo>
                  <a:pt x="734778" y="137222"/>
                  <a:pt x="744590" y="176885"/>
                  <a:pt x="755536" y="180724"/>
                </a:cubicBezTo>
                <a:cubicBezTo>
                  <a:pt x="764056" y="165505"/>
                  <a:pt x="768536" y="179043"/>
                  <a:pt x="776480" y="182273"/>
                </a:cubicBezTo>
                <a:cubicBezTo>
                  <a:pt x="779946" y="172829"/>
                  <a:pt x="786646" y="173541"/>
                  <a:pt x="789058" y="184824"/>
                </a:cubicBezTo>
                <a:cubicBezTo>
                  <a:pt x="786138" y="210571"/>
                  <a:pt x="809228" y="198414"/>
                  <a:pt x="811171" y="216295"/>
                </a:cubicBezTo>
                <a:cubicBezTo>
                  <a:pt x="821323" y="219407"/>
                  <a:pt x="856662" y="208499"/>
                  <a:pt x="878029" y="215023"/>
                </a:cubicBezTo>
                <a:lnTo>
                  <a:pt x="884769" y="220986"/>
                </a:lnTo>
                <a:lnTo>
                  <a:pt x="1600387" y="354356"/>
                </a:lnTo>
                <a:lnTo>
                  <a:pt x="9012952" y="1139547"/>
                </a:lnTo>
                <a:lnTo>
                  <a:pt x="11269135" y="1154978"/>
                </a:lnTo>
                <a:lnTo>
                  <a:pt x="11276593" y="1158504"/>
                </a:lnTo>
                <a:cubicBezTo>
                  <a:pt x="11284278" y="1160597"/>
                  <a:pt x="11291853" y="1160653"/>
                  <a:pt x="11298713" y="1157049"/>
                </a:cubicBezTo>
                <a:cubicBezTo>
                  <a:pt x="11308980" y="1128196"/>
                  <a:pt x="11367293" y="1148970"/>
                  <a:pt x="11380829" y="1144822"/>
                </a:cubicBezTo>
                <a:cubicBezTo>
                  <a:pt x="11382772" y="1126940"/>
                  <a:pt x="11405862" y="1139097"/>
                  <a:pt x="11402942" y="1113350"/>
                </a:cubicBezTo>
                <a:cubicBezTo>
                  <a:pt x="11405355" y="1102067"/>
                  <a:pt x="11412054" y="1101355"/>
                  <a:pt x="11415520" y="1110800"/>
                </a:cubicBezTo>
                <a:cubicBezTo>
                  <a:pt x="11423464" y="1107569"/>
                  <a:pt x="11427945" y="1094031"/>
                  <a:pt x="11436464" y="1109251"/>
                </a:cubicBezTo>
                <a:cubicBezTo>
                  <a:pt x="11447410" y="1105411"/>
                  <a:pt x="11457222" y="1065748"/>
                  <a:pt x="11466905" y="1089800"/>
                </a:cubicBezTo>
                <a:cubicBezTo>
                  <a:pt x="11474941" y="1049741"/>
                  <a:pt x="11508751" y="1085307"/>
                  <a:pt x="11530655" y="1076007"/>
                </a:cubicBezTo>
                <a:cubicBezTo>
                  <a:pt x="11568719" y="1032666"/>
                  <a:pt x="11614187" y="1075691"/>
                  <a:pt x="11632767" y="1001326"/>
                </a:cubicBezTo>
                <a:cubicBezTo>
                  <a:pt x="11671799" y="1018238"/>
                  <a:pt x="11678297" y="1004118"/>
                  <a:pt x="11708599" y="997972"/>
                </a:cubicBezTo>
                <a:cubicBezTo>
                  <a:pt x="11722307" y="987960"/>
                  <a:pt x="11754960" y="1000186"/>
                  <a:pt x="11766504" y="976255"/>
                </a:cubicBezTo>
                <a:cubicBezTo>
                  <a:pt x="11775270" y="975867"/>
                  <a:pt x="11771643" y="982199"/>
                  <a:pt x="11781629" y="985430"/>
                </a:cubicBezTo>
                <a:cubicBezTo>
                  <a:pt x="11791615" y="988661"/>
                  <a:pt x="11808655" y="993119"/>
                  <a:pt x="11826422" y="995644"/>
                </a:cubicBezTo>
                <a:cubicBezTo>
                  <a:pt x="11847845" y="1001968"/>
                  <a:pt x="11866122" y="1002202"/>
                  <a:pt x="11891635" y="997172"/>
                </a:cubicBezTo>
                <a:cubicBezTo>
                  <a:pt x="11907614" y="964462"/>
                  <a:pt x="11943732" y="1021381"/>
                  <a:pt x="11959068" y="979087"/>
                </a:cubicBezTo>
                <a:cubicBezTo>
                  <a:pt x="11964175" y="989925"/>
                  <a:pt x="11967829" y="984002"/>
                  <a:pt x="11974871" y="981280"/>
                </a:cubicBezTo>
                <a:cubicBezTo>
                  <a:pt x="11980703" y="1000930"/>
                  <a:pt x="11989887" y="978341"/>
                  <a:pt x="11996673" y="989271"/>
                </a:cubicBezTo>
                <a:cubicBezTo>
                  <a:pt x="12016933" y="975016"/>
                  <a:pt x="12047689" y="979681"/>
                  <a:pt x="12064304" y="976743"/>
                </a:cubicBezTo>
                <a:cubicBezTo>
                  <a:pt x="12080919" y="973805"/>
                  <a:pt x="12075802" y="961775"/>
                  <a:pt x="12108011" y="949852"/>
                </a:cubicBezTo>
                <a:cubicBezTo>
                  <a:pt x="12129277" y="967884"/>
                  <a:pt x="12128297" y="931165"/>
                  <a:pt x="12137961" y="928659"/>
                </a:cubicBezTo>
                <a:cubicBezTo>
                  <a:pt x="12141183" y="927823"/>
                  <a:pt x="12145587" y="930789"/>
                  <a:pt x="12152392" y="940852"/>
                </a:cubicBezTo>
                <a:cubicBezTo>
                  <a:pt x="12158285" y="946241"/>
                  <a:pt x="12172554" y="936871"/>
                  <a:pt x="12187275" y="939175"/>
                </a:cubicBezTo>
                <a:lnTo>
                  <a:pt x="12192000" y="932202"/>
                </a:lnTo>
                <a:lnTo>
                  <a:pt x="12192000" y="1423622"/>
                </a:lnTo>
                <a:lnTo>
                  <a:pt x="12192000" y="2783600"/>
                </a:lnTo>
                <a:lnTo>
                  <a:pt x="12192000" y="4783510"/>
                </a:lnTo>
                <a:lnTo>
                  <a:pt x="2" y="4783510"/>
                </a:lnTo>
                <a:lnTo>
                  <a:pt x="2" y="1855074"/>
                </a:lnTo>
                <a:lnTo>
                  <a:pt x="0" y="1855074"/>
                </a:lnTo>
                <a:lnTo>
                  <a:pt x="0" y="3676"/>
                </a:lnTo>
                <a:lnTo>
                  <a:pt x="4725" y="10649"/>
                </a:lnTo>
                <a:cubicBezTo>
                  <a:pt x="19446" y="8345"/>
                  <a:pt x="33716" y="17715"/>
                  <a:pt x="39608" y="12325"/>
                </a:cubicBezTo>
                <a:cubicBezTo>
                  <a:pt x="46413" y="2263"/>
                  <a:pt x="50817" y="-703"/>
                  <a:pt x="54039" y="133"/>
                </a:cubicBez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064799" y="393769"/>
            <a:ext cx="1707751" cy="428984"/>
          </a:xfrm>
          <a:custGeom>
            <a:rect b="b" l="l" r="r" t="t"/>
            <a:pathLst>
              <a:path extrusionOk="0" h="594531" w="2201784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Makna al-Sunnah</a:t>
            </a:r>
            <a:endParaRPr b="1"/>
          </a:p>
        </p:txBody>
      </p:sp>
      <p:grpSp>
        <p:nvGrpSpPr>
          <p:cNvPr id="113" name="Google Shape;113;p4"/>
          <p:cNvGrpSpPr/>
          <p:nvPr/>
        </p:nvGrpSpPr>
        <p:grpSpPr>
          <a:xfrm>
            <a:off x="2057400" y="1685966"/>
            <a:ext cx="8077200" cy="3928026"/>
            <a:chOff x="0" y="238166"/>
            <a:chExt cx="8077200" cy="3928026"/>
          </a:xfrm>
        </p:grpSpPr>
        <p:sp>
          <p:nvSpPr>
            <p:cNvPr id="114" name="Google Shape;114;p4"/>
            <p:cNvSpPr/>
            <p:nvPr/>
          </p:nvSpPr>
          <p:spPr>
            <a:xfrm>
              <a:off x="0" y="238166"/>
              <a:ext cx="8077200" cy="1176443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0070C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4"/>
            <p:cNvSpPr txBox="1"/>
            <p:nvPr/>
          </p:nvSpPr>
          <p:spPr>
            <a:xfrm>
              <a:off x="0" y="532277"/>
              <a:ext cx="7783089" cy="588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750" lIns="83800" spcFirstLastPara="1" rIns="2540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Secara Bahasa</a:t>
              </a:r>
              <a:endParaRPr b="0" i="0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0" y="1148290"/>
              <a:ext cx="3731666" cy="262588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4"/>
            <p:cNvSpPr txBox="1"/>
            <p:nvPr/>
          </p:nvSpPr>
          <p:spPr>
            <a:xfrm>
              <a:off x="0" y="1148290"/>
              <a:ext cx="3731666" cy="2625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Jalan, arus, dan kebiasaan. 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3731666" y="630183"/>
              <a:ext cx="4345533" cy="1176443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54813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4"/>
            <p:cNvSpPr txBox="1"/>
            <p:nvPr/>
          </p:nvSpPr>
          <p:spPr>
            <a:xfrm>
              <a:off x="3731666" y="924294"/>
              <a:ext cx="4051422" cy="588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750" lIns="83800" spcFirstLastPara="1" rIns="2540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Secara istilah</a:t>
              </a:r>
              <a:endParaRPr b="0" i="0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3731666" y="1540307"/>
              <a:ext cx="3731666" cy="262588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6FAB4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4"/>
            <p:cNvSpPr txBox="1"/>
            <p:nvPr/>
          </p:nvSpPr>
          <p:spPr>
            <a:xfrm>
              <a:off x="3731666" y="1540307"/>
              <a:ext cx="3731666" cy="2625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Setiap hal yang dinisbatkan kepada Nabi Muhammad, baik berupa perkataan, perbuatan, atau persetujuannya.  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9144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Macam-macam Sunnah</a:t>
            </a:r>
            <a:endParaRPr/>
          </a:p>
        </p:txBody>
      </p:sp>
      <p:grpSp>
        <p:nvGrpSpPr>
          <p:cNvPr id="127" name="Google Shape;127;p5"/>
          <p:cNvGrpSpPr/>
          <p:nvPr/>
        </p:nvGrpSpPr>
        <p:grpSpPr>
          <a:xfrm>
            <a:off x="917614" y="1686817"/>
            <a:ext cx="10280571" cy="3184819"/>
            <a:chOff x="3214" y="5162"/>
            <a:chExt cx="10280571" cy="3184819"/>
          </a:xfrm>
        </p:grpSpPr>
        <p:sp>
          <p:nvSpPr>
            <p:cNvPr id="128" name="Google Shape;128;p5"/>
            <p:cNvSpPr/>
            <p:nvPr/>
          </p:nvSpPr>
          <p:spPr>
            <a:xfrm>
              <a:off x="3214" y="5162"/>
              <a:ext cx="3134320" cy="985906"/>
            </a:xfrm>
            <a:prstGeom prst="rect">
              <a:avLst/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5"/>
            <p:cNvSpPr txBox="1"/>
            <p:nvPr/>
          </p:nvSpPr>
          <p:spPr>
            <a:xfrm>
              <a:off x="3214" y="5162"/>
              <a:ext cx="3134320" cy="985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9725" lIns="192000" spcFirstLastPara="1" rIns="192000" wrap="square" tIns="1097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None/>
              </a:pPr>
              <a:r>
                <a:rPr b="1" i="0" lang="en-US" sz="2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Sunnah Qauliyyah</a:t>
              </a:r>
              <a:endParaRPr/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3214" y="991068"/>
              <a:ext cx="3134320" cy="2198913"/>
            </a:xfrm>
            <a:prstGeom prst="rect">
              <a:avLst/>
            </a:prstGeom>
            <a:solidFill>
              <a:srgbClr val="FFE8CA">
                <a:alpha val="89803"/>
              </a:srgbClr>
            </a:solidFill>
            <a:ln cap="flat" cmpd="sng" w="12700">
              <a:solidFill>
                <a:srgbClr val="FFE8CA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5"/>
            <p:cNvSpPr txBox="1"/>
            <p:nvPr/>
          </p:nvSpPr>
          <p:spPr>
            <a:xfrm>
              <a:off x="3214" y="991068"/>
              <a:ext cx="3134320" cy="2198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6000" lIns="117325" spcFirstLastPara="1" rIns="156450" wrap="square" tIns="1173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Char char="•"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Sunnah dalam bentuk perkataan atau ucapan Rasulullah. </a:t>
              </a:r>
              <a:endParaRPr/>
            </a:p>
            <a:p>
              <a:pPr indent="-57150" lvl="1" marL="171450" marR="0" rtl="0" algn="l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3576339" y="5162"/>
              <a:ext cx="3134320" cy="985906"/>
            </a:xfrm>
            <a:prstGeom prst="rect">
              <a:avLst/>
            </a:prstGeom>
            <a:solidFill>
              <a:srgbClr val="2EE844"/>
            </a:solidFill>
            <a:ln cap="flat" cmpd="sng" w="12700">
              <a:solidFill>
                <a:srgbClr val="2EE84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5"/>
            <p:cNvSpPr txBox="1"/>
            <p:nvPr/>
          </p:nvSpPr>
          <p:spPr>
            <a:xfrm>
              <a:off x="3576339" y="5162"/>
              <a:ext cx="3134320" cy="985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9725" lIns="192000" spcFirstLastPara="1" rIns="192000" wrap="square" tIns="1097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None/>
              </a:pPr>
              <a:r>
                <a:rPr b="1" i="0" lang="en-US" sz="2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Sunnah Fi’liyyah</a:t>
              </a:r>
              <a:endPara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3576339" y="991068"/>
              <a:ext cx="3134320" cy="2198913"/>
            </a:xfrm>
            <a:prstGeom prst="rect">
              <a:avLst/>
            </a:prstGeom>
            <a:solidFill>
              <a:srgbClr val="CBF7CF">
                <a:alpha val="89803"/>
              </a:srgbClr>
            </a:solidFill>
            <a:ln cap="flat" cmpd="sng" w="12700">
              <a:solidFill>
                <a:srgbClr val="CBF7C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5"/>
            <p:cNvSpPr txBox="1"/>
            <p:nvPr/>
          </p:nvSpPr>
          <p:spPr>
            <a:xfrm>
              <a:off x="3576339" y="991068"/>
              <a:ext cx="3134320" cy="2198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6000" lIns="117325" spcFirstLastPara="1" rIns="156450" wrap="square" tIns="1173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Char char="•"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Sunnah yang menjelaskan perbuatan dan aktifitas Nabi  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57150" lvl="1" marL="171450" marR="0" rtl="0" algn="l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7149465" y="5162"/>
              <a:ext cx="3134320" cy="985906"/>
            </a:xfrm>
            <a:prstGeom prst="rect">
              <a:avLst/>
            </a:prstGeom>
            <a:solidFill>
              <a:srgbClr val="5999D5"/>
            </a:solidFill>
            <a:ln cap="flat" cmpd="sng" w="12700">
              <a:solidFill>
                <a:srgbClr val="5999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5"/>
            <p:cNvSpPr txBox="1"/>
            <p:nvPr/>
          </p:nvSpPr>
          <p:spPr>
            <a:xfrm>
              <a:off x="7149465" y="5162"/>
              <a:ext cx="3134320" cy="985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9725" lIns="192000" spcFirstLastPara="1" rIns="192000" wrap="square" tIns="1097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None/>
              </a:pPr>
              <a:r>
                <a:rPr b="1" i="0" lang="en-US" sz="2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Sunnah Taqririyyah</a:t>
              </a:r>
              <a:r>
                <a:rPr b="0" i="0" lang="en-US" sz="2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 </a:t>
              </a:r>
              <a:endPara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7149465" y="991068"/>
              <a:ext cx="3134320" cy="2198913"/>
            </a:xfrm>
            <a:prstGeom prst="rect">
              <a:avLst/>
            </a:prstGeom>
            <a:solidFill>
              <a:srgbClr val="D0DCEE">
                <a:alpha val="89803"/>
              </a:srgbClr>
            </a:solidFill>
            <a:ln cap="flat" cmpd="sng" w="12700">
              <a:solidFill>
                <a:srgbClr val="D0DCE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5"/>
            <p:cNvSpPr txBox="1"/>
            <p:nvPr/>
          </p:nvSpPr>
          <p:spPr>
            <a:xfrm>
              <a:off x="7149465" y="991068"/>
              <a:ext cx="3134320" cy="2198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6000" lIns="117325" spcFirstLastPara="1" rIns="156450" wrap="square" tIns="1173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Char char="•"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Persetujuan Nabi terhadp perkataan atau perbuatan sahabat, tidak ditegur atau dilarangnya. </a:t>
              </a:r>
              <a:endParaRPr/>
            </a:p>
            <a:p>
              <a:pPr indent="-88900" lvl="1" marL="228600" marR="0" rtl="0" algn="l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t/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 txBox="1"/>
          <p:nvPr>
            <p:ph type="title"/>
          </p:nvPr>
        </p:nvSpPr>
        <p:spPr>
          <a:xfrm>
            <a:off x="606552" y="223234"/>
            <a:ext cx="5251316" cy="1158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Peranan Sunnah </a:t>
            </a:r>
            <a:endParaRPr/>
          </a:p>
        </p:txBody>
      </p:sp>
      <p:pic>
        <p:nvPicPr>
          <p:cNvPr descr="A black and gold book cover&#10;&#10;Description automatically generated" id="146" name="Google Shape;146;p6"/>
          <p:cNvPicPr preferRelativeResize="0"/>
          <p:nvPr/>
        </p:nvPicPr>
        <p:blipFill rotWithShape="1">
          <a:blip r:embed="rId3">
            <a:alphaModFix/>
          </a:blip>
          <a:srcRect b="14513" l="0" r="-1" t="6126"/>
          <a:stretch/>
        </p:blipFill>
        <p:spPr>
          <a:xfrm>
            <a:off x="6229215" y="10"/>
            <a:ext cx="5962785" cy="6857990"/>
          </a:xfrm>
          <a:custGeom>
            <a:rect b="b" l="l" r="r" t="t"/>
            <a:pathLst>
              <a:path extrusionOk="0" h="6858000" w="5962785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47" name="Google Shape;147;p6"/>
          <p:cNvSpPr txBox="1"/>
          <p:nvPr/>
        </p:nvSpPr>
        <p:spPr>
          <a:xfrm>
            <a:off x="9884958" y="6657945"/>
            <a:ext cx="2307042" cy="20005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This Photo</a:t>
            </a: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by Unknown Author is licensed under </a:t>
            </a:r>
            <a:r>
              <a:rPr b="0" i="0" lang="en-US" sz="7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BY-SA</a:t>
            </a:r>
            <a:endParaRPr b="0" i="0" sz="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>
            <p:ph idx="1" type="body"/>
          </p:nvPr>
        </p:nvSpPr>
        <p:spPr>
          <a:xfrm>
            <a:off x="606552" y="1523999"/>
            <a:ext cx="5479917" cy="376396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Sunnah adalah sumber kedua bagi ajaran Islam. Dalam posisinya ini, sunnah menjelaskan makna yang sulit dipahami dalam Alquran, menguatkan status hukum-hukum yang terdapat di dalamnya, memberikan rincian untuk penjelasan yang bersifat umum, dan menentukan batasan dan pengecualian bagi penjelasan-penjelasan general Alquran. Sunnah juga mengandung perintah-perintah hukum yang tidak terdapat dalam Alquran, tetapi tetap selaras dengan prinsip dan tujuannya (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maqashid al-quran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7595584" y="610517"/>
            <a:ext cx="4010943" cy="5636963"/>
          </a:xfrm>
          <a:custGeom>
            <a:rect b="b" l="l" r="r" t="t"/>
            <a:pathLst>
              <a:path extrusionOk="0"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rotWithShape="0" algn="tl" dir="3000000" dist="12700">
              <a:srgbClr val="000000">
                <a:alpha val="2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 flipH="1" rot="10800000">
            <a:off x="1" y="0"/>
            <a:ext cx="7918980" cy="6858000"/>
          </a:xfrm>
          <a:custGeom>
            <a:rect b="b" l="l" r="r" t="t"/>
            <a:pathLst>
              <a:path extrusionOk="0" h="6858000" w="7918980">
                <a:moveTo>
                  <a:pt x="0" y="0"/>
                </a:moveTo>
                <a:lnTo>
                  <a:pt x="504457" y="0"/>
                </a:lnTo>
                <a:lnTo>
                  <a:pt x="727500" y="0"/>
                </a:lnTo>
                <a:lnTo>
                  <a:pt x="1822980" y="0"/>
                </a:lnTo>
                <a:lnTo>
                  <a:pt x="2092387" y="0"/>
                </a:lnTo>
                <a:lnTo>
                  <a:pt x="7076514" y="0"/>
                </a:lnTo>
                <a:lnTo>
                  <a:pt x="7264525" y="0"/>
                </a:lnTo>
                <a:lnTo>
                  <a:pt x="7390497" y="0"/>
                </a:lnTo>
                <a:lnTo>
                  <a:pt x="7389918" y="1705"/>
                </a:lnTo>
                <a:cubicBezTo>
                  <a:pt x="7386106" y="8440"/>
                  <a:pt x="7381092" y="13784"/>
                  <a:pt x="7374574" y="17287"/>
                </a:cubicBezTo>
                <a:cubicBezTo>
                  <a:pt x="7385344" y="82036"/>
                  <a:pt x="7333329" y="69804"/>
                  <a:pt x="7368621" y="130336"/>
                </a:cubicBezTo>
                <a:cubicBezTo>
                  <a:pt x="7349933" y="117589"/>
                  <a:pt x="7359958" y="162458"/>
                  <a:pt x="7361269" y="187093"/>
                </a:cubicBezTo>
                <a:cubicBezTo>
                  <a:pt x="7359185" y="226511"/>
                  <a:pt x="7368702" y="205530"/>
                  <a:pt x="7368770" y="265704"/>
                </a:cubicBezTo>
                <a:cubicBezTo>
                  <a:pt x="7365276" y="317533"/>
                  <a:pt x="7366793" y="325288"/>
                  <a:pt x="7365293" y="354566"/>
                </a:cubicBezTo>
                <a:lnTo>
                  <a:pt x="7347106" y="472000"/>
                </a:lnTo>
                <a:lnTo>
                  <a:pt x="7345150" y="473782"/>
                </a:lnTo>
                <a:cubicBezTo>
                  <a:pt x="7340827" y="482008"/>
                  <a:pt x="7341662" y="487340"/>
                  <a:pt x="7344778" y="491380"/>
                </a:cubicBezTo>
                <a:lnTo>
                  <a:pt x="7359399" y="531675"/>
                </a:lnTo>
                <a:lnTo>
                  <a:pt x="7356415" y="536015"/>
                </a:lnTo>
                <a:lnTo>
                  <a:pt x="7361068" y="572092"/>
                </a:lnTo>
                <a:lnTo>
                  <a:pt x="7359041" y="572511"/>
                </a:lnTo>
                <a:cubicBezTo>
                  <a:pt x="7354591" y="574271"/>
                  <a:pt x="7351509" y="577121"/>
                  <a:pt x="7351198" y="582332"/>
                </a:cubicBezTo>
                <a:cubicBezTo>
                  <a:pt x="7320982" y="573171"/>
                  <a:pt x="7339242" y="585107"/>
                  <a:pt x="7340991" y="601285"/>
                </a:cubicBezTo>
                <a:cubicBezTo>
                  <a:pt x="7331818" y="617831"/>
                  <a:pt x="7303664" y="666964"/>
                  <a:pt x="7296154" y="681608"/>
                </a:cubicBezTo>
                <a:cubicBezTo>
                  <a:pt x="7296082" y="684122"/>
                  <a:pt x="7296013" y="686637"/>
                  <a:pt x="7295943" y="689151"/>
                </a:cubicBezTo>
                <a:lnTo>
                  <a:pt x="7295465" y="689289"/>
                </a:lnTo>
                <a:cubicBezTo>
                  <a:pt x="7294414" y="690905"/>
                  <a:pt x="7293966" y="693376"/>
                  <a:pt x="7294306" y="697222"/>
                </a:cubicBezTo>
                <a:cubicBezTo>
                  <a:pt x="7294586" y="703992"/>
                  <a:pt x="7294864" y="710761"/>
                  <a:pt x="7295144" y="717531"/>
                </a:cubicBezTo>
                <a:lnTo>
                  <a:pt x="7291871" y="722494"/>
                </a:lnTo>
                <a:lnTo>
                  <a:pt x="7286061" y="724368"/>
                </a:lnTo>
                <a:lnTo>
                  <a:pt x="7269961" y="752692"/>
                </a:lnTo>
                <a:cubicBezTo>
                  <a:pt x="7277671" y="764380"/>
                  <a:pt x="7245699" y="808083"/>
                  <a:pt x="7240170" y="816346"/>
                </a:cubicBezTo>
                <a:lnTo>
                  <a:pt x="7211938" y="889417"/>
                </a:lnTo>
                <a:cubicBezTo>
                  <a:pt x="7143471" y="969963"/>
                  <a:pt x="7144887" y="1005331"/>
                  <a:pt x="7130024" y="1063288"/>
                </a:cubicBezTo>
                <a:cubicBezTo>
                  <a:pt x="7136312" y="1111028"/>
                  <a:pt x="7140076" y="1110140"/>
                  <a:pt x="7126817" y="1157176"/>
                </a:cubicBezTo>
                <a:cubicBezTo>
                  <a:pt x="7124083" y="1192124"/>
                  <a:pt x="7124864" y="1197232"/>
                  <a:pt x="7109474" y="1210776"/>
                </a:cubicBezTo>
                <a:lnTo>
                  <a:pt x="7105443" y="1301993"/>
                </a:lnTo>
                <a:lnTo>
                  <a:pt x="7075215" y="1360879"/>
                </a:lnTo>
                <a:lnTo>
                  <a:pt x="7067477" y="1404045"/>
                </a:lnTo>
                <a:lnTo>
                  <a:pt x="7046803" y="1429568"/>
                </a:lnTo>
                <a:lnTo>
                  <a:pt x="7047831" y="1430305"/>
                </a:lnTo>
                <a:cubicBezTo>
                  <a:pt x="7049677" y="1432466"/>
                  <a:pt x="7037718" y="1459891"/>
                  <a:pt x="7035374" y="1463304"/>
                </a:cubicBezTo>
                <a:cubicBezTo>
                  <a:pt x="7032892" y="1477394"/>
                  <a:pt x="7036007" y="1501295"/>
                  <a:pt x="7032938" y="1514846"/>
                </a:cubicBezTo>
                <a:lnTo>
                  <a:pt x="7029397" y="1519731"/>
                </a:lnTo>
                <a:lnTo>
                  <a:pt x="7029620" y="1519929"/>
                </a:lnTo>
                <a:cubicBezTo>
                  <a:pt x="7029470" y="1521210"/>
                  <a:pt x="7032690" y="1543635"/>
                  <a:pt x="7030612" y="1546022"/>
                </a:cubicBezTo>
                <a:lnTo>
                  <a:pt x="7035010" y="1578752"/>
                </a:lnTo>
                <a:cubicBezTo>
                  <a:pt x="7029127" y="1605585"/>
                  <a:pt x="7049361" y="1622803"/>
                  <a:pt x="7026513" y="1647555"/>
                </a:cubicBezTo>
                <a:cubicBezTo>
                  <a:pt x="7021108" y="1672675"/>
                  <a:pt x="7026193" y="1694404"/>
                  <a:pt x="7013857" y="1715685"/>
                </a:cubicBezTo>
                <a:cubicBezTo>
                  <a:pt x="7019795" y="1724301"/>
                  <a:pt x="7021078" y="1732435"/>
                  <a:pt x="7007215" y="1740358"/>
                </a:cubicBezTo>
                <a:cubicBezTo>
                  <a:pt x="7005605" y="1763793"/>
                  <a:pt x="7021348" y="1769422"/>
                  <a:pt x="7004455" y="1784314"/>
                </a:cubicBezTo>
                <a:cubicBezTo>
                  <a:pt x="7028967" y="1797417"/>
                  <a:pt x="7018226" y="1798221"/>
                  <a:pt x="7008825" y="1804434"/>
                </a:cubicBezTo>
                <a:lnTo>
                  <a:pt x="7008048" y="1805316"/>
                </a:lnTo>
                <a:lnTo>
                  <a:pt x="7011573" y="1807109"/>
                </a:lnTo>
                <a:lnTo>
                  <a:pt x="7008900" y="1821003"/>
                </a:lnTo>
                <a:lnTo>
                  <a:pt x="7006523" y="1824832"/>
                </a:lnTo>
                <a:cubicBezTo>
                  <a:pt x="7005264" y="1827468"/>
                  <a:pt x="7004917" y="1829219"/>
                  <a:pt x="7005215" y="1830429"/>
                </a:cubicBezTo>
                <a:lnTo>
                  <a:pt x="7005505" y="1830569"/>
                </a:lnTo>
                <a:lnTo>
                  <a:pt x="7003643" y="1835810"/>
                </a:lnTo>
                <a:cubicBezTo>
                  <a:pt x="6999759" y="1844665"/>
                  <a:pt x="6995277" y="1853278"/>
                  <a:pt x="6990432" y="1861483"/>
                </a:cubicBezTo>
                <a:cubicBezTo>
                  <a:pt x="7002807" y="1866643"/>
                  <a:pt x="6989768" y="1884999"/>
                  <a:pt x="6997246" y="1892417"/>
                </a:cubicBezTo>
                <a:lnTo>
                  <a:pt x="7012242" y="1895114"/>
                </a:lnTo>
                <a:lnTo>
                  <a:pt x="7010080" y="1899379"/>
                </a:lnTo>
                <a:lnTo>
                  <a:pt x="7003451" y="1907867"/>
                </a:lnTo>
                <a:cubicBezTo>
                  <a:pt x="7002589" y="1909162"/>
                  <a:pt x="7002627" y="1909994"/>
                  <a:pt x="7004341" y="1910265"/>
                </a:cubicBezTo>
                <a:cubicBezTo>
                  <a:pt x="7003975" y="1914884"/>
                  <a:pt x="7000873" y="1930292"/>
                  <a:pt x="7001248" y="1935584"/>
                </a:cubicBezTo>
                <a:lnTo>
                  <a:pt x="7006599" y="1942021"/>
                </a:lnTo>
                <a:lnTo>
                  <a:pt x="6985020" y="1967551"/>
                </a:lnTo>
                <a:lnTo>
                  <a:pt x="6949577" y="2024270"/>
                </a:lnTo>
                <a:lnTo>
                  <a:pt x="6942508" y="2107942"/>
                </a:lnTo>
                <a:cubicBezTo>
                  <a:pt x="6912270" y="2138038"/>
                  <a:pt x="6933395" y="2159228"/>
                  <a:pt x="6933336" y="2193455"/>
                </a:cubicBezTo>
                <a:cubicBezTo>
                  <a:pt x="6924282" y="2220953"/>
                  <a:pt x="6933361" y="2224200"/>
                  <a:pt x="6927972" y="2260088"/>
                </a:cubicBezTo>
                <a:cubicBezTo>
                  <a:pt x="6923728" y="2275916"/>
                  <a:pt x="6917037" y="2285645"/>
                  <a:pt x="6909058" y="2296008"/>
                </a:cubicBezTo>
                <a:lnTo>
                  <a:pt x="6901810" y="2305564"/>
                </a:lnTo>
                <a:lnTo>
                  <a:pt x="6904482" y="2320214"/>
                </a:lnTo>
                <a:cubicBezTo>
                  <a:pt x="6902155" y="2355906"/>
                  <a:pt x="6895137" y="2394678"/>
                  <a:pt x="6891885" y="2417011"/>
                </a:cubicBezTo>
                <a:cubicBezTo>
                  <a:pt x="6880976" y="2426377"/>
                  <a:pt x="6897848" y="2456509"/>
                  <a:pt x="6884970" y="2454207"/>
                </a:cubicBezTo>
                <a:cubicBezTo>
                  <a:pt x="6890753" y="2464947"/>
                  <a:pt x="6887930" y="2476105"/>
                  <a:pt x="6882954" y="2487203"/>
                </a:cubicBezTo>
                <a:lnTo>
                  <a:pt x="6871484" y="2512282"/>
                </a:lnTo>
                <a:lnTo>
                  <a:pt x="6872496" y="2514318"/>
                </a:lnTo>
                <a:lnTo>
                  <a:pt x="6898111" y="2574334"/>
                </a:lnTo>
                <a:lnTo>
                  <a:pt x="6897017" y="2579877"/>
                </a:lnTo>
                <a:cubicBezTo>
                  <a:pt x="6896861" y="2585644"/>
                  <a:pt x="6897245" y="2603388"/>
                  <a:pt x="6897171" y="2608928"/>
                </a:cubicBezTo>
                <a:cubicBezTo>
                  <a:pt x="6896975" y="2610322"/>
                  <a:pt x="6896780" y="2611717"/>
                  <a:pt x="6896584" y="2613111"/>
                </a:cubicBezTo>
                <a:lnTo>
                  <a:pt x="6888164" y="2621996"/>
                </a:lnTo>
                <a:lnTo>
                  <a:pt x="6890652" y="2634265"/>
                </a:lnTo>
                <a:lnTo>
                  <a:pt x="6882034" y="2647237"/>
                </a:lnTo>
                <a:cubicBezTo>
                  <a:pt x="6884287" y="2648158"/>
                  <a:pt x="6886365" y="2649356"/>
                  <a:pt x="6888195" y="2650786"/>
                </a:cubicBezTo>
                <a:lnTo>
                  <a:pt x="6894052" y="2661993"/>
                </a:lnTo>
                <a:lnTo>
                  <a:pt x="6885953" y="2670949"/>
                </a:lnTo>
                <a:cubicBezTo>
                  <a:pt x="6898507" y="2672007"/>
                  <a:pt x="6883930" y="2681695"/>
                  <a:pt x="6880156" y="2690255"/>
                </a:cubicBezTo>
                <a:lnTo>
                  <a:pt x="6881009" y="2695683"/>
                </a:lnTo>
                <a:lnTo>
                  <a:pt x="6870001" y="2713964"/>
                </a:lnTo>
                <a:lnTo>
                  <a:pt x="6864441" y="2730175"/>
                </a:lnTo>
                <a:lnTo>
                  <a:pt x="6875107" y="2763497"/>
                </a:lnTo>
                <a:lnTo>
                  <a:pt x="6837349" y="3051539"/>
                </a:lnTo>
                <a:lnTo>
                  <a:pt x="6835698" y="3060333"/>
                </a:lnTo>
                <a:lnTo>
                  <a:pt x="6837785" y="3065434"/>
                </a:lnTo>
                <a:lnTo>
                  <a:pt x="6834476" y="3066836"/>
                </a:lnTo>
                <a:lnTo>
                  <a:pt x="6831096" y="3084834"/>
                </a:lnTo>
                <a:cubicBezTo>
                  <a:pt x="6831166" y="3088976"/>
                  <a:pt x="6831235" y="3093117"/>
                  <a:pt x="6831305" y="3097259"/>
                </a:cubicBezTo>
                <a:lnTo>
                  <a:pt x="6828050" y="3101053"/>
                </a:lnTo>
                <a:lnTo>
                  <a:pt x="6827093" y="3106151"/>
                </a:lnTo>
                <a:lnTo>
                  <a:pt x="6833251" y="3116747"/>
                </a:lnTo>
                <a:cubicBezTo>
                  <a:pt x="6834765" y="3127646"/>
                  <a:pt x="6821739" y="3134084"/>
                  <a:pt x="6825921" y="3151828"/>
                </a:cubicBezTo>
                <a:cubicBezTo>
                  <a:pt x="6833244" y="3163902"/>
                  <a:pt x="6834336" y="3171780"/>
                  <a:pt x="6825863" y="3180546"/>
                </a:cubicBezTo>
                <a:cubicBezTo>
                  <a:pt x="6861566" y="3236545"/>
                  <a:pt x="6826703" y="3210316"/>
                  <a:pt x="6839691" y="3258677"/>
                </a:cubicBezTo>
                <a:lnTo>
                  <a:pt x="6840898" y="3262610"/>
                </a:lnTo>
                <a:lnTo>
                  <a:pt x="6834652" y="3277179"/>
                </a:lnTo>
                <a:lnTo>
                  <a:pt x="6832324" y="3278130"/>
                </a:lnTo>
                <a:lnTo>
                  <a:pt x="6849750" y="3325671"/>
                </a:lnTo>
                <a:lnTo>
                  <a:pt x="6847551" y="3332072"/>
                </a:lnTo>
                <a:lnTo>
                  <a:pt x="6864685" y="3362948"/>
                </a:lnTo>
                <a:lnTo>
                  <a:pt x="6870457" y="3378959"/>
                </a:lnTo>
                <a:lnTo>
                  <a:pt x="6883738" y="3407057"/>
                </a:lnTo>
                <a:lnTo>
                  <a:pt x="6881948" y="3409825"/>
                </a:lnTo>
                <a:lnTo>
                  <a:pt x="6885647" y="3415218"/>
                </a:lnTo>
                <a:lnTo>
                  <a:pt x="6883908" y="3419880"/>
                </a:lnTo>
                <a:lnTo>
                  <a:pt x="6885903" y="3424545"/>
                </a:lnTo>
                <a:cubicBezTo>
                  <a:pt x="6886517" y="3433967"/>
                  <a:pt x="6886474" y="3466028"/>
                  <a:pt x="6887603" y="3476412"/>
                </a:cubicBezTo>
                <a:lnTo>
                  <a:pt x="6892664" y="3486850"/>
                </a:lnTo>
                <a:lnTo>
                  <a:pt x="6886319" y="3496391"/>
                </a:lnTo>
                <a:lnTo>
                  <a:pt x="6893119" y="3531201"/>
                </a:lnTo>
                <a:lnTo>
                  <a:pt x="6902876" y="3542019"/>
                </a:lnTo>
                <a:lnTo>
                  <a:pt x="6910520" y="3552249"/>
                </a:lnTo>
                <a:cubicBezTo>
                  <a:pt x="6910641" y="3552725"/>
                  <a:pt x="6910761" y="3553202"/>
                  <a:pt x="6910882" y="3553678"/>
                </a:cubicBezTo>
                <a:lnTo>
                  <a:pt x="6914489" y="3568021"/>
                </a:lnTo>
                <a:lnTo>
                  <a:pt x="6914914" y="3569719"/>
                </a:lnTo>
                <a:lnTo>
                  <a:pt x="6912342" y="3586412"/>
                </a:lnTo>
                <a:lnTo>
                  <a:pt x="6915338" y="3597336"/>
                </a:lnTo>
                <a:lnTo>
                  <a:pt x="6907234" y="3606007"/>
                </a:lnTo>
                <a:cubicBezTo>
                  <a:pt x="6907242" y="3617747"/>
                  <a:pt x="6907253" y="3629488"/>
                  <a:pt x="6907261" y="3641228"/>
                </a:cubicBezTo>
                <a:lnTo>
                  <a:pt x="6914828" y="3653088"/>
                </a:lnTo>
                <a:lnTo>
                  <a:pt x="6920416" y="3664114"/>
                </a:lnTo>
                <a:cubicBezTo>
                  <a:pt x="6920443" y="3664599"/>
                  <a:pt x="6920471" y="3665084"/>
                  <a:pt x="6920498" y="3665569"/>
                </a:cubicBezTo>
                <a:cubicBezTo>
                  <a:pt x="6920895" y="3672776"/>
                  <a:pt x="6919946" y="3688591"/>
                  <a:pt x="6922809" y="3707357"/>
                </a:cubicBezTo>
                <a:cubicBezTo>
                  <a:pt x="6923485" y="3724716"/>
                  <a:pt x="6941058" y="3760234"/>
                  <a:pt x="6937676" y="3778166"/>
                </a:cubicBezTo>
                <a:cubicBezTo>
                  <a:pt x="6964607" y="3845122"/>
                  <a:pt x="6948407" y="3821305"/>
                  <a:pt x="6958359" y="3878222"/>
                </a:cubicBezTo>
                <a:cubicBezTo>
                  <a:pt x="6984499" y="3905047"/>
                  <a:pt x="6948397" y="4015047"/>
                  <a:pt x="6953118" y="4048117"/>
                </a:cubicBezTo>
                <a:cubicBezTo>
                  <a:pt x="6904784" y="4192084"/>
                  <a:pt x="6919242" y="4158987"/>
                  <a:pt x="6913020" y="4219510"/>
                </a:cubicBezTo>
                <a:cubicBezTo>
                  <a:pt x="6927533" y="4280033"/>
                  <a:pt x="6888360" y="4345686"/>
                  <a:pt x="6915792" y="4411258"/>
                </a:cubicBezTo>
                <a:cubicBezTo>
                  <a:pt x="6913610" y="4437329"/>
                  <a:pt x="6906858" y="4473140"/>
                  <a:pt x="6907579" y="4488531"/>
                </a:cubicBezTo>
                <a:cubicBezTo>
                  <a:pt x="6907403" y="4505410"/>
                  <a:pt x="6907228" y="4522289"/>
                  <a:pt x="6907052" y="4539168"/>
                </a:cubicBezTo>
                <a:cubicBezTo>
                  <a:pt x="6895094" y="4567830"/>
                  <a:pt x="6887285" y="4588197"/>
                  <a:pt x="6891916" y="4625153"/>
                </a:cubicBezTo>
                <a:cubicBezTo>
                  <a:pt x="6900413" y="4662889"/>
                  <a:pt x="6888879" y="4679357"/>
                  <a:pt x="6882094" y="4733115"/>
                </a:cubicBezTo>
                <a:cubicBezTo>
                  <a:pt x="6891667" y="4752352"/>
                  <a:pt x="6878350" y="4832308"/>
                  <a:pt x="6860189" y="4844323"/>
                </a:cubicBezTo>
                <a:cubicBezTo>
                  <a:pt x="6856424" y="4857054"/>
                  <a:pt x="6863174" y="4871554"/>
                  <a:pt x="6843618" y="4877992"/>
                </a:cubicBezTo>
                <a:cubicBezTo>
                  <a:pt x="6820131" y="4888353"/>
                  <a:pt x="6857398" y="4931200"/>
                  <a:pt x="6829393" y="4925805"/>
                </a:cubicBezTo>
                <a:cubicBezTo>
                  <a:pt x="6854944" y="4956261"/>
                  <a:pt x="6805820" y="4982633"/>
                  <a:pt x="6794017" y="5009272"/>
                </a:cubicBezTo>
                <a:cubicBezTo>
                  <a:pt x="6796239" y="5034036"/>
                  <a:pt x="6791355" y="5053859"/>
                  <a:pt x="6786085" y="5111369"/>
                </a:cubicBezTo>
                <a:cubicBezTo>
                  <a:pt x="6796204" y="5141336"/>
                  <a:pt x="6760393" y="5161742"/>
                  <a:pt x="6799321" y="5210876"/>
                </a:cubicBezTo>
                <a:cubicBezTo>
                  <a:pt x="6795435" y="5212581"/>
                  <a:pt x="6800034" y="5227501"/>
                  <a:pt x="6803597" y="5269726"/>
                </a:cubicBezTo>
                <a:cubicBezTo>
                  <a:pt x="6807162" y="5311951"/>
                  <a:pt x="6813370" y="5400671"/>
                  <a:pt x="6820713" y="5464225"/>
                </a:cubicBezTo>
                <a:cubicBezTo>
                  <a:pt x="6824745" y="5536542"/>
                  <a:pt x="6813205" y="5517959"/>
                  <a:pt x="6824380" y="5594585"/>
                </a:cubicBezTo>
                <a:cubicBezTo>
                  <a:pt x="6822888" y="5619318"/>
                  <a:pt x="6797022" y="5647975"/>
                  <a:pt x="6806680" y="5667896"/>
                </a:cubicBezTo>
                <a:cubicBezTo>
                  <a:pt x="6799814" y="5696311"/>
                  <a:pt x="6798559" y="5738356"/>
                  <a:pt x="6791486" y="5769225"/>
                </a:cubicBezTo>
                <a:cubicBezTo>
                  <a:pt x="6791906" y="5787258"/>
                  <a:pt x="6792324" y="5805291"/>
                  <a:pt x="6792745" y="5823324"/>
                </a:cubicBezTo>
                <a:cubicBezTo>
                  <a:pt x="6789102" y="5853058"/>
                  <a:pt x="6788588" y="5838948"/>
                  <a:pt x="6789109" y="5862699"/>
                </a:cubicBezTo>
                <a:lnTo>
                  <a:pt x="6793675" y="5906467"/>
                </a:lnTo>
                <a:lnTo>
                  <a:pt x="6814548" y="5939847"/>
                </a:lnTo>
                <a:cubicBezTo>
                  <a:pt x="6821828" y="5955713"/>
                  <a:pt x="6797711" y="5940131"/>
                  <a:pt x="6809795" y="5973994"/>
                </a:cubicBezTo>
                <a:cubicBezTo>
                  <a:pt x="6784167" y="5997051"/>
                  <a:pt x="6806424" y="6032039"/>
                  <a:pt x="6810756" y="6089693"/>
                </a:cubicBezTo>
                <a:lnTo>
                  <a:pt x="6814601" y="6224938"/>
                </a:lnTo>
                <a:cubicBezTo>
                  <a:pt x="6811422" y="6270972"/>
                  <a:pt x="6831942" y="6317522"/>
                  <a:pt x="6840137" y="6370251"/>
                </a:cubicBezTo>
                <a:cubicBezTo>
                  <a:pt x="6848333" y="6422980"/>
                  <a:pt x="6862918" y="6490855"/>
                  <a:pt x="6863777" y="6541313"/>
                </a:cubicBezTo>
                <a:cubicBezTo>
                  <a:pt x="6862878" y="6576319"/>
                  <a:pt x="6854892" y="6591883"/>
                  <a:pt x="6868355" y="6640957"/>
                </a:cubicBezTo>
                <a:cubicBezTo>
                  <a:pt x="6880485" y="6669536"/>
                  <a:pt x="6875256" y="6675394"/>
                  <a:pt x="6881422" y="6705297"/>
                </a:cubicBezTo>
                <a:cubicBezTo>
                  <a:pt x="6880347" y="6727133"/>
                  <a:pt x="6890881" y="6732087"/>
                  <a:pt x="6894105" y="6759582"/>
                </a:cubicBezTo>
                <a:cubicBezTo>
                  <a:pt x="6878594" y="6796071"/>
                  <a:pt x="6874636" y="6769544"/>
                  <a:pt x="6892152" y="6817746"/>
                </a:cubicBezTo>
                <a:cubicBezTo>
                  <a:pt x="6883936" y="6828354"/>
                  <a:pt x="6887505" y="6836369"/>
                  <a:pt x="6895302" y="6843646"/>
                </a:cubicBezTo>
                <a:lnTo>
                  <a:pt x="6914368" y="6857998"/>
                </a:lnTo>
                <a:lnTo>
                  <a:pt x="7549620" y="6857998"/>
                </a:lnTo>
                <a:lnTo>
                  <a:pt x="7918980" y="6857998"/>
                </a:lnTo>
                <a:lnTo>
                  <a:pt x="7918980" y="6858000"/>
                </a:lnTo>
                <a:lnTo>
                  <a:pt x="7549620" y="6858000"/>
                </a:lnTo>
                <a:lnTo>
                  <a:pt x="6658851" y="6858000"/>
                </a:lnTo>
                <a:lnTo>
                  <a:pt x="2092387" y="6858000"/>
                </a:lnTo>
                <a:lnTo>
                  <a:pt x="1822980" y="6858000"/>
                </a:lnTo>
                <a:lnTo>
                  <a:pt x="727500" y="6858000"/>
                </a:lnTo>
                <a:lnTo>
                  <a:pt x="50445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 txBox="1"/>
          <p:nvPr>
            <p:ph type="title"/>
          </p:nvPr>
        </p:nvSpPr>
        <p:spPr>
          <a:xfrm>
            <a:off x="585473" y="431631"/>
            <a:ext cx="5794800" cy="13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Fungsi Sunnah terhadap al-Qur’an</a:t>
            </a:r>
            <a:endParaRPr/>
          </a:p>
        </p:txBody>
      </p:sp>
      <p:pic>
        <p:nvPicPr>
          <p:cNvPr descr="A pile of old manuscript&#10;&#10;Description automatically generated" id="157" name="Google Shape;157;p7"/>
          <p:cNvPicPr preferRelativeResize="0"/>
          <p:nvPr/>
        </p:nvPicPr>
        <p:blipFill rotWithShape="1">
          <a:blip r:embed="rId3">
            <a:alphaModFix/>
          </a:blip>
          <a:srcRect b="-1" l="16594" r="19245" t="0"/>
          <a:stretch/>
        </p:blipFill>
        <p:spPr>
          <a:xfrm>
            <a:off x="7756450" y="1533141"/>
            <a:ext cx="3689210" cy="379171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/>
          <p:nvPr/>
        </p:nvSpPr>
        <p:spPr>
          <a:xfrm>
            <a:off x="8864090" y="6128733"/>
            <a:ext cx="1367625" cy="428984"/>
          </a:xfrm>
          <a:custGeom>
            <a:rect b="b" l="l" r="r" t="t"/>
            <a:pathLst>
              <a:path extrusionOk="0" h="594531" w="2201784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" name="Google Shape;159;p7"/>
          <p:cNvGrpSpPr/>
          <p:nvPr/>
        </p:nvGrpSpPr>
        <p:grpSpPr>
          <a:xfrm>
            <a:off x="585473" y="2064264"/>
            <a:ext cx="6225868" cy="4049419"/>
            <a:chOff x="0" y="1979"/>
            <a:chExt cx="6225868" cy="4049419"/>
          </a:xfrm>
        </p:grpSpPr>
        <p:cxnSp>
          <p:nvCxnSpPr>
            <p:cNvPr id="160" name="Google Shape;160;p7"/>
            <p:cNvCxnSpPr/>
            <p:nvPr/>
          </p:nvCxnSpPr>
          <p:spPr>
            <a:xfrm>
              <a:off x="0" y="1979"/>
              <a:ext cx="6225868" cy="0"/>
            </a:xfrm>
            <a:prstGeom prst="straightConnector1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1" name="Google Shape;161;p7"/>
            <p:cNvSpPr/>
            <p:nvPr/>
          </p:nvSpPr>
          <p:spPr>
            <a:xfrm>
              <a:off x="0" y="1979"/>
              <a:ext cx="6225868" cy="6749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7"/>
            <p:cNvSpPr txBox="1"/>
            <p:nvPr/>
          </p:nvSpPr>
          <p:spPr>
            <a:xfrm>
              <a:off x="0" y="1979"/>
              <a:ext cx="6225868" cy="6749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Menguatkan hukum yang ditetapkan al-Qur’an.</a:t>
              </a:r>
              <a:endParaRPr/>
            </a:p>
          </p:txBody>
        </p:sp>
        <p:cxnSp>
          <p:nvCxnSpPr>
            <p:cNvPr id="163" name="Google Shape;163;p7"/>
            <p:cNvCxnSpPr/>
            <p:nvPr/>
          </p:nvCxnSpPr>
          <p:spPr>
            <a:xfrm>
              <a:off x="0" y="676882"/>
              <a:ext cx="6225868" cy="0"/>
            </a:xfrm>
            <a:prstGeom prst="straightConnector1">
              <a:avLst/>
            </a:prstGeom>
            <a:solidFill>
              <a:srgbClr val="53C1CE"/>
            </a:solidFill>
            <a:ln cap="flat" cmpd="sng" w="12700">
              <a:solidFill>
                <a:srgbClr val="53C1CE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4" name="Google Shape;164;p7"/>
            <p:cNvSpPr/>
            <p:nvPr/>
          </p:nvSpPr>
          <p:spPr>
            <a:xfrm>
              <a:off x="0" y="676882"/>
              <a:ext cx="6225868" cy="6749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7"/>
            <p:cNvSpPr txBox="1"/>
            <p:nvPr/>
          </p:nvSpPr>
          <p:spPr>
            <a:xfrm>
              <a:off x="0" y="676882"/>
              <a:ext cx="6225868" cy="6749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Merinci penjelasan al-Qur’an yang bersifat global.</a:t>
              </a:r>
              <a:endParaRPr/>
            </a:p>
          </p:txBody>
        </p:sp>
        <p:cxnSp>
          <p:nvCxnSpPr>
            <p:cNvPr id="166" name="Google Shape;166;p7"/>
            <p:cNvCxnSpPr/>
            <p:nvPr/>
          </p:nvCxnSpPr>
          <p:spPr>
            <a:xfrm>
              <a:off x="0" y="1351785"/>
              <a:ext cx="6225868" cy="0"/>
            </a:xfrm>
            <a:prstGeom prst="straightConnector1">
              <a:avLst/>
            </a:prstGeom>
            <a:solidFill>
              <a:srgbClr val="4EC7A5"/>
            </a:solidFill>
            <a:ln cap="flat" cmpd="sng" w="12700">
              <a:solidFill>
                <a:srgbClr val="4EC7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7" name="Google Shape;167;p7"/>
            <p:cNvSpPr/>
            <p:nvPr/>
          </p:nvSpPr>
          <p:spPr>
            <a:xfrm>
              <a:off x="0" y="1351785"/>
              <a:ext cx="6225868" cy="6749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7"/>
            <p:cNvSpPr txBox="1"/>
            <p:nvPr/>
          </p:nvSpPr>
          <p:spPr>
            <a:xfrm>
              <a:off x="0" y="1351785"/>
              <a:ext cx="6225868" cy="6749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Membatasi penjelasan al-Qur’an yang bersifat mutlak.</a:t>
              </a:r>
              <a:endParaRPr/>
            </a:p>
          </p:txBody>
        </p:sp>
        <p:cxnSp>
          <p:nvCxnSpPr>
            <p:cNvPr id="169" name="Google Shape;169;p7"/>
            <p:cNvCxnSpPr/>
            <p:nvPr/>
          </p:nvCxnSpPr>
          <p:spPr>
            <a:xfrm>
              <a:off x="0" y="2026689"/>
              <a:ext cx="6225868" cy="0"/>
            </a:xfrm>
            <a:prstGeom prst="straightConnector1">
              <a:avLst/>
            </a:prstGeom>
            <a:solidFill>
              <a:srgbClr val="49C073"/>
            </a:solidFill>
            <a:ln cap="flat" cmpd="sng" w="12700">
              <a:solidFill>
                <a:srgbClr val="49C07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0" name="Google Shape;170;p7"/>
            <p:cNvSpPr/>
            <p:nvPr/>
          </p:nvSpPr>
          <p:spPr>
            <a:xfrm>
              <a:off x="0" y="2026688"/>
              <a:ext cx="6225868" cy="6749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7"/>
            <p:cNvSpPr txBox="1"/>
            <p:nvPr/>
          </p:nvSpPr>
          <p:spPr>
            <a:xfrm>
              <a:off x="0" y="2026688"/>
              <a:ext cx="6225868" cy="6749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Menspesifikasi penjelasan umum al-Qur’an. </a:t>
              </a:r>
              <a:endParaRPr/>
            </a:p>
          </p:txBody>
        </p:sp>
        <p:cxnSp>
          <p:nvCxnSpPr>
            <p:cNvPr id="172" name="Google Shape;172;p7"/>
            <p:cNvCxnSpPr/>
            <p:nvPr/>
          </p:nvCxnSpPr>
          <p:spPr>
            <a:xfrm>
              <a:off x="0" y="2701592"/>
              <a:ext cx="6225868" cy="0"/>
            </a:xfrm>
            <a:prstGeom prst="straightConnector1">
              <a:avLst/>
            </a:prstGeom>
            <a:solidFill>
              <a:srgbClr val="49B845"/>
            </a:solidFill>
            <a:ln cap="flat" cmpd="sng" w="12700">
              <a:solidFill>
                <a:srgbClr val="49B84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3" name="Google Shape;173;p7"/>
            <p:cNvSpPr/>
            <p:nvPr/>
          </p:nvSpPr>
          <p:spPr>
            <a:xfrm>
              <a:off x="0" y="2701592"/>
              <a:ext cx="6225868" cy="6749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7"/>
            <p:cNvSpPr txBox="1"/>
            <p:nvPr/>
          </p:nvSpPr>
          <p:spPr>
            <a:xfrm>
              <a:off x="0" y="2701592"/>
              <a:ext cx="6225868" cy="6749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 Menjelaskan kesulitan pemahaman terhadap al-Qur’an. </a:t>
              </a:r>
              <a:endParaRPr/>
            </a:p>
          </p:txBody>
        </p:sp>
        <p:cxnSp>
          <p:nvCxnSpPr>
            <p:cNvPr id="175" name="Google Shape;175;p7"/>
            <p:cNvCxnSpPr/>
            <p:nvPr/>
          </p:nvCxnSpPr>
          <p:spPr>
            <a:xfrm>
              <a:off x="0" y="3376495"/>
              <a:ext cx="6225868" cy="0"/>
            </a:xfrm>
            <a:prstGeom prst="straightConnector1">
              <a:avLst/>
            </a:prstGeom>
            <a:solidFill>
              <a:srgbClr val="6FAB46"/>
            </a:solidFill>
            <a:ln cap="flat" cmpd="sng" w="12700">
              <a:solidFill>
                <a:srgbClr val="6FAB4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6" name="Google Shape;176;p7"/>
            <p:cNvSpPr/>
            <p:nvPr/>
          </p:nvSpPr>
          <p:spPr>
            <a:xfrm>
              <a:off x="0" y="3376495"/>
              <a:ext cx="6225868" cy="6749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7"/>
            <p:cNvSpPr txBox="1"/>
            <p:nvPr/>
          </p:nvSpPr>
          <p:spPr>
            <a:xfrm>
              <a:off x="0" y="3376495"/>
              <a:ext cx="6225868" cy="6749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6. Menetapkan hukum yang tidak ditetapkan al-Qur’an. 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mall black wallet with gold writing on it&#10;&#10;Description automatically generated" id="183" name="Google Shape;183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1178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>
            <p:ph type="title"/>
          </p:nvPr>
        </p:nvSpPr>
        <p:spPr>
          <a:xfrm>
            <a:off x="572493" y="238539"/>
            <a:ext cx="110184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lang="en-US" sz="4500"/>
              <a:t>Perbedaan antara al-Qur’an dan Sunnah</a:t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4901"/>
            </a:schemeClr>
          </a:solidFill>
          <a:ln cap="rnd" cmpd="sng" w="44450">
            <a:solidFill>
              <a:schemeClr val="accent2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n open book&#10;&#10;Description automatically generated" id="191" name="Google Shape;191;p9"/>
          <p:cNvPicPr preferRelativeResize="0"/>
          <p:nvPr/>
        </p:nvPicPr>
        <p:blipFill rotWithShape="1">
          <a:blip r:embed="rId3">
            <a:alphaModFix/>
          </a:blip>
          <a:srcRect b="0" l="9237" r="36888" t="0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9"/>
          <p:cNvGrpSpPr/>
          <p:nvPr/>
        </p:nvGrpSpPr>
        <p:grpSpPr>
          <a:xfrm>
            <a:off x="572493" y="2071818"/>
            <a:ext cx="6713700" cy="4118166"/>
            <a:chOff x="0" y="502"/>
            <a:chExt cx="6713700" cy="4118166"/>
          </a:xfrm>
        </p:grpSpPr>
        <p:cxnSp>
          <p:nvCxnSpPr>
            <p:cNvPr id="193" name="Google Shape;193;p9"/>
            <p:cNvCxnSpPr/>
            <p:nvPr/>
          </p:nvCxnSpPr>
          <p:spPr>
            <a:xfrm>
              <a:off x="0" y="502"/>
              <a:ext cx="6713552" cy="0"/>
            </a:xfrm>
            <a:prstGeom prst="straightConnector1">
              <a:avLst/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 cap="flat" cmpd="sng" w="9525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4" name="Google Shape;194;p9"/>
            <p:cNvSpPr/>
            <p:nvPr/>
          </p:nvSpPr>
          <p:spPr>
            <a:xfrm>
              <a:off x="0" y="502"/>
              <a:ext cx="6713552" cy="823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9"/>
            <p:cNvSpPr txBox="1"/>
            <p:nvPr/>
          </p:nvSpPr>
          <p:spPr>
            <a:xfrm>
              <a:off x="0" y="502"/>
              <a:ext cx="6713552" cy="823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Makna dan redaksi al-Qur’an bersumber dari Allah, sementara hadis maknanya dari Allah dan redaksinya dari Nabi. </a:t>
              </a:r>
              <a:endParaRPr/>
            </a:p>
          </p:txBody>
        </p:sp>
        <p:cxnSp>
          <p:nvCxnSpPr>
            <p:cNvPr id="196" name="Google Shape;196;p9"/>
            <p:cNvCxnSpPr/>
            <p:nvPr/>
          </p:nvCxnSpPr>
          <p:spPr>
            <a:xfrm>
              <a:off x="0" y="824136"/>
              <a:ext cx="6713552" cy="0"/>
            </a:xfrm>
            <a:prstGeom prst="straightConnector1">
              <a:avLst/>
            </a:prstGeom>
            <a:gradFill>
              <a:gsLst>
                <a:gs pos="0">
                  <a:srgbClr val="69D0D1"/>
                </a:gs>
                <a:gs pos="50000">
                  <a:srgbClr val="4AD0D2"/>
                </a:gs>
                <a:gs pos="100000">
                  <a:srgbClr val="3ABFC0"/>
                </a:gs>
              </a:gsLst>
              <a:lin ang="5400000" scaled="0"/>
            </a:gradFill>
            <a:ln cap="flat" cmpd="sng" w="9525">
              <a:solidFill>
                <a:srgbClr val="52CBC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7" name="Google Shape;197;p9"/>
            <p:cNvSpPr/>
            <p:nvPr/>
          </p:nvSpPr>
          <p:spPr>
            <a:xfrm>
              <a:off x="0" y="824136"/>
              <a:ext cx="6713552" cy="823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9"/>
            <p:cNvSpPr txBox="1"/>
            <p:nvPr/>
          </p:nvSpPr>
          <p:spPr>
            <a:xfrm>
              <a:off x="0" y="824136"/>
              <a:ext cx="6713552" cy="823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Al-Qur’an bersifat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qath’iyyu al-tsubut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sedangkan Hadis bersifat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dzanniyyu al-tsubut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endParaRPr/>
            </a:p>
          </p:txBody>
        </p:sp>
        <p:cxnSp>
          <p:nvCxnSpPr>
            <p:cNvPr id="199" name="Google Shape;199;p9"/>
            <p:cNvCxnSpPr/>
            <p:nvPr/>
          </p:nvCxnSpPr>
          <p:spPr>
            <a:xfrm>
              <a:off x="0" y="1647769"/>
              <a:ext cx="6713552" cy="0"/>
            </a:xfrm>
            <a:prstGeom prst="straightConnector1">
              <a:avLst/>
            </a:prstGeom>
            <a:gradFill>
              <a:gsLst>
                <a:gs pos="0">
                  <a:srgbClr val="65C998"/>
                </a:gs>
                <a:gs pos="50000">
                  <a:srgbClr val="46C78C"/>
                </a:gs>
                <a:gs pos="100000">
                  <a:srgbClr val="35B87B"/>
                </a:gs>
              </a:gsLst>
              <a:lin ang="5400000" scaled="0"/>
            </a:gradFill>
            <a:ln cap="flat" cmpd="sng" w="9525">
              <a:solidFill>
                <a:srgbClr val="4CC3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0" name="Google Shape;200;p9"/>
            <p:cNvSpPr/>
            <p:nvPr/>
          </p:nvSpPr>
          <p:spPr>
            <a:xfrm>
              <a:off x="0" y="1647769"/>
              <a:ext cx="6713552" cy="823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9"/>
            <p:cNvSpPr txBox="1"/>
            <p:nvPr/>
          </p:nvSpPr>
          <p:spPr>
            <a:xfrm>
              <a:off x="0" y="1647769"/>
              <a:ext cx="6713700" cy="82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Membaca al-Qur’an bernilai ibadah, sementara hadis tidak.</a:t>
              </a:r>
              <a:endParaRPr/>
            </a:p>
          </p:txBody>
        </p:sp>
        <p:cxnSp>
          <p:nvCxnSpPr>
            <p:cNvPr id="202" name="Google Shape;202;p9"/>
            <p:cNvCxnSpPr/>
            <p:nvPr/>
          </p:nvCxnSpPr>
          <p:spPr>
            <a:xfrm>
              <a:off x="0" y="2471402"/>
              <a:ext cx="6713552" cy="0"/>
            </a:xfrm>
            <a:prstGeom prst="straightConnector1">
              <a:avLst/>
            </a:prstGeom>
            <a:gradFill>
              <a:gsLst>
                <a:gs pos="0">
                  <a:srgbClr val="60C165"/>
                </a:gs>
                <a:gs pos="50000">
                  <a:srgbClr val="3FBF47"/>
                </a:gs>
                <a:gs pos="100000">
                  <a:srgbClr val="32AE3A"/>
                </a:gs>
              </a:gsLst>
              <a:lin ang="5400000" scaled="0"/>
            </a:gradFill>
            <a:ln cap="flat" cmpd="sng" w="9525">
              <a:solidFill>
                <a:srgbClr val="46BA4E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3" name="Google Shape;203;p9"/>
            <p:cNvSpPr/>
            <p:nvPr/>
          </p:nvSpPr>
          <p:spPr>
            <a:xfrm>
              <a:off x="0" y="2471402"/>
              <a:ext cx="6713552" cy="823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9"/>
            <p:cNvSpPr txBox="1"/>
            <p:nvPr/>
          </p:nvSpPr>
          <p:spPr>
            <a:xfrm>
              <a:off x="0" y="2471402"/>
              <a:ext cx="6713552" cy="823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Al-Qur’an lafadznya bernilai i’jaz, sementara hadis tidak.</a:t>
              </a:r>
              <a:endParaRPr/>
            </a:p>
          </p:txBody>
        </p:sp>
        <p:cxnSp>
          <p:nvCxnSpPr>
            <p:cNvPr id="205" name="Google Shape;205;p9"/>
            <p:cNvCxnSpPr/>
            <p:nvPr/>
          </p:nvCxnSpPr>
          <p:spPr>
            <a:xfrm>
              <a:off x="0" y="3295035"/>
              <a:ext cx="6713552" cy="0"/>
            </a:xfrm>
            <a:prstGeom prst="straightConnector1">
              <a:avLst/>
            </a:prstGeom>
            <a:gradFill>
              <a:gsLst>
                <a:gs pos="0">
                  <a:srgbClr val="7EB55F"/>
                </a:gs>
                <a:gs pos="50000">
                  <a:srgbClr val="6EB03F"/>
                </a:gs>
                <a:gs pos="100000">
                  <a:srgbClr val="5F9F34"/>
                </a:gs>
              </a:gsLst>
              <a:lin ang="5400000" scaled="0"/>
            </a:gradFill>
            <a:ln cap="flat" cmpd="sng" w="9525">
              <a:solidFill>
                <a:srgbClr val="6FAB4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6" name="Google Shape;206;p9"/>
            <p:cNvSpPr/>
            <p:nvPr/>
          </p:nvSpPr>
          <p:spPr>
            <a:xfrm>
              <a:off x="0" y="3295035"/>
              <a:ext cx="6713552" cy="823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9"/>
            <p:cNvSpPr txBox="1"/>
            <p:nvPr/>
          </p:nvSpPr>
          <p:spPr>
            <a:xfrm>
              <a:off x="0" y="3295035"/>
              <a:ext cx="6713552" cy="823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Al-Qur’an dijamin pemeliharaannya oleh Allah sendiri, sementara hadis tidak.  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>
            <p:ph type="title"/>
          </p:nvPr>
        </p:nvSpPr>
        <p:spPr>
          <a:xfrm>
            <a:off x="838200" y="365125"/>
            <a:ext cx="98422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lang="en-US" sz="4500"/>
              <a:t>Sejarah Kodifikasi Hadis</a:t>
            </a:r>
            <a:endParaRPr/>
          </a:p>
        </p:txBody>
      </p:sp>
      <p:cxnSp>
        <p:nvCxnSpPr>
          <p:cNvPr id="214" name="Google Shape;214;p10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215" name="Google Shape;215;p10"/>
          <p:cNvSpPr/>
          <p:nvPr/>
        </p:nvSpPr>
        <p:spPr>
          <a:xfrm>
            <a:off x="10903882" y="591829"/>
            <a:ext cx="139039" cy="139039"/>
          </a:xfrm>
          <a:custGeom>
            <a:rect b="b" l="l" r="r" t="t"/>
            <a:pathLst>
              <a:path extrusionOk="0" h="139039" w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1262662" y="821124"/>
            <a:ext cx="91138" cy="91138"/>
          </a:xfrm>
          <a:custGeom>
            <a:rect b="b" l="l" r="r" t="t"/>
            <a:pathLst>
              <a:path extrusionOk="0" h="91138" w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0888342" y="1336268"/>
            <a:ext cx="127714" cy="127714"/>
          </a:xfrm>
          <a:custGeom>
            <a:rect b="b" l="l" r="r" t="t"/>
            <a:pathLst>
              <a:path extrusionOk="0" h="127714" w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8" name="Google Shape;218;p10"/>
          <p:cNvGrpSpPr/>
          <p:nvPr/>
        </p:nvGrpSpPr>
        <p:grpSpPr>
          <a:xfrm>
            <a:off x="839021" y="1645277"/>
            <a:ext cx="10513956" cy="4351939"/>
            <a:chOff x="821" y="225917"/>
            <a:chExt cx="10513956" cy="4351939"/>
          </a:xfrm>
        </p:grpSpPr>
        <p:sp>
          <p:nvSpPr>
            <p:cNvPr id="219" name="Google Shape;219;p10"/>
            <p:cNvSpPr/>
            <p:nvPr/>
          </p:nvSpPr>
          <p:spPr>
            <a:xfrm>
              <a:off x="821" y="225917"/>
              <a:ext cx="3327201" cy="4343395"/>
            </a:xfrm>
            <a:prstGeom prst="rect">
              <a:avLst/>
            </a:prstGeom>
            <a:gradFill>
              <a:gsLst>
                <a:gs pos="0">
                  <a:srgbClr val="FFDC9B"/>
                </a:gs>
                <a:gs pos="50000">
                  <a:srgbClr val="FFD68D"/>
                </a:gs>
                <a:gs pos="100000">
                  <a:srgbClr val="FFD478"/>
                </a:gs>
              </a:gsLst>
              <a:lin ang="5400000" scaled="0"/>
            </a:gradFill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0"/>
            <p:cNvSpPr txBox="1"/>
            <p:nvPr/>
          </p:nvSpPr>
          <p:spPr>
            <a:xfrm>
              <a:off x="821" y="1963275"/>
              <a:ext cx="3327201" cy="26060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328650" spcFirstLastPara="1" rIns="3286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Semasa hidup Rasulullah, hadis masih berupa ucapan dan perbuatan Nabi yang didengar dan disaksikan langsung oleh para sahabat, sehingga penulisan hadis belum lumrah ketika itu.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821" y="401294"/>
              <a:ext cx="3327201" cy="15970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0"/>
            <p:cNvSpPr txBox="1"/>
            <p:nvPr/>
          </p:nvSpPr>
          <p:spPr>
            <a:xfrm>
              <a:off x="821" y="401294"/>
              <a:ext cx="3327201" cy="15970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328650" spcFirstLastPara="1" rIns="3286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600"/>
                <a:buFont typeface="Calibri"/>
                <a:buNone/>
              </a:pPr>
              <a:r>
                <a:rPr lang="en-US" sz="6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/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3594199" y="225917"/>
              <a:ext cx="3327201" cy="4351939"/>
            </a:xfrm>
            <a:prstGeom prst="rect">
              <a:avLst/>
            </a:prstGeom>
            <a:gradFill>
              <a:gsLst>
                <a:gs pos="0">
                  <a:srgbClr val="A1F4A6"/>
                </a:gs>
                <a:gs pos="50000">
                  <a:srgbClr val="92F198"/>
                </a:gs>
                <a:gs pos="100000">
                  <a:srgbClr val="7EF386"/>
                </a:gs>
              </a:gsLst>
              <a:lin ang="5400000" scaled="0"/>
            </a:gradFill>
            <a:ln cap="flat" cmpd="sng" w="9525">
              <a:solidFill>
                <a:srgbClr val="2EE84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0"/>
            <p:cNvSpPr txBox="1"/>
            <p:nvPr/>
          </p:nvSpPr>
          <p:spPr>
            <a:xfrm>
              <a:off x="3594199" y="1966693"/>
              <a:ext cx="3327201" cy="2611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328650" spcFirstLastPara="1" rIns="3286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Setelah Rasulullah wafat, perhatian terhadap pencarian dan penyebaran hadis ke segenap daerah Islam mulai tumbuh. Tetapi pada masa itupun penyampaian hadis masih berupa riwayat lisan.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3594199" y="405566"/>
              <a:ext cx="3327201" cy="15970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0"/>
            <p:cNvSpPr txBox="1"/>
            <p:nvPr/>
          </p:nvSpPr>
          <p:spPr>
            <a:xfrm>
              <a:off x="3594199" y="405566"/>
              <a:ext cx="3327201" cy="15970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328650" spcFirstLastPara="1" rIns="3286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600"/>
                <a:buFont typeface="Calibri"/>
                <a:buNone/>
              </a:pPr>
              <a:r>
                <a:rPr lang="en-US" sz="6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/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7187576" y="225917"/>
              <a:ext cx="3327201" cy="4351939"/>
            </a:xfrm>
            <a:prstGeom prst="rect">
              <a:avLst/>
            </a:prstGeom>
            <a:gradFill>
              <a:gsLst>
                <a:gs pos="0">
                  <a:srgbClr val="AFC9E9"/>
                </a:gs>
                <a:gs pos="50000">
                  <a:srgbClr val="A0BFE4"/>
                </a:gs>
                <a:gs pos="100000">
                  <a:srgbClr val="8FB7E4"/>
                </a:gs>
              </a:gsLst>
              <a:lin ang="5400000" scaled="0"/>
            </a:gradFill>
            <a:ln cap="flat" cmpd="sng" w="9525">
              <a:solidFill>
                <a:srgbClr val="5999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0"/>
            <p:cNvSpPr txBox="1"/>
            <p:nvPr/>
          </p:nvSpPr>
          <p:spPr>
            <a:xfrm>
              <a:off x="7187576" y="1966693"/>
              <a:ext cx="3327201" cy="2611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328650" spcFirstLastPara="1" rIns="3286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Ide pengumpulan dan penulisan hadis baru muncul pada masa pemerintahan Bani Umayyah, yaitu ketika Umar bin Abdul aziz menjabat sebagai khalifah pada awal abad ke-2 H.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7187576" y="405566"/>
              <a:ext cx="3327201" cy="15970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0"/>
            <p:cNvSpPr txBox="1"/>
            <p:nvPr/>
          </p:nvSpPr>
          <p:spPr>
            <a:xfrm>
              <a:off x="7187576" y="405566"/>
              <a:ext cx="3327201" cy="15970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328650" spcFirstLastPara="1" rIns="3286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600"/>
                <a:buFont typeface="Calibri"/>
                <a:buNone/>
              </a:pPr>
              <a:r>
                <a:rPr lang="en-US" sz="6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 txBox="1"/>
          <p:nvPr>
            <p:ph type="title"/>
          </p:nvPr>
        </p:nvSpPr>
        <p:spPr>
          <a:xfrm>
            <a:off x="838200" y="365125"/>
            <a:ext cx="105156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lang="en-US" sz="4500"/>
              <a:t>Proses Seleksi Hadis</a:t>
            </a:r>
            <a:endParaRPr/>
          </a:p>
        </p:txBody>
      </p:sp>
      <p:grpSp>
        <p:nvGrpSpPr>
          <p:cNvPr id="236" name="Google Shape;236;p11"/>
          <p:cNvGrpSpPr/>
          <p:nvPr/>
        </p:nvGrpSpPr>
        <p:grpSpPr>
          <a:xfrm>
            <a:off x="838228" y="1584107"/>
            <a:ext cx="10510436" cy="4351337"/>
            <a:chOff x="28" y="0"/>
            <a:chExt cx="10510436" cy="4351337"/>
          </a:xfrm>
        </p:grpSpPr>
        <p:sp>
          <p:nvSpPr>
            <p:cNvPr id="237" name="Google Shape;237;p11"/>
            <p:cNvSpPr/>
            <p:nvPr/>
          </p:nvSpPr>
          <p:spPr>
            <a:xfrm>
              <a:off x="28" y="0"/>
              <a:ext cx="9454797" cy="3481070"/>
            </a:xfrm>
            <a:prstGeom prst="chevron">
              <a:avLst>
                <a:gd fmla="val 40000" name="adj"/>
              </a:avLst>
            </a:prstGeom>
            <a:solidFill>
              <a:srgbClr val="92D05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1"/>
            <p:cNvSpPr/>
            <p:nvPr/>
          </p:nvSpPr>
          <p:spPr>
            <a:xfrm>
              <a:off x="2526413" y="870267"/>
              <a:ext cx="7984051" cy="348107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1"/>
            <p:cNvSpPr txBox="1"/>
            <p:nvPr/>
          </p:nvSpPr>
          <p:spPr>
            <a:xfrm>
              <a:off x="2628370" y="972224"/>
              <a:ext cx="7780137" cy="32771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6025" lIns="256025" spcFirstLastPara="1" rIns="256025" wrap="square" tIns="2560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rPr b="1" lang="en-US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Usaha seleksi hadis diarahkan kepada tiga unsur:</a:t>
              </a:r>
              <a:endParaRPr b="1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1260"/>
                </a:spcBef>
                <a:spcAft>
                  <a:spcPts val="0"/>
                </a:spcAft>
                <a:buClr>
                  <a:srgbClr val="FF0000"/>
                </a:buClr>
                <a:buSzPts val="2200"/>
                <a:buFont typeface="Calibri"/>
                <a:buNone/>
              </a:pPr>
              <a:r>
                <a:rPr b="0" i="0" lang="en-US" sz="2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1. Sanad:</a:t>
              </a:r>
              <a:r>
                <a:rPr b="0" i="0" lang="en-US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rangkaian para rawi yang menukilkan hadis</a:t>
              </a:r>
              <a:endParaRPr b="1" i="0" sz="1800" u="none" cap="none" strike="noStrik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30"/>
                </a:spcBef>
                <a:spcAft>
                  <a:spcPts val="0"/>
                </a:spcAft>
                <a:buClr>
                  <a:srgbClr val="FF0000"/>
                </a:buClr>
                <a:buSzPts val="2200"/>
                <a:buFont typeface="Arial"/>
                <a:buNone/>
              </a:pPr>
              <a:r>
                <a:rPr lang="en-US" sz="2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2. Rawi:</a:t>
              </a: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orang yang meriwayatkan hadis.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200"/>
                <a:buFont typeface="Arial"/>
                <a:buNone/>
              </a:pPr>
              <a:r>
                <a:rPr lang="en-US" sz="2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3. Matan:</a:t>
              </a: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konten yang </a:t>
              </a: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terdapat</a:t>
              </a: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dalam hadis.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"/>
          <p:cNvSpPr txBox="1"/>
          <p:nvPr>
            <p:ph type="title"/>
          </p:nvPr>
        </p:nvSpPr>
        <p:spPr>
          <a:xfrm>
            <a:off x="761999" y="381000"/>
            <a:ext cx="3305969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Contoh Hadis  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omputer on a table in front of a library&#10;&#10;Description automatically generated" id="245" name="Google Shape;245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153572"/>
            <a:ext cx="3305969" cy="2747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text&#10;&#10;Description automatically generated" id="246" name="Google Shape;24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5503" y="1626687"/>
            <a:ext cx="6705600" cy="3801732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grpSp>
        <p:nvGrpSpPr>
          <p:cNvPr id="247" name="Google Shape;247;p12"/>
          <p:cNvGrpSpPr/>
          <p:nvPr/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248" name="Google Shape;248;p12"/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2"/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0">
                  <a:srgbClr val="9CC2E5">
                    <a:alpha val="0"/>
                  </a:srgbClr>
                </a:gs>
                <a:gs pos="19000">
                  <a:srgbClr val="9CC2E5">
                    <a:alpha val="0"/>
                  </a:srgbClr>
                </a:gs>
                <a:gs pos="100000">
                  <a:srgbClr val="9CC2E5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"/>
          <p:cNvSpPr txBox="1"/>
          <p:nvPr>
            <p:ph idx="1" type="body"/>
          </p:nvPr>
        </p:nvSpPr>
        <p:spPr>
          <a:xfrm>
            <a:off x="964489" y="381000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en-US" sz="3000"/>
              <a:t>Sanad</a:t>
            </a:r>
            <a:endParaRPr/>
          </a:p>
        </p:txBody>
      </p:sp>
      <p:grpSp>
        <p:nvGrpSpPr>
          <p:cNvPr id="255" name="Google Shape;255;p13"/>
          <p:cNvGrpSpPr/>
          <p:nvPr/>
        </p:nvGrpSpPr>
        <p:grpSpPr>
          <a:xfrm>
            <a:off x="2357402" y="1829914"/>
            <a:ext cx="2319407" cy="4053834"/>
            <a:chOff x="1419189" y="1114"/>
            <a:chExt cx="2319407" cy="4053834"/>
          </a:xfrm>
        </p:grpSpPr>
        <p:sp>
          <p:nvSpPr>
            <p:cNvPr id="256" name="Google Shape;256;p13"/>
            <p:cNvSpPr/>
            <p:nvPr/>
          </p:nvSpPr>
          <p:spPr>
            <a:xfrm>
              <a:off x="1419189" y="1114"/>
              <a:ext cx="2297719" cy="648613"/>
            </a:xfrm>
            <a:prstGeom prst="roundRect">
              <a:avLst>
                <a:gd fmla="val 16667" name="adj"/>
              </a:avLst>
            </a:prstGeom>
            <a:solidFill>
              <a:srgbClr val="548135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3"/>
            <p:cNvSpPr txBox="1"/>
            <p:nvPr/>
          </p:nvSpPr>
          <p:spPr>
            <a:xfrm>
              <a:off x="1450852" y="32777"/>
              <a:ext cx="2234393" cy="585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99050" spcFirstLastPara="1" rIns="99050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n-US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انس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3"/>
            <p:cNvSpPr/>
            <p:nvPr/>
          </p:nvSpPr>
          <p:spPr>
            <a:xfrm>
              <a:off x="1419189" y="682158"/>
              <a:ext cx="2297719" cy="648613"/>
            </a:xfrm>
            <a:prstGeom prst="roundRect">
              <a:avLst>
                <a:gd fmla="val 16667" name="adj"/>
              </a:avLst>
            </a:prstGeom>
            <a:solidFill>
              <a:srgbClr val="548135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3"/>
            <p:cNvSpPr txBox="1"/>
            <p:nvPr/>
          </p:nvSpPr>
          <p:spPr>
            <a:xfrm>
              <a:off x="1450852" y="713821"/>
              <a:ext cx="2234393" cy="585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99050" spcFirstLastPara="1" rIns="99050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n-US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ابو قلابة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1419189" y="1363202"/>
              <a:ext cx="2297719" cy="648613"/>
            </a:xfrm>
            <a:prstGeom prst="roundRect">
              <a:avLst>
                <a:gd fmla="val 16667" name="adj"/>
              </a:avLst>
            </a:prstGeom>
            <a:solidFill>
              <a:srgbClr val="548135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3"/>
            <p:cNvSpPr txBox="1"/>
            <p:nvPr/>
          </p:nvSpPr>
          <p:spPr>
            <a:xfrm>
              <a:off x="1450852" y="1394865"/>
              <a:ext cx="2234393" cy="585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99050" spcFirstLastPara="1" rIns="99050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n-US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ايوب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3"/>
            <p:cNvSpPr/>
            <p:nvPr/>
          </p:nvSpPr>
          <p:spPr>
            <a:xfrm>
              <a:off x="1419189" y="2044246"/>
              <a:ext cx="2276032" cy="648613"/>
            </a:xfrm>
            <a:prstGeom prst="roundRect">
              <a:avLst>
                <a:gd fmla="val 16667" name="adj"/>
              </a:avLst>
            </a:prstGeom>
            <a:solidFill>
              <a:srgbClr val="548135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3"/>
            <p:cNvSpPr txBox="1"/>
            <p:nvPr/>
          </p:nvSpPr>
          <p:spPr>
            <a:xfrm>
              <a:off x="1450852" y="2075909"/>
              <a:ext cx="2212706" cy="585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99050" spcFirstLastPara="1" rIns="99050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n-US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عبد الوهاب الثقفي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1419189" y="2725291"/>
              <a:ext cx="2319407" cy="648613"/>
            </a:xfrm>
            <a:prstGeom prst="roundRect">
              <a:avLst>
                <a:gd fmla="val 16667" name="adj"/>
              </a:avLst>
            </a:prstGeom>
            <a:solidFill>
              <a:srgbClr val="548135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3"/>
            <p:cNvSpPr txBox="1"/>
            <p:nvPr/>
          </p:nvSpPr>
          <p:spPr>
            <a:xfrm>
              <a:off x="1450852" y="2756954"/>
              <a:ext cx="2256081" cy="585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625" lIns="95250" spcFirstLastPara="1" rIns="95250" wrap="square" tIns="4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محمد بن المثنى</a:t>
              </a:r>
              <a:endParaRPr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3"/>
            <p:cNvSpPr/>
            <p:nvPr/>
          </p:nvSpPr>
          <p:spPr>
            <a:xfrm>
              <a:off x="1419189" y="3406335"/>
              <a:ext cx="2319407" cy="648613"/>
            </a:xfrm>
            <a:prstGeom prst="roundRect">
              <a:avLst>
                <a:gd fmla="val 16667" name="adj"/>
              </a:avLst>
            </a:prstGeom>
            <a:solidFill>
              <a:srgbClr val="548135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3"/>
            <p:cNvSpPr txBox="1"/>
            <p:nvPr/>
          </p:nvSpPr>
          <p:spPr>
            <a:xfrm>
              <a:off x="1450852" y="3437998"/>
              <a:ext cx="2256081" cy="585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625" lIns="95250" spcFirstLastPara="1" rIns="95250" wrap="square" tIns="4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الامام البخاري</a:t>
              </a:r>
              <a:endParaRPr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13"/>
          <p:cNvSpPr txBox="1"/>
          <p:nvPr>
            <p:ph idx="3" type="body"/>
          </p:nvPr>
        </p:nvSpPr>
        <p:spPr>
          <a:xfrm>
            <a:off x="6172200" y="381000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en-US" sz="3000"/>
              <a:t>Matan</a:t>
            </a:r>
            <a:endParaRPr/>
          </a:p>
        </p:txBody>
      </p:sp>
      <p:pic>
        <p:nvPicPr>
          <p:cNvPr id="269" name="Google Shape;269;p13"/>
          <p:cNvPicPr preferRelativeResize="0"/>
          <p:nvPr>
            <p:ph idx="4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794" y="1828800"/>
            <a:ext cx="4572000" cy="4183857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 flipH="1" rot="10800000">
            <a:off x="-2" y="0"/>
            <a:ext cx="12192000" cy="4783510"/>
          </a:xfrm>
          <a:custGeom>
            <a:rect b="b" l="l" r="r" t="t"/>
            <a:pathLst>
              <a:path extrusionOk="0" h="4783510" w="12192000">
                <a:moveTo>
                  <a:pt x="54039" y="133"/>
                </a:moveTo>
                <a:cubicBezTo>
                  <a:pt x="63704" y="2639"/>
                  <a:pt x="62723" y="39358"/>
                  <a:pt x="83989" y="21326"/>
                </a:cubicBezTo>
                <a:cubicBezTo>
                  <a:pt x="105981" y="-11024"/>
                  <a:pt x="111081" y="45279"/>
                  <a:pt x="127696" y="48217"/>
                </a:cubicBezTo>
                <a:cubicBezTo>
                  <a:pt x="144311" y="51155"/>
                  <a:pt x="175067" y="46490"/>
                  <a:pt x="195328" y="60745"/>
                </a:cubicBezTo>
                <a:cubicBezTo>
                  <a:pt x="202114" y="49815"/>
                  <a:pt x="211298" y="72404"/>
                  <a:pt x="217130" y="52754"/>
                </a:cubicBezTo>
                <a:cubicBezTo>
                  <a:pt x="224172" y="55476"/>
                  <a:pt x="227826" y="61398"/>
                  <a:pt x="232932" y="50560"/>
                </a:cubicBezTo>
                <a:cubicBezTo>
                  <a:pt x="248268" y="92855"/>
                  <a:pt x="280981" y="52963"/>
                  <a:pt x="296960" y="85674"/>
                </a:cubicBezTo>
                <a:cubicBezTo>
                  <a:pt x="299830" y="67582"/>
                  <a:pt x="319291" y="68613"/>
                  <a:pt x="329442" y="61820"/>
                </a:cubicBezTo>
                <a:cubicBezTo>
                  <a:pt x="298380" y="131083"/>
                  <a:pt x="368905" y="57302"/>
                  <a:pt x="386012" y="80741"/>
                </a:cubicBezTo>
                <a:cubicBezTo>
                  <a:pt x="377510" y="29578"/>
                  <a:pt x="414386" y="72354"/>
                  <a:pt x="425496" y="47729"/>
                </a:cubicBezTo>
                <a:cubicBezTo>
                  <a:pt x="437040" y="71659"/>
                  <a:pt x="445854" y="45812"/>
                  <a:pt x="459561" y="55824"/>
                </a:cubicBezTo>
                <a:cubicBezTo>
                  <a:pt x="489863" y="61969"/>
                  <a:pt x="520202" y="89712"/>
                  <a:pt x="559233" y="72799"/>
                </a:cubicBezTo>
                <a:cubicBezTo>
                  <a:pt x="577813" y="147164"/>
                  <a:pt x="623281" y="104139"/>
                  <a:pt x="661345" y="147481"/>
                </a:cubicBezTo>
                <a:cubicBezTo>
                  <a:pt x="683250" y="156781"/>
                  <a:pt x="717059" y="121215"/>
                  <a:pt x="725095" y="161274"/>
                </a:cubicBezTo>
                <a:cubicBezTo>
                  <a:pt x="734778" y="137222"/>
                  <a:pt x="744590" y="176885"/>
                  <a:pt x="755536" y="180724"/>
                </a:cubicBezTo>
                <a:cubicBezTo>
                  <a:pt x="764056" y="165505"/>
                  <a:pt x="768536" y="179043"/>
                  <a:pt x="776480" y="182273"/>
                </a:cubicBezTo>
                <a:cubicBezTo>
                  <a:pt x="779946" y="172829"/>
                  <a:pt x="786646" y="173541"/>
                  <a:pt x="789058" y="184824"/>
                </a:cubicBezTo>
                <a:cubicBezTo>
                  <a:pt x="786138" y="210571"/>
                  <a:pt x="809228" y="198414"/>
                  <a:pt x="811171" y="216295"/>
                </a:cubicBezTo>
                <a:cubicBezTo>
                  <a:pt x="821323" y="219407"/>
                  <a:pt x="856662" y="208499"/>
                  <a:pt x="878029" y="215023"/>
                </a:cubicBezTo>
                <a:lnTo>
                  <a:pt x="884769" y="220986"/>
                </a:lnTo>
                <a:lnTo>
                  <a:pt x="1600387" y="354356"/>
                </a:lnTo>
                <a:lnTo>
                  <a:pt x="9012952" y="1139547"/>
                </a:lnTo>
                <a:lnTo>
                  <a:pt x="11269135" y="1154978"/>
                </a:lnTo>
                <a:lnTo>
                  <a:pt x="11276593" y="1158504"/>
                </a:lnTo>
                <a:cubicBezTo>
                  <a:pt x="11284278" y="1160597"/>
                  <a:pt x="11291853" y="1160653"/>
                  <a:pt x="11298713" y="1157049"/>
                </a:cubicBezTo>
                <a:cubicBezTo>
                  <a:pt x="11308980" y="1128196"/>
                  <a:pt x="11367293" y="1148970"/>
                  <a:pt x="11380829" y="1144822"/>
                </a:cubicBezTo>
                <a:cubicBezTo>
                  <a:pt x="11382772" y="1126940"/>
                  <a:pt x="11405862" y="1139097"/>
                  <a:pt x="11402942" y="1113350"/>
                </a:cubicBezTo>
                <a:cubicBezTo>
                  <a:pt x="11405355" y="1102067"/>
                  <a:pt x="11412054" y="1101355"/>
                  <a:pt x="11415520" y="1110800"/>
                </a:cubicBezTo>
                <a:cubicBezTo>
                  <a:pt x="11423464" y="1107569"/>
                  <a:pt x="11427945" y="1094031"/>
                  <a:pt x="11436464" y="1109251"/>
                </a:cubicBezTo>
                <a:cubicBezTo>
                  <a:pt x="11447410" y="1105411"/>
                  <a:pt x="11457222" y="1065748"/>
                  <a:pt x="11466905" y="1089800"/>
                </a:cubicBezTo>
                <a:cubicBezTo>
                  <a:pt x="11474941" y="1049741"/>
                  <a:pt x="11508751" y="1085307"/>
                  <a:pt x="11530655" y="1076007"/>
                </a:cubicBezTo>
                <a:cubicBezTo>
                  <a:pt x="11568719" y="1032666"/>
                  <a:pt x="11614187" y="1075691"/>
                  <a:pt x="11632767" y="1001326"/>
                </a:cubicBezTo>
                <a:cubicBezTo>
                  <a:pt x="11671799" y="1018238"/>
                  <a:pt x="11678297" y="1004118"/>
                  <a:pt x="11708599" y="997972"/>
                </a:cubicBezTo>
                <a:cubicBezTo>
                  <a:pt x="11722307" y="987960"/>
                  <a:pt x="11754960" y="1000186"/>
                  <a:pt x="11766504" y="976255"/>
                </a:cubicBezTo>
                <a:cubicBezTo>
                  <a:pt x="11775270" y="975867"/>
                  <a:pt x="11771643" y="982199"/>
                  <a:pt x="11781629" y="985430"/>
                </a:cubicBezTo>
                <a:cubicBezTo>
                  <a:pt x="11791615" y="988661"/>
                  <a:pt x="11808655" y="993119"/>
                  <a:pt x="11826422" y="995644"/>
                </a:cubicBezTo>
                <a:cubicBezTo>
                  <a:pt x="11847845" y="1001968"/>
                  <a:pt x="11866122" y="1002202"/>
                  <a:pt x="11891635" y="997172"/>
                </a:cubicBezTo>
                <a:cubicBezTo>
                  <a:pt x="11907614" y="964462"/>
                  <a:pt x="11943732" y="1021381"/>
                  <a:pt x="11959068" y="979087"/>
                </a:cubicBezTo>
                <a:cubicBezTo>
                  <a:pt x="11964175" y="989925"/>
                  <a:pt x="11967829" y="984002"/>
                  <a:pt x="11974871" y="981280"/>
                </a:cubicBezTo>
                <a:cubicBezTo>
                  <a:pt x="11980703" y="1000930"/>
                  <a:pt x="11989887" y="978341"/>
                  <a:pt x="11996673" y="989271"/>
                </a:cubicBezTo>
                <a:cubicBezTo>
                  <a:pt x="12016933" y="975016"/>
                  <a:pt x="12047689" y="979681"/>
                  <a:pt x="12064304" y="976743"/>
                </a:cubicBezTo>
                <a:cubicBezTo>
                  <a:pt x="12080919" y="973805"/>
                  <a:pt x="12075802" y="961775"/>
                  <a:pt x="12108011" y="949852"/>
                </a:cubicBezTo>
                <a:cubicBezTo>
                  <a:pt x="12129277" y="967884"/>
                  <a:pt x="12128297" y="931165"/>
                  <a:pt x="12137961" y="928659"/>
                </a:cubicBezTo>
                <a:cubicBezTo>
                  <a:pt x="12141183" y="927823"/>
                  <a:pt x="12145587" y="930789"/>
                  <a:pt x="12152392" y="940852"/>
                </a:cubicBezTo>
                <a:cubicBezTo>
                  <a:pt x="12158285" y="946241"/>
                  <a:pt x="12172554" y="936871"/>
                  <a:pt x="12187275" y="939175"/>
                </a:cubicBezTo>
                <a:lnTo>
                  <a:pt x="12192000" y="932202"/>
                </a:lnTo>
                <a:lnTo>
                  <a:pt x="12192000" y="1423622"/>
                </a:lnTo>
                <a:lnTo>
                  <a:pt x="12192000" y="2783600"/>
                </a:lnTo>
                <a:lnTo>
                  <a:pt x="12192000" y="4783510"/>
                </a:lnTo>
                <a:lnTo>
                  <a:pt x="2" y="4783510"/>
                </a:lnTo>
                <a:lnTo>
                  <a:pt x="2" y="1855074"/>
                </a:lnTo>
                <a:lnTo>
                  <a:pt x="0" y="1855074"/>
                </a:lnTo>
                <a:lnTo>
                  <a:pt x="0" y="3676"/>
                </a:lnTo>
                <a:lnTo>
                  <a:pt x="4725" y="10649"/>
                </a:lnTo>
                <a:cubicBezTo>
                  <a:pt x="19446" y="8345"/>
                  <a:pt x="33716" y="17715"/>
                  <a:pt x="39608" y="12325"/>
                </a:cubicBezTo>
                <a:cubicBezTo>
                  <a:pt x="46413" y="2263"/>
                  <a:pt x="50817" y="-703"/>
                  <a:pt x="54039" y="133"/>
                </a:cubicBez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525418" y="493509"/>
            <a:ext cx="11165080" cy="5832861"/>
          </a:xfrm>
          <a:custGeom>
            <a:rect b="b" l="l" r="r" t="t"/>
            <a:pathLst>
              <a:path extrusionOk="0"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5F6F5"/>
          </a:solidFill>
          <a:ln>
            <a:noFill/>
          </a:ln>
          <a:effectLst>
            <a:outerShdw blurRad="38100" rotWithShape="0" algn="tl" dir="4800000" dist="2540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 Pembagian Hadis I</a:t>
            </a:r>
            <a:endParaRPr/>
          </a:p>
        </p:txBody>
      </p:sp>
      <p:grpSp>
        <p:nvGrpSpPr>
          <p:cNvPr id="278" name="Google Shape;278;p14"/>
          <p:cNvGrpSpPr/>
          <p:nvPr/>
        </p:nvGrpSpPr>
        <p:grpSpPr>
          <a:xfrm>
            <a:off x="841087" y="2093329"/>
            <a:ext cx="10509824" cy="3506365"/>
            <a:chOff x="2887" y="267704"/>
            <a:chExt cx="10509824" cy="3506365"/>
          </a:xfrm>
        </p:grpSpPr>
        <p:sp>
          <p:nvSpPr>
            <p:cNvPr id="279" name="Google Shape;279;p14"/>
            <p:cNvSpPr/>
            <p:nvPr/>
          </p:nvSpPr>
          <p:spPr>
            <a:xfrm>
              <a:off x="5257800" y="1716616"/>
              <a:ext cx="3731280" cy="60854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280" name="Google Shape;280;p14"/>
            <p:cNvSpPr/>
            <p:nvPr/>
          </p:nvSpPr>
          <p:spPr>
            <a:xfrm>
              <a:off x="5212080" y="1716616"/>
              <a:ext cx="91440" cy="608542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60000"/>
                  </a:lnTo>
                  <a:lnTo>
                    <a:pt x="132730" y="60000"/>
                  </a:lnTo>
                  <a:lnTo>
                    <a:pt x="132730" y="120000"/>
                  </a:lnTo>
                </a:path>
              </a:pathLst>
            </a:custGeom>
            <a:noFill/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281" name="Google Shape;281;p14"/>
            <p:cNvSpPr/>
            <p:nvPr/>
          </p:nvSpPr>
          <p:spPr>
            <a:xfrm>
              <a:off x="1581940" y="1716616"/>
              <a:ext cx="3675859" cy="608542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282" name="Google Shape;282;p14"/>
            <p:cNvSpPr/>
            <p:nvPr/>
          </p:nvSpPr>
          <p:spPr>
            <a:xfrm>
              <a:off x="2779827" y="267704"/>
              <a:ext cx="4955944" cy="1448911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4"/>
            <p:cNvSpPr txBox="1"/>
            <p:nvPr/>
          </p:nvSpPr>
          <p:spPr>
            <a:xfrm>
              <a:off x="2779827" y="267704"/>
              <a:ext cx="4955944" cy="1448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lang="en-US" sz="3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Dari segi kuantitas rawinya, hadis dibagi menjadi tiga jenis:</a:t>
              </a: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2887" y="2325158"/>
              <a:ext cx="3158105" cy="1448911"/>
            </a:xfrm>
            <a:prstGeom prst="rect">
              <a:avLst/>
            </a:prstGeom>
            <a:solidFill>
              <a:schemeClr val="accent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4"/>
            <p:cNvSpPr txBox="1"/>
            <p:nvPr/>
          </p:nvSpPr>
          <p:spPr>
            <a:xfrm>
              <a:off x="2887" y="2325158"/>
              <a:ext cx="3158105" cy="1448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i="1" lang="en-US" sz="3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Hadis mutawatir</a:t>
              </a: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3769536" y="2325158"/>
              <a:ext cx="3087369" cy="1448911"/>
            </a:xfrm>
            <a:prstGeom prst="rect">
              <a:avLst/>
            </a:prstGeom>
            <a:solidFill>
              <a:schemeClr val="accent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4"/>
            <p:cNvSpPr txBox="1"/>
            <p:nvPr/>
          </p:nvSpPr>
          <p:spPr>
            <a:xfrm>
              <a:off x="3769536" y="2325158"/>
              <a:ext cx="3087369" cy="1448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i="1" lang="en-US" sz="3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Hadis masyhur</a:t>
              </a:r>
              <a:r>
                <a:rPr lang="en-US" sz="3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7465448" y="2325158"/>
              <a:ext cx="3047263" cy="1448911"/>
            </a:xfrm>
            <a:prstGeom prst="rect">
              <a:avLst/>
            </a:prstGeom>
            <a:solidFill>
              <a:schemeClr val="accent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4"/>
            <p:cNvSpPr txBox="1"/>
            <p:nvPr/>
          </p:nvSpPr>
          <p:spPr>
            <a:xfrm>
              <a:off x="7465448" y="2325158"/>
              <a:ext cx="3047263" cy="1448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i="1" lang="en-US" sz="3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Hadis ahad</a:t>
              </a: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 flipH="1" rot="10800000">
            <a:off x="-2" y="0"/>
            <a:ext cx="12192000" cy="4783510"/>
          </a:xfrm>
          <a:custGeom>
            <a:rect b="b" l="l" r="r" t="t"/>
            <a:pathLst>
              <a:path extrusionOk="0" h="4783510" w="12192000">
                <a:moveTo>
                  <a:pt x="54039" y="133"/>
                </a:moveTo>
                <a:cubicBezTo>
                  <a:pt x="63704" y="2639"/>
                  <a:pt x="62723" y="39358"/>
                  <a:pt x="83989" y="21326"/>
                </a:cubicBezTo>
                <a:cubicBezTo>
                  <a:pt x="105981" y="-11024"/>
                  <a:pt x="111081" y="45279"/>
                  <a:pt x="127696" y="48217"/>
                </a:cubicBezTo>
                <a:cubicBezTo>
                  <a:pt x="144311" y="51155"/>
                  <a:pt x="175067" y="46490"/>
                  <a:pt x="195328" y="60745"/>
                </a:cubicBezTo>
                <a:cubicBezTo>
                  <a:pt x="202114" y="49815"/>
                  <a:pt x="211298" y="72404"/>
                  <a:pt x="217130" y="52754"/>
                </a:cubicBezTo>
                <a:cubicBezTo>
                  <a:pt x="224172" y="55476"/>
                  <a:pt x="227826" y="61398"/>
                  <a:pt x="232932" y="50560"/>
                </a:cubicBezTo>
                <a:cubicBezTo>
                  <a:pt x="248268" y="92855"/>
                  <a:pt x="280981" y="52963"/>
                  <a:pt x="296960" y="85674"/>
                </a:cubicBezTo>
                <a:cubicBezTo>
                  <a:pt x="299830" y="67582"/>
                  <a:pt x="319291" y="68613"/>
                  <a:pt x="329442" y="61820"/>
                </a:cubicBezTo>
                <a:cubicBezTo>
                  <a:pt x="298380" y="131083"/>
                  <a:pt x="368905" y="57302"/>
                  <a:pt x="386012" y="80741"/>
                </a:cubicBezTo>
                <a:cubicBezTo>
                  <a:pt x="377510" y="29578"/>
                  <a:pt x="414386" y="72354"/>
                  <a:pt x="425496" y="47729"/>
                </a:cubicBezTo>
                <a:cubicBezTo>
                  <a:pt x="437040" y="71659"/>
                  <a:pt x="445854" y="45812"/>
                  <a:pt x="459561" y="55824"/>
                </a:cubicBezTo>
                <a:cubicBezTo>
                  <a:pt x="489863" y="61969"/>
                  <a:pt x="520202" y="89712"/>
                  <a:pt x="559233" y="72799"/>
                </a:cubicBezTo>
                <a:cubicBezTo>
                  <a:pt x="577813" y="147164"/>
                  <a:pt x="623281" y="104139"/>
                  <a:pt x="661345" y="147481"/>
                </a:cubicBezTo>
                <a:cubicBezTo>
                  <a:pt x="683250" y="156781"/>
                  <a:pt x="717059" y="121215"/>
                  <a:pt x="725095" y="161274"/>
                </a:cubicBezTo>
                <a:cubicBezTo>
                  <a:pt x="734778" y="137222"/>
                  <a:pt x="744590" y="176885"/>
                  <a:pt x="755536" y="180724"/>
                </a:cubicBezTo>
                <a:cubicBezTo>
                  <a:pt x="764056" y="165505"/>
                  <a:pt x="768536" y="179043"/>
                  <a:pt x="776480" y="182273"/>
                </a:cubicBezTo>
                <a:cubicBezTo>
                  <a:pt x="779946" y="172829"/>
                  <a:pt x="786646" y="173541"/>
                  <a:pt x="789058" y="184824"/>
                </a:cubicBezTo>
                <a:cubicBezTo>
                  <a:pt x="786138" y="210571"/>
                  <a:pt x="809228" y="198414"/>
                  <a:pt x="811171" y="216295"/>
                </a:cubicBezTo>
                <a:cubicBezTo>
                  <a:pt x="821323" y="219407"/>
                  <a:pt x="856662" y="208499"/>
                  <a:pt x="878029" y="215023"/>
                </a:cubicBezTo>
                <a:lnTo>
                  <a:pt x="884769" y="220986"/>
                </a:lnTo>
                <a:lnTo>
                  <a:pt x="1600387" y="354356"/>
                </a:lnTo>
                <a:lnTo>
                  <a:pt x="9012952" y="1139547"/>
                </a:lnTo>
                <a:lnTo>
                  <a:pt x="11269135" y="1154978"/>
                </a:lnTo>
                <a:lnTo>
                  <a:pt x="11276593" y="1158504"/>
                </a:lnTo>
                <a:cubicBezTo>
                  <a:pt x="11284278" y="1160597"/>
                  <a:pt x="11291853" y="1160653"/>
                  <a:pt x="11298713" y="1157049"/>
                </a:cubicBezTo>
                <a:cubicBezTo>
                  <a:pt x="11308980" y="1128196"/>
                  <a:pt x="11367293" y="1148970"/>
                  <a:pt x="11380829" y="1144822"/>
                </a:cubicBezTo>
                <a:cubicBezTo>
                  <a:pt x="11382772" y="1126940"/>
                  <a:pt x="11405862" y="1139097"/>
                  <a:pt x="11402942" y="1113350"/>
                </a:cubicBezTo>
                <a:cubicBezTo>
                  <a:pt x="11405355" y="1102067"/>
                  <a:pt x="11412054" y="1101355"/>
                  <a:pt x="11415520" y="1110800"/>
                </a:cubicBezTo>
                <a:cubicBezTo>
                  <a:pt x="11423464" y="1107569"/>
                  <a:pt x="11427945" y="1094031"/>
                  <a:pt x="11436464" y="1109251"/>
                </a:cubicBezTo>
                <a:cubicBezTo>
                  <a:pt x="11447410" y="1105411"/>
                  <a:pt x="11457222" y="1065748"/>
                  <a:pt x="11466905" y="1089800"/>
                </a:cubicBezTo>
                <a:cubicBezTo>
                  <a:pt x="11474941" y="1049741"/>
                  <a:pt x="11508751" y="1085307"/>
                  <a:pt x="11530655" y="1076007"/>
                </a:cubicBezTo>
                <a:cubicBezTo>
                  <a:pt x="11568719" y="1032666"/>
                  <a:pt x="11614187" y="1075691"/>
                  <a:pt x="11632767" y="1001326"/>
                </a:cubicBezTo>
                <a:cubicBezTo>
                  <a:pt x="11671799" y="1018238"/>
                  <a:pt x="11678297" y="1004118"/>
                  <a:pt x="11708599" y="997972"/>
                </a:cubicBezTo>
                <a:cubicBezTo>
                  <a:pt x="11722307" y="987960"/>
                  <a:pt x="11754960" y="1000186"/>
                  <a:pt x="11766504" y="976255"/>
                </a:cubicBezTo>
                <a:cubicBezTo>
                  <a:pt x="11775270" y="975867"/>
                  <a:pt x="11771643" y="982199"/>
                  <a:pt x="11781629" y="985430"/>
                </a:cubicBezTo>
                <a:cubicBezTo>
                  <a:pt x="11791615" y="988661"/>
                  <a:pt x="11808655" y="993119"/>
                  <a:pt x="11826422" y="995644"/>
                </a:cubicBezTo>
                <a:cubicBezTo>
                  <a:pt x="11847845" y="1001968"/>
                  <a:pt x="11866122" y="1002202"/>
                  <a:pt x="11891635" y="997172"/>
                </a:cubicBezTo>
                <a:cubicBezTo>
                  <a:pt x="11907614" y="964462"/>
                  <a:pt x="11943732" y="1021381"/>
                  <a:pt x="11959068" y="979087"/>
                </a:cubicBezTo>
                <a:cubicBezTo>
                  <a:pt x="11964175" y="989925"/>
                  <a:pt x="11967829" y="984002"/>
                  <a:pt x="11974871" y="981280"/>
                </a:cubicBezTo>
                <a:cubicBezTo>
                  <a:pt x="11980703" y="1000930"/>
                  <a:pt x="11989887" y="978341"/>
                  <a:pt x="11996673" y="989271"/>
                </a:cubicBezTo>
                <a:cubicBezTo>
                  <a:pt x="12016933" y="975016"/>
                  <a:pt x="12047689" y="979681"/>
                  <a:pt x="12064304" y="976743"/>
                </a:cubicBezTo>
                <a:cubicBezTo>
                  <a:pt x="12080919" y="973805"/>
                  <a:pt x="12075802" y="961775"/>
                  <a:pt x="12108011" y="949852"/>
                </a:cubicBezTo>
                <a:cubicBezTo>
                  <a:pt x="12129277" y="967884"/>
                  <a:pt x="12128297" y="931165"/>
                  <a:pt x="12137961" y="928659"/>
                </a:cubicBezTo>
                <a:cubicBezTo>
                  <a:pt x="12141183" y="927823"/>
                  <a:pt x="12145587" y="930789"/>
                  <a:pt x="12152392" y="940852"/>
                </a:cubicBezTo>
                <a:cubicBezTo>
                  <a:pt x="12158285" y="946241"/>
                  <a:pt x="12172554" y="936871"/>
                  <a:pt x="12187275" y="939175"/>
                </a:cubicBezTo>
                <a:lnTo>
                  <a:pt x="12192000" y="932202"/>
                </a:lnTo>
                <a:lnTo>
                  <a:pt x="12192000" y="1423622"/>
                </a:lnTo>
                <a:lnTo>
                  <a:pt x="12192000" y="2783600"/>
                </a:lnTo>
                <a:lnTo>
                  <a:pt x="12192000" y="4783510"/>
                </a:lnTo>
                <a:lnTo>
                  <a:pt x="2" y="4783510"/>
                </a:lnTo>
                <a:lnTo>
                  <a:pt x="2" y="1855074"/>
                </a:lnTo>
                <a:lnTo>
                  <a:pt x="0" y="1855074"/>
                </a:lnTo>
                <a:lnTo>
                  <a:pt x="0" y="3676"/>
                </a:lnTo>
                <a:lnTo>
                  <a:pt x="4725" y="10649"/>
                </a:lnTo>
                <a:cubicBezTo>
                  <a:pt x="19446" y="8345"/>
                  <a:pt x="33716" y="17715"/>
                  <a:pt x="39608" y="12325"/>
                </a:cubicBezTo>
                <a:cubicBezTo>
                  <a:pt x="46413" y="2263"/>
                  <a:pt x="50817" y="-703"/>
                  <a:pt x="54039" y="133"/>
                </a:cubicBez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525418" y="493509"/>
            <a:ext cx="11165080" cy="5832861"/>
          </a:xfrm>
          <a:custGeom>
            <a:rect b="b" l="l" r="r" t="t"/>
            <a:pathLst>
              <a:path extrusionOk="0"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5F6F5"/>
          </a:solidFill>
          <a:ln>
            <a:noFill/>
          </a:ln>
          <a:effectLst>
            <a:outerShdw blurRad="38100" rotWithShape="0" algn="tl" dir="4800000" dist="2540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Pembagian Hadis II</a:t>
            </a:r>
            <a:endParaRPr/>
          </a:p>
        </p:txBody>
      </p:sp>
      <p:grpSp>
        <p:nvGrpSpPr>
          <p:cNvPr id="298" name="Google Shape;298;p15"/>
          <p:cNvGrpSpPr/>
          <p:nvPr/>
        </p:nvGrpSpPr>
        <p:grpSpPr>
          <a:xfrm>
            <a:off x="838906" y="2065072"/>
            <a:ext cx="10514187" cy="3602568"/>
            <a:chOff x="706" y="374384"/>
            <a:chExt cx="10514187" cy="3602568"/>
          </a:xfrm>
        </p:grpSpPr>
        <p:sp>
          <p:nvSpPr>
            <p:cNvPr id="299" name="Google Shape;299;p15"/>
            <p:cNvSpPr/>
            <p:nvPr/>
          </p:nvSpPr>
          <p:spPr>
            <a:xfrm>
              <a:off x="5257800" y="1794183"/>
              <a:ext cx="3719932" cy="645608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300" name="Google Shape;300;p15"/>
            <p:cNvSpPr/>
            <p:nvPr/>
          </p:nvSpPr>
          <p:spPr>
            <a:xfrm>
              <a:off x="5212080" y="1794183"/>
              <a:ext cx="91440" cy="645608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noFill/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301" name="Google Shape;301;p15"/>
            <p:cNvSpPr/>
            <p:nvPr/>
          </p:nvSpPr>
          <p:spPr>
            <a:xfrm>
              <a:off x="1537867" y="1794183"/>
              <a:ext cx="3719932" cy="645608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302" name="Google Shape;302;p15"/>
            <p:cNvSpPr/>
            <p:nvPr/>
          </p:nvSpPr>
          <p:spPr>
            <a:xfrm>
              <a:off x="3115734" y="374384"/>
              <a:ext cx="4284131" cy="1419799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5"/>
            <p:cNvSpPr txBox="1"/>
            <p:nvPr/>
          </p:nvSpPr>
          <p:spPr>
            <a:xfrm>
              <a:off x="3115734" y="374384"/>
              <a:ext cx="4284131" cy="14197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lang="en-US" sz="3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Dari segi kualitasnya, hadis dibagi menjadi tiga jenis:</a:t>
              </a: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706" y="2439791"/>
              <a:ext cx="3074323" cy="1537161"/>
            </a:xfrm>
            <a:prstGeom prst="rect">
              <a:avLst/>
            </a:prstGeom>
            <a:solidFill>
              <a:schemeClr val="accent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 txBox="1"/>
            <p:nvPr/>
          </p:nvSpPr>
          <p:spPr>
            <a:xfrm>
              <a:off x="706" y="2439791"/>
              <a:ext cx="3074323" cy="153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i="1" lang="en-US" sz="3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Hadis sahih</a:t>
              </a: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3720638" y="2439791"/>
              <a:ext cx="3074323" cy="1537161"/>
            </a:xfrm>
            <a:prstGeom prst="rect">
              <a:avLst/>
            </a:prstGeom>
            <a:solidFill>
              <a:schemeClr val="accent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 txBox="1"/>
            <p:nvPr/>
          </p:nvSpPr>
          <p:spPr>
            <a:xfrm>
              <a:off x="3720638" y="2439791"/>
              <a:ext cx="3074323" cy="153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i="1" lang="en-US" sz="3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Hadis hasan</a:t>
              </a: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7440570" y="2439791"/>
              <a:ext cx="3074323" cy="1537161"/>
            </a:xfrm>
            <a:prstGeom prst="rect">
              <a:avLst/>
            </a:prstGeom>
            <a:solidFill>
              <a:schemeClr val="accent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 txBox="1"/>
            <p:nvPr/>
          </p:nvSpPr>
          <p:spPr>
            <a:xfrm>
              <a:off x="7440570" y="2439791"/>
              <a:ext cx="3074323" cy="153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i="1" lang="en-US" sz="3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Hadis dhaif</a:t>
              </a: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 txBox="1"/>
          <p:nvPr>
            <p:ph type="title"/>
          </p:nvPr>
        </p:nvSpPr>
        <p:spPr>
          <a:xfrm>
            <a:off x="638881" y="4837175"/>
            <a:ext cx="10909640" cy="730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Bagaimana cara memahami Hadis secara tepat?</a:t>
            </a:r>
            <a:br>
              <a:rPr b="1" lang="en-US" sz="4000"/>
            </a:br>
            <a:endParaRPr b="1" sz="4000"/>
          </a:p>
        </p:txBody>
      </p:sp>
      <p:pic>
        <p:nvPicPr>
          <p:cNvPr descr="A stack of old books&#10;&#10;Description automatically generated" id="316" name="Google Shape;316;p16"/>
          <p:cNvPicPr preferRelativeResize="0"/>
          <p:nvPr/>
        </p:nvPicPr>
        <p:blipFill rotWithShape="1">
          <a:blip r:embed="rId3">
            <a:alphaModFix/>
          </a:blip>
          <a:srcRect b="-1" l="0" r="988" t="0"/>
          <a:stretch/>
        </p:blipFill>
        <p:spPr>
          <a:xfrm>
            <a:off x="320040" y="363750"/>
            <a:ext cx="5614416" cy="3985254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803"/>
              </a:srgbClr>
            </a:outerShdw>
          </a:effectLst>
        </p:spPr>
      </p:pic>
      <p:pic>
        <p:nvPicPr>
          <p:cNvPr id="317" name="Google Shape;317;p16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10120" r="8307" t="0"/>
          <a:stretch/>
        </p:blipFill>
        <p:spPr>
          <a:xfrm>
            <a:off x="6254496" y="482808"/>
            <a:ext cx="5614416" cy="387156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6"/>
          <p:cNvSpPr/>
          <p:nvPr/>
        </p:nvSpPr>
        <p:spPr>
          <a:xfrm>
            <a:off x="4450080" y="5594358"/>
            <a:ext cx="3291840" cy="18288"/>
          </a:xfrm>
          <a:custGeom>
            <a:rect b="b" l="l" r="r" t="t"/>
            <a:pathLst>
              <a:path extrusionOk="0" fill="none" h="18288" w="329184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29184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Prinsip-prinsip memahami hadis</a:t>
            </a:r>
            <a:endParaRPr/>
          </a:p>
        </p:txBody>
      </p:sp>
      <p:grpSp>
        <p:nvGrpSpPr>
          <p:cNvPr id="324" name="Google Shape;324;p17"/>
          <p:cNvGrpSpPr/>
          <p:nvPr/>
        </p:nvGrpSpPr>
        <p:grpSpPr>
          <a:xfrm>
            <a:off x="838200" y="1825625"/>
            <a:ext cx="10515600" cy="4351337"/>
            <a:chOff x="0" y="0"/>
            <a:chExt cx="10515600" cy="4351337"/>
          </a:xfrm>
        </p:grpSpPr>
        <p:cxnSp>
          <p:nvCxnSpPr>
            <p:cNvPr id="325" name="Google Shape;325;p17"/>
            <p:cNvCxnSpPr/>
            <p:nvPr/>
          </p:nvCxnSpPr>
          <p:spPr>
            <a:xfrm>
              <a:off x="0" y="0"/>
              <a:ext cx="10515600" cy="0"/>
            </a:xfrm>
            <a:prstGeom prst="straightConnector1">
              <a:avLst/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6" name="Google Shape;326;p17"/>
            <p:cNvSpPr/>
            <p:nvPr/>
          </p:nvSpPr>
          <p:spPr>
            <a:xfrm>
              <a:off x="0" y="0"/>
              <a:ext cx="10515600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7"/>
            <p:cNvSpPr txBox="1"/>
            <p:nvPr/>
          </p:nvSpPr>
          <p:spPr>
            <a:xfrm>
              <a:off x="0" y="0"/>
              <a:ext cx="10515600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Memahami Sunnah sesuai dengan penjelasan Alquran;</a:t>
              </a:r>
              <a:endParaRPr/>
            </a:p>
          </p:txBody>
        </p:sp>
        <p:cxnSp>
          <p:nvCxnSpPr>
            <p:cNvPr id="328" name="Google Shape;328;p17"/>
            <p:cNvCxnSpPr/>
            <p:nvPr/>
          </p:nvCxnSpPr>
          <p:spPr>
            <a:xfrm>
              <a:off x="0" y="543917"/>
              <a:ext cx="10515600" cy="0"/>
            </a:xfrm>
            <a:prstGeom prst="straightConnector1">
              <a:avLst/>
            </a:prstGeom>
            <a:solidFill>
              <a:schemeClr val="accent3"/>
            </a:solidFill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9" name="Google Shape;329;p17"/>
            <p:cNvSpPr/>
            <p:nvPr/>
          </p:nvSpPr>
          <p:spPr>
            <a:xfrm>
              <a:off x="0" y="543917"/>
              <a:ext cx="10515600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7"/>
            <p:cNvSpPr txBox="1"/>
            <p:nvPr/>
          </p:nvSpPr>
          <p:spPr>
            <a:xfrm>
              <a:off x="0" y="543917"/>
              <a:ext cx="10515600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Memahami hadis-hadis secara intertekstulitas dan interkonektif; </a:t>
              </a:r>
              <a:endParaRPr/>
            </a:p>
          </p:txBody>
        </p:sp>
        <p:cxnSp>
          <p:nvCxnSpPr>
            <p:cNvPr id="331" name="Google Shape;331;p17"/>
            <p:cNvCxnSpPr/>
            <p:nvPr/>
          </p:nvCxnSpPr>
          <p:spPr>
            <a:xfrm>
              <a:off x="0" y="1087834"/>
              <a:ext cx="10515600" cy="0"/>
            </a:xfrm>
            <a:prstGeom prst="straightConnector1">
              <a:avLst/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2" name="Google Shape;332;p17"/>
            <p:cNvSpPr/>
            <p:nvPr/>
          </p:nvSpPr>
          <p:spPr>
            <a:xfrm>
              <a:off x="0" y="1087834"/>
              <a:ext cx="10515600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7"/>
            <p:cNvSpPr txBox="1"/>
            <p:nvPr/>
          </p:nvSpPr>
          <p:spPr>
            <a:xfrm>
              <a:off x="0" y="1087834"/>
              <a:ext cx="10515600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Mengkompromikan atau men-tarjih hadis-hadis yang tampak bertentangan;</a:t>
              </a:r>
              <a:endParaRPr/>
            </a:p>
          </p:txBody>
        </p:sp>
        <p:cxnSp>
          <p:nvCxnSpPr>
            <p:cNvPr id="334" name="Google Shape;334;p17"/>
            <p:cNvCxnSpPr/>
            <p:nvPr/>
          </p:nvCxnSpPr>
          <p:spPr>
            <a:xfrm>
              <a:off x="0" y="1631751"/>
              <a:ext cx="10515600" cy="0"/>
            </a:xfrm>
            <a:prstGeom prst="straightConnector1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5" name="Google Shape;335;p17"/>
            <p:cNvSpPr/>
            <p:nvPr/>
          </p:nvSpPr>
          <p:spPr>
            <a:xfrm>
              <a:off x="0" y="1631751"/>
              <a:ext cx="10515600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7"/>
            <p:cNvSpPr txBox="1"/>
            <p:nvPr/>
          </p:nvSpPr>
          <p:spPr>
            <a:xfrm>
              <a:off x="0" y="1631751"/>
              <a:ext cx="10515600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Memahami hadis berdasar asbab al-wurud dan  maqashid-nya;</a:t>
              </a:r>
              <a:endParaRPr/>
            </a:p>
          </p:txBody>
        </p:sp>
        <p:cxnSp>
          <p:nvCxnSpPr>
            <p:cNvPr id="337" name="Google Shape;337;p17"/>
            <p:cNvCxnSpPr/>
            <p:nvPr/>
          </p:nvCxnSpPr>
          <p:spPr>
            <a:xfrm>
              <a:off x="0" y="2175669"/>
              <a:ext cx="10515600" cy="0"/>
            </a:xfrm>
            <a:prstGeom prst="straightConnector1">
              <a:avLst/>
            </a:prstGeom>
            <a:solidFill>
              <a:schemeClr val="accent6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8" name="Google Shape;338;p17"/>
            <p:cNvSpPr/>
            <p:nvPr/>
          </p:nvSpPr>
          <p:spPr>
            <a:xfrm>
              <a:off x="0" y="2175669"/>
              <a:ext cx="10515600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7"/>
            <p:cNvSpPr txBox="1"/>
            <p:nvPr/>
          </p:nvSpPr>
          <p:spPr>
            <a:xfrm>
              <a:off x="0" y="2175669"/>
              <a:ext cx="10515600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 Membedakan antara sarana dengan tujuan dalam hadis</a:t>
              </a:r>
              <a:endParaRPr/>
            </a:p>
          </p:txBody>
        </p:sp>
        <p:cxnSp>
          <p:nvCxnSpPr>
            <p:cNvPr id="340" name="Google Shape;340;p17"/>
            <p:cNvCxnSpPr/>
            <p:nvPr/>
          </p:nvCxnSpPr>
          <p:spPr>
            <a:xfrm>
              <a:off x="0" y="2719586"/>
              <a:ext cx="10515600" cy="0"/>
            </a:xfrm>
            <a:prstGeom prst="straightConnector1">
              <a:avLst/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1" name="Google Shape;341;p17"/>
            <p:cNvSpPr/>
            <p:nvPr/>
          </p:nvSpPr>
          <p:spPr>
            <a:xfrm>
              <a:off x="0" y="2719586"/>
              <a:ext cx="10515600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7"/>
            <p:cNvSpPr txBox="1"/>
            <p:nvPr/>
          </p:nvSpPr>
          <p:spPr>
            <a:xfrm>
              <a:off x="0" y="2719586"/>
              <a:ext cx="10515600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6. Membedakan antara hakikat dan majaz dalam hadis</a:t>
              </a:r>
              <a:endParaRPr/>
            </a:p>
          </p:txBody>
        </p:sp>
        <p:cxnSp>
          <p:nvCxnSpPr>
            <p:cNvPr id="343" name="Google Shape;343;p17"/>
            <p:cNvCxnSpPr/>
            <p:nvPr/>
          </p:nvCxnSpPr>
          <p:spPr>
            <a:xfrm>
              <a:off x="0" y="3263503"/>
              <a:ext cx="10515600" cy="0"/>
            </a:xfrm>
            <a:prstGeom prst="straightConnector1">
              <a:avLst/>
            </a:prstGeom>
            <a:solidFill>
              <a:schemeClr val="accent3"/>
            </a:solidFill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4" name="Google Shape;344;p17"/>
            <p:cNvSpPr/>
            <p:nvPr/>
          </p:nvSpPr>
          <p:spPr>
            <a:xfrm>
              <a:off x="0" y="3263503"/>
              <a:ext cx="10515600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7"/>
            <p:cNvSpPr txBox="1"/>
            <p:nvPr/>
          </p:nvSpPr>
          <p:spPr>
            <a:xfrm>
              <a:off x="0" y="3263503"/>
              <a:ext cx="10515600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7. Membedakan antara yang gaib dengan yang tampak</a:t>
              </a:r>
              <a:endParaRPr/>
            </a:p>
          </p:txBody>
        </p:sp>
        <p:cxnSp>
          <p:nvCxnSpPr>
            <p:cNvPr id="346" name="Google Shape;346;p17"/>
            <p:cNvCxnSpPr/>
            <p:nvPr/>
          </p:nvCxnSpPr>
          <p:spPr>
            <a:xfrm>
              <a:off x="0" y="3807420"/>
              <a:ext cx="10515600" cy="0"/>
            </a:xfrm>
            <a:prstGeom prst="straightConnector1">
              <a:avLst/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7" name="Google Shape;347;p17"/>
            <p:cNvSpPr/>
            <p:nvPr/>
          </p:nvSpPr>
          <p:spPr>
            <a:xfrm>
              <a:off x="0" y="3807420"/>
              <a:ext cx="10515600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7"/>
            <p:cNvSpPr txBox="1"/>
            <p:nvPr/>
          </p:nvSpPr>
          <p:spPr>
            <a:xfrm>
              <a:off x="0" y="3807420"/>
              <a:ext cx="10515600" cy="543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8. Memastikan makna kata dari hadis secara tepat.</a:t>
              </a:r>
              <a:endParaRPr/>
            </a:p>
          </p:txBody>
        </p:sp>
      </p:grpSp>
      <p:sp>
        <p:nvSpPr>
          <p:cNvPr id="349" name="Google Shape;349;p17"/>
          <p:cNvSpPr txBox="1"/>
          <p:nvPr/>
        </p:nvSpPr>
        <p:spPr>
          <a:xfrm>
            <a:off x="5021317" y="6176963"/>
            <a:ext cx="6324600" cy="3231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Yusuf al-Qaradawi, </a:t>
            </a:r>
            <a:r>
              <a:rPr i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Kayfa Nata‘amal Ma‘ al-Sunnah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(Kairo: Dar al-Shuruq, 2010)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0" y="1918174"/>
            <a:ext cx="12192000" cy="4939827"/>
          </a:xfrm>
          <a:custGeom>
            <a:rect b="b" l="l" r="r" t="t"/>
            <a:pathLst>
              <a:path extrusionOk="0" h="4939827" w="12192000">
                <a:moveTo>
                  <a:pt x="7025905" y="0"/>
                </a:moveTo>
                <a:lnTo>
                  <a:pt x="7032579" y="2808"/>
                </a:lnTo>
                <a:cubicBezTo>
                  <a:pt x="7044119" y="6590"/>
                  <a:pt x="7059062" y="10207"/>
                  <a:pt x="7079505" y="12971"/>
                </a:cubicBezTo>
                <a:cubicBezTo>
                  <a:pt x="7111522" y="10537"/>
                  <a:pt x="7122591" y="11519"/>
                  <a:pt x="7158791" y="12462"/>
                </a:cubicBezTo>
                <a:lnTo>
                  <a:pt x="7233338" y="24846"/>
                </a:lnTo>
                <a:cubicBezTo>
                  <a:pt x="7247177" y="23787"/>
                  <a:pt x="7254856" y="25962"/>
                  <a:pt x="7259791" y="29557"/>
                </a:cubicBezTo>
                <a:lnTo>
                  <a:pt x="7263923" y="35029"/>
                </a:lnTo>
                <a:lnTo>
                  <a:pt x="7281549" y="39654"/>
                </a:lnTo>
                <a:lnTo>
                  <a:pt x="7374735" y="65326"/>
                </a:lnTo>
                <a:lnTo>
                  <a:pt x="7376078" y="63849"/>
                </a:lnTo>
                <a:lnTo>
                  <a:pt x="7402026" y="60308"/>
                </a:lnTo>
                <a:lnTo>
                  <a:pt x="7415091" y="77403"/>
                </a:lnTo>
                <a:cubicBezTo>
                  <a:pt x="7421672" y="79965"/>
                  <a:pt x="7475806" y="92960"/>
                  <a:pt x="7488682" y="83440"/>
                </a:cubicBezTo>
                <a:cubicBezTo>
                  <a:pt x="7541625" y="94782"/>
                  <a:pt x="7683214" y="133614"/>
                  <a:pt x="7732750" y="145456"/>
                </a:cubicBezTo>
                <a:cubicBezTo>
                  <a:pt x="7748318" y="162765"/>
                  <a:pt x="7764581" y="171696"/>
                  <a:pt x="7785900" y="154493"/>
                </a:cubicBezTo>
                <a:cubicBezTo>
                  <a:pt x="7822539" y="158614"/>
                  <a:pt x="7915312" y="166523"/>
                  <a:pt x="7952584" y="170181"/>
                </a:cubicBezTo>
                <a:cubicBezTo>
                  <a:pt x="7998047" y="181004"/>
                  <a:pt x="8029749" y="207794"/>
                  <a:pt x="8058681" y="219431"/>
                </a:cubicBezTo>
                <a:cubicBezTo>
                  <a:pt x="8095466" y="185885"/>
                  <a:pt x="8090835" y="241759"/>
                  <a:pt x="8126175" y="240005"/>
                </a:cubicBezTo>
                <a:cubicBezTo>
                  <a:pt x="8163290" y="246246"/>
                  <a:pt x="8238799" y="256773"/>
                  <a:pt x="8281371" y="256875"/>
                </a:cubicBezTo>
                <a:cubicBezTo>
                  <a:pt x="8313651" y="251026"/>
                  <a:pt x="8346882" y="248570"/>
                  <a:pt x="8381609" y="240618"/>
                </a:cubicBezTo>
                <a:lnTo>
                  <a:pt x="8406759" y="232517"/>
                </a:lnTo>
                <a:lnTo>
                  <a:pt x="8426506" y="241842"/>
                </a:lnTo>
                <a:lnTo>
                  <a:pt x="8427949" y="240981"/>
                </a:lnTo>
                <a:cubicBezTo>
                  <a:pt x="8431925" y="239458"/>
                  <a:pt x="8436260" y="239096"/>
                  <a:pt x="8441468" y="241157"/>
                </a:cubicBezTo>
                <a:lnTo>
                  <a:pt x="8565757" y="255317"/>
                </a:lnTo>
                <a:lnTo>
                  <a:pt x="8573171" y="258426"/>
                </a:lnTo>
                <a:lnTo>
                  <a:pt x="8573548" y="258241"/>
                </a:lnTo>
                <a:cubicBezTo>
                  <a:pt x="8575650" y="258391"/>
                  <a:pt x="8618469" y="259217"/>
                  <a:pt x="8622021" y="261028"/>
                </a:cubicBezTo>
                <a:lnTo>
                  <a:pt x="8672650" y="254821"/>
                </a:lnTo>
                <a:cubicBezTo>
                  <a:pt x="8716151" y="260353"/>
                  <a:pt x="8748971" y="243487"/>
                  <a:pt x="8785543" y="263406"/>
                </a:cubicBezTo>
                <a:cubicBezTo>
                  <a:pt x="8826293" y="268498"/>
                  <a:pt x="8797654" y="254573"/>
                  <a:pt x="8830588" y="265483"/>
                </a:cubicBezTo>
                <a:cubicBezTo>
                  <a:pt x="8849202" y="267272"/>
                  <a:pt x="8877544" y="266277"/>
                  <a:pt x="8905142" y="264958"/>
                </a:cubicBezTo>
                <a:lnTo>
                  <a:pt x="8968582" y="262728"/>
                </a:lnTo>
                <a:lnTo>
                  <a:pt x="8972994" y="263284"/>
                </a:lnTo>
                <a:lnTo>
                  <a:pt x="9004605" y="258041"/>
                </a:lnTo>
                <a:lnTo>
                  <a:pt x="9016165" y="261258"/>
                </a:lnTo>
                <a:cubicBezTo>
                  <a:pt x="9028775" y="267579"/>
                  <a:pt x="9039083" y="277488"/>
                  <a:pt x="9043297" y="281547"/>
                </a:cubicBezTo>
                <a:lnTo>
                  <a:pt x="9048315" y="279264"/>
                </a:lnTo>
                <a:lnTo>
                  <a:pt x="9054706" y="278538"/>
                </a:lnTo>
                <a:lnTo>
                  <a:pt x="9070919" y="281810"/>
                </a:lnTo>
                <a:lnTo>
                  <a:pt x="9076813" y="283909"/>
                </a:lnTo>
                <a:cubicBezTo>
                  <a:pt x="9080948" y="285030"/>
                  <a:pt x="9083794" y="285362"/>
                  <a:pt x="9085871" y="285133"/>
                </a:cubicBezTo>
                <a:lnTo>
                  <a:pt x="9086159" y="284887"/>
                </a:lnTo>
                <a:lnTo>
                  <a:pt x="9134606" y="288168"/>
                </a:lnTo>
                <a:cubicBezTo>
                  <a:pt x="9149441" y="274272"/>
                  <a:pt x="9194106" y="309414"/>
                  <a:pt x="9195590" y="279568"/>
                </a:cubicBezTo>
                <a:cubicBezTo>
                  <a:pt x="9212898" y="284479"/>
                  <a:pt x="9220866" y="298055"/>
                  <a:pt x="9219336" y="278133"/>
                </a:cubicBezTo>
                <a:cubicBezTo>
                  <a:pt x="9225159" y="279201"/>
                  <a:pt x="9229164" y="278078"/>
                  <a:pt x="9232362" y="275894"/>
                </a:cubicBezTo>
                <a:lnTo>
                  <a:pt x="9283638" y="299924"/>
                </a:lnTo>
                <a:lnTo>
                  <a:pt x="9371484" y="329634"/>
                </a:lnTo>
                <a:lnTo>
                  <a:pt x="9404829" y="339038"/>
                </a:lnTo>
                <a:lnTo>
                  <a:pt x="9427021" y="358784"/>
                </a:lnTo>
                <a:cubicBezTo>
                  <a:pt x="9500124" y="364086"/>
                  <a:pt x="9604652" y="390635"/>
                  <a:pt x="9670844" y="405128"/>
                </a:cubicBezTo>
                <a:cubicBezTo>
                  <a:pt x="9688531" y="417998"/>
                  <a:pt x="9762277" y="426463"/>
                  <a:pt x="9816083" y="416573"/>
                </a:cubicBezTo>
                <a:lnTo>
                  <a:pt x="9936741" y="437044"/>
                </a:lnTo>
                <a:cubicBezTo>
                  <a:pt x="9978091" y="447025"/>
                  <a:pt x="10008641" y="443705"/>
                  <a:pt x="10050093" y="443783"/>
                </a:cubicBezTo>
                <a:cubicBezTo>
                  <a:pt x="10074709" y="448779"/>
                  <a:pt x="10088915" y="449258"/>
                  <a:pt x="10130090" y="459520"/>
                </a:cubicBezTo>
                <a:cubicBezTo>
                  <a:pt x="10137791" y="458564"/>
                  <a:pt x="10165777" y="459877"/>
                  <a:pt x="10173456" y="457749"/>
                </a:cubicBezTo>
                <a:lnTo>
                  <a:pt x="10218232" y="459820"/>
                </a:lnTo>
                <a:lnTo>
                  <a:pt x="10354176" y="471377"/>
                </a:lnTo>
                <a:cubicBezTo>
                  <a:pt x="10367946" y="478917"/>
                  <a:pt x="10417270" y="488110"/>
                  <a:pt x="10430681" y="481226"/>
                </a:cubicBezTo>
                <a:cubicBezTo>
                  <a:pt x="10441804" y="481366"/>
                  <a:pt x="10469025" y="490181"/>
                  <a:pt x="10478169" y="481774"/>
                </a:cubicBezTo>
                <a:cubicBezTo>
                  <a:pt x="10503830" y="488972"/>
                  <a:pt x="10531359" y="489751"/>
                  <a:pt x="10540907" y="485607"/>
                </a:cubicBezTo>
                <a:cubicBezTo>
                  <a:pt x="10569054" y="475472"/>
                  <a:pt x="10590882" y="489185"/>
                  <a:pt x="10614941" y="487592"/>
                </a:cubicBezTo>
                <a:cubicBezTo>
                  <a:pt x="10654657" y="492458"/>
                  <a:pt x="10645652" y="516778"/>
                  <a:pt x="10674098" y="521656"/>
                </a:cubicBezTo>
                <a:cubicBezTo>
                  <a:pt x="10737163" y="537583"/>
                  <a:pt x="10829686" y="559302"/>
                  <a:pt x="10874834" y="574867"/>
                </a:cubicBezTo>
                <a:cubicBezTo>
                  <a:pt x="10919981" y="590432"/>
                  <a:pt x="10878682" y="577481"/>
                  <a:pt x="10944981" y="615042"/>
                </a:cubicBezTo>
                <a:cubicBezTo>
                  <a:pt x="10976235" y="616974"/>
                  <a:pt x="10982969" y="648568"/>
                  <a:pt x="11006376" y="645957"/>
                </a:cubicBezTo>
                <a:cubicBezTo>
                  <a:pt x="11005343" y="630631"/>
                  <a:pt x="11047577" y="676048"/>
                  <a:pt x="11076308" y="675698"/>
                </a:cubicBezTo>
                <a:cubicBezTo>
                  <a:pt x="11093142" y="677175"/>
                  <a:pt x="11131116" y="681348"/>
                  <a:pt x="11148789" y="685041"/>
                </a:cubicBezTo>
                <a:cubicBezTo>
                  <a:pt x="11177310" y="688243"/>
                  <a:pt x="11217768" y="714725"/>
                  <a:pt x="11249129" y="684218"/>
                </a:cubicBezTo>
                <a:cubicBezTo>
                  <a:pt x="11276269" y="697037"/>
                  <a:pt x="11257432" y="693670"/>
                  <a:pt x="11299915" y="692177"/>
                </a:cubicBezTo>
                <a:cubicBezTo>
                  <a:pt x="11314401" y="703224"/>
                  <a:pt x="11371412" y="714421"/>
                  <a:pt x="11386973" y="708209"/>
                </a:cubicBezTo>
                <a:cubicBezTo>
                  <a:pt x="11425657" y="716286"/>
                  <a:pt x="11454555" y="715485"/>
                  <a:pt x="11500105" y="735014"/>
                </a:cubicBezTo>
                <a:cubicBezTo>
                  <a:pt x="11545172" y="751781"/>
                  <a:pt x="11573053" y="787789"/>
                  <a:pt x="11621735" y="789584"/>
                </a:cubicBezTo>
                <a:lnTo>
                  <a:pt x="11691200" y="867902"/>
                </a:lnTo>
                <a:cubicBezTo>
                  <a:pt x="11734106" y="911360"/>
                  <a:pt x="11773008" y="895495"/>
                  <a:pt x="11819427" y="911634"/>
                </a:cubicBezTo>
                <a:lnTo>
                  <a:pt x="11969720" y="964737"/>
                </a:lnTo>
                <a:cubicBezTo>
                  <a:pt x="12009110" y="978008"/>
                  <a:pt x="12010206" y="989588"/>
                  <a:pt x="12055766" y="991268"/>
                </a:cubicBezTo>
                <a:cubicBezTo>
                  <a:pt x="12105723" y="1003445"/>
                  <a:pt x="12068493" y="1020292"/>
                  <a:pt x="12171539" y="995427"/>
                </a:cubicBezTo>
                <a:cubicBezTo>
                  <a:pt x="12174929" y="995822"/>
                  <a:pt x="12180763" y="996228"/>
                  <a:pt x="12187831" y="996580"/>
                </a:cubicBezTo>
                <a:lnTo>
                  <a:pt x="12192000" y="996726"/>
                </a:lnTo>
                <a:lnTo>
                  <a:pt x="12192000" y="4939827"/>
                </a:lnTo>
                <a:lnTo>
                  <a:pt x="0" y="4939827"/>
                </a:lnTo>
                <a:lnTo>
                  <a:pt x="0" y="512043"/>
                </a:lnTo>
                <a:lnTo>
                  <a:pt x="7381" y="512580"/>
                </a:lnTo>
                <a:cubicBezTo>
                  <a:pt x="39359" y="514524"/>
                  <a:pt x="72732" y="514144"/>
                  <a:pt x="100029" y="504758"/>
                </a:cubicBezTo>
                <a:cubicBezTo>
                  <a:pt x="115935" y="525779"/>
                  <a:pt x="143126" y="489229"/>
                  <a:pt x="155244" y="525130"/>
                </a:cubicBezTo>
                <a:cubicBezTo>
                  <a:pt x="173881" y="522487"/>
                  <a:pt x="242791" y="514086"/>
                  <a:pt x="254366" y="534449"/>
                </a:cubicBezTo>
                <a:cubicBezTo>
                  <a:pt x="303041" y="537382"/>
                  <a:pt x="380161" y="541650"/>
                  <a:pt x="447292" y="542725"/>
                </a:cubicBezTo>
                <a:cubicBezTo>
                  <a:pt x="530282" y="553078"/>
                  <a:pt x="572130" y="539673"/>
                  <a:pt x="628105" y="547853"/>
                </a:cubicBezTo>
                <a:cubicBezTo>
                  <a:pt x="661608" y="509671"/>
                  <a:pt x="746152" y="605137"/>
                  <a:pt x="783146" y="591799"/>
                </a:cubicBezTo>
                <a:cubicBezTo>
                  <a:pt x="862499" y="590113"/>
                  <a:pt x="949481" y="579142"/>
                  <a:pt x="1043676" y="591887"/>
                </a:cubicBezTo>
                <a:cubicBezTo>
                  <a:pt x="1120353" y="576991"/>
                  <a:pt x="1172004" y="553592"/>
                  <a:pt x="1281816" y="520946"/>
                </a:cubicBezTo>
                <a:cubicBezTo>
                  <a:pt x="1339915" y="511282"/>
                  <a:pt x="1459480" y="554579"/>
                  <a:pt x="1486347" y="487310"/>
                </a:cubicBezTo>
                <a:cubicBezTo>
                  <a:pt x="1507765" y="532008"/>
                  <a:pt x="1539168" y="465954"/>
                  <a:pt x="1568079" y="462531"/>
                </a:cubicBezTo>
                <a:cubicBezTo>
                  <a:pt x="1587821" y="491525"/>
                  <a:pt x="1601468" y="469316"/>
                  <a:pt x="1622516" y="466058"/>
                </a:cubicBezTo>
                <a:cubicBezTo>
                  <a:pt x="1630056" y="483510"/>
                  <a:pt x="1647504" y="484261"/>
                  <a:pt x="1655457" y="465359"/>
                </a:cubicBezTo>
                <a:cubicBezTo>
                  <a:pt x="1651800" y="419723"/>
                  <a:pt x="1709718" y="447719"/>
                  <a:pt x="1717454" y="417203"/>
                </a:cubicBezTo>
                <a:cubicBezTo>
                  <a:pt x="1753115" y="414011"/>
                  <a:pt x="1882851" y="412376"/>
                  <a:pt x="1913794" y="365255"/>
                </a:cubicBezTo>
                <a:cubicBezTo>
                  <a:pt x="2001060" y="361067"/>
                  <a:pt x="2099559" y="366414"/>
                  <a:pt x="2129762" y="367832"/>
                </a:cubicBezTo>
                <a:cubicBezTo>
                  <a:pt x="2215380" y="355065"/>
                  <a:pt x="2248807" y="343296"/>
                  <a:pt x="2376970" y="350129"/>
                </a:cubicBezTo>
                <a:cubicBezTo>
                  <a:pt x="2393251" y="360463"/>
                  <a:pt x="2473371" y="379419"/>
                  <a:pt x="2480155" y="359227"/>
                </a:cubicBezTo>
                <a:cubicBezTo>
                  <a:pt x="2520060" y="359505"/>
                  <a:pt x="2561270" y="311415"/>
                  <a:pt x="2586782" y="339352"/>
                </a:cubicBezTo>
                <a:cubicBezTo>
                  <a:pt x="2585230" y="294982"/>
                  <a:pt x="2653633" y="316689"/>
                  <a:pt x="2679617" y="305383"/>
                </a:cubicBezTo>
                <a:cubicBezTo>
                  <a:pt x="2721434" y="266011"/>
                  <a:pt x="2746765" y="276002"/>
                  <a:pt x="2788947" y="250375"/>
                </a:cubicBezTo>
                <a:cubicBezTo>
                  <a:pt x="2851672" y="235447"/>
                  <a:pt x="2913075" y="252766"/>
                  <a:pt x="2965530" y="245958"/>
                </a:cubicBezTo>
                <a:cubicBezTo>
                  <a:pt x="3001911" y="238336"/>
                  <a:pt x="3090203" y="217828"/>
                  <a:pt x="3103677" y="209527"/>
                </a:cubicBezTo>
                <a:lnTo>
                  <a:pt x="3126759" y="211226"/>
                </a:lnTo>
                <a:cubicBezTo>
                  <a:pt x="3136908" y="211889"/>
                  <a:pt x="3148903" y="212490"/>
                  <a:pt x="3164020" y="212779"/>
                </a:cubicBezTo>
                <a:cubicBezTo>
                  <a:pt x="3225474" y="210084"/>
                  <a:pt x="3231859" y="218227"/>
                  <a:pt x="3285019" y="220535"/>
                </a:cubicBezTo>
                <a:cubicBezTo>
                  <a:pt x="3318541" y="222809"/>
                  <a:pt x="3359787" y="223898"/>
                  <a:pt x="3365154" y="226416"/>
                </a:cubicBezTo>
                <a:lnTo>
                  <a:pt x="3367507" y="225416"/>
                </a:lnTo>
                <a:cubicBezTo>
                  <a:pt x="3377583" y="223667"/>
                  <a:pt x="3383502" y="224760"/>
                  <a:pt x="3387567" y="227103"/>
                </a:cubicBezTo>
                <a:lnTo>
                  <a:pt x="3498001" y="231941"/>
                </a:lnTo>
                <a:cubicBezTo>
                  <a:pt x="3513569" y="226158"/>
                  <a:pt x="3539132" y="232525"/>
                  <a:pt x="3561557" y="228095"/>
                </a:cubicBezTo>
                <a:cubicBezTo>
                  <a:pt x="3574944" y="230843"/>
                  <a:pt x="3597426" y="216287"/>
                  <a:pt x="3611920" y="218094"/>
                </a:cubicBezTo>
                <a:lnTo>
                  <a:pt x="3620528" y="218788"/>
                </a:lnTo>
                <a:lnTo>
                  <a:pt x="3620766" y="218511"/>
                </a:lnTo>
                <a:cubicBezTo>
                  <a:pt x="3622780" y="218042"/>
                  <a:pt x="3625663" y="218038"/>
                  <a:pt x="3629977" y="218664"/>
                </a:cubicBezTo>
                <a:lnTo>
                  <a:pt x="3636217" y="220048"/>
                </a:lnTo>
                <a:lnTo>
                  <a:pt x="3709484" y="186927"/>
                </a:lnTo>
                <a:cubicBezTo>
                  <a:pt x="3731015" y="183190"/>
                  <a:pt x="3745790" y="180810"/>
                  <a:pt x="3761342" y="177474"/>
                </a:cubicBezTo>
                <a:lnTo>
                  <a:pt x="3799748" y="167154"/>
                </a:lnTo>
                <a:lnTo>
                  <a:pt x="3922756" y="194044"/>
                </a:lnTo>
                <a:cubicBezTo>
                  <a:pt x="3960877" y="203465"/>
                  <a:pt x="3965250" y="215357"/>
                  <a:pt x="4028476" y="223679"/>
                </a:cubicBezTo>
                <a:cubicBezTo>
                  <a:pt x="4088751" y="228019"/>
                  <a:pt x="4139112" y="248870"/>
                  <a:pt x="4191582" y="238952"/>
                </a:cubicBezTo>
                <a:cubicBezTo>
                  <a:pt x="4210842" y="254091"/>
                  <a:pt x="4229809" y="260810"/>
                  <a:pt x="4251024" y="240874"/>
                </a:cubicBezTo>
                <a:cubicBezTo>
                  <a:pt x="4306627" y="250935"/>
                  <a:pt x="4317066" y="281625"/>
                  <a:pt x="4355275" y="260205"/>
                </a:cubicBezTo>
                <a:cubicBezTo>
                  <a:pt x="4390577" y="327090"/>
                  <a:pt x="4385658" y="272111"/>
                  <a:pt x="4423807" y="270366"/>
                </a:cubicBezTo>
                <a:cubicBezTo>
                  <a:pt x="4457666" y="271864"/>
                  <a:pt x="4523223" y="267475"/>
                  <a:pt x="4558432" y="269194"/>
                </a:cubicBezTo>
                <a:cubicBezTo>
                  <a:pt x="4594553" y="230955"/>
                  <a:pt x="4596517" y="287120"/>
                  <a:pt x="4635061" y="280682"/>
                </a:cubicBezTo>
                <a:cubicBezTo>
                  <a:pt x="4676560" y="281955"/>
                  <a:pt x="4741782" y="292968"/>
                  <a:pt x="4807427" y="276835"/>
                </a:cubicBezTo>
                <a:cubicBezTo>
                  <a:pt x="4876769" y="256626"/>
                  <a:pt x="4951997" y="249407"/>
                  <a:pt x="5028933" y="183887"/>
                </a:cubicBezTo>
                <a:cubicBezTo>
                  <a:pt x="5044713" y="164149"/>
                  <a:pt x="5073685" y="161161"/>
                  <a:pt x="5093642" y="177214"/>
                </a:cubicBezTo>
                <a:cubicBezTo>
                  <a:pt x="5097077" y="179978"/>
                  <a:pt x="5100108" y="183212"/>
                  <a:pt x="5102642" y="186816"/>
                </a:cubicBezTo>
                <a:cubicBezTo>
                  <a:pt x="5150234" y="139156"/>
                  <a:pt x="5169674" y="190314"/>
                  <a:pt x="5193590" y="156458"/>
                </a:cubicBezTo>
                <a:cubicBezTo>
                  <a:pt x="5257854" y="151722"/>
                  <a:pt x="5301917" y="175841"/>
                  <a:pt x="5323922" y="146332"/>
                </a:cubicBezTo>
                <a:cubicBezTo>
                  <a:pt x="5355266" y="153538"/>
                  <a:pt x="5392601" y="198271"/>
                  <a:pt x="5421860" y="167298"/>
                </a:cubicBezTo>
                <a:cubicBezTo>
                  <a:pt x="5420630" y="196364"/>
                  <a:pt x="5461576" y="151467"/>
                  <a:pt x="5476948" y="173249"/>
                </a:cubicBezTo>
                <a:cubicBezTo>
                  <a:pt x="5487334" y="191763"/>
                  <a:pt x="5502178" y="182456"/>
                  <a:pt x="5516842" y="184018"/>
                </a:cubicBezTo>
                <a:cubicBezTo>
                  <a:pt x="5533140" y="200158"/>
                  <a:pt x="5599828" y="189750"/>
                  <a:pt x="5619415" y="176781"/>
                </a:cubicBezTo>
                <a:cubicBezTo>
                  <a:pt x="5690073" y="168499"/>
                  <a:pt x="5748631" y="186964"/>
                  <a:pt x="5789867" y="150304"/>
                </a:cubicBezTo>
                <a:cubicBezTo>
                  <a:pt x="5802836" y="146282"/>
                  <a:pt x="5814753" y="145947"/>
                  <a:pt x="5825953" y="147907"/>
                </a:cubicBezTo>
                <a:lnTo>
                  <a:pt x="5856168" y="158719"/>
                </a:lnTo>
                <a:lnTo>
                  <a:pt x="5862476" y="172447"/>
                </a:lnTo>
                <a:lnTo>
                  <a:pt x="5882195" y="173195"/>
                </a:lnTo>
                <a:lnTo>
                  <a:pt x="5952585" y="161012"/>
                </a:lnTo>
                <a:cubicBezTo>
                  <a:pt x="5962273" y="166588"/>
                  <a:pt x="5992020" y="151579"/>
                  <a:pt x="6001964" y="154786"/>
                </a:cubicBezTo>
                <a:cubicBezTo>
                  <a:pt x="6061748" y="122178"/>
                  <a:pt x="6101539" y="131534"/>
                  <a:pt x="6184207" y="132658"/>
                </a:cubicBezTo>
                <a:cubicBezTo>
                  <a:pt x="6266582" y="127016"/>
                  <a:pt x="6286876" y="151859"/>
                  <a:pt x="6415830" y="136006"/>
                </a:cubicBezTo>
                <a:cubicBezTo>
                  <a:pt x="6563502" y="116945"/>
                  <a:pt x="6684679" y="79367"/>
                  <a:pt x="6756965" y="57636"/>
                </a:cubicBezTo>
                <a:cubicBezTo>
                  <a:pt x="6761544" y="48663"/>
                  <a:pt x="6812642" y="36519"/>
                  <a:pt x="6819400" y="30742"/>
                </a:cubicBezTo>
                <a:lnTo>
                  <a:pt x="6986370" y="12659"/>
                </a:lnTo>
                <a:lnTo>
                  <a:pt x="6989536" y="14528"/>
                </a:lnTo>
                <a:cubicBezTo>
                  <a:pt x="7002946" y="17364"/>
                  <a:pt x="7010700" y="14716"/>
                  <a:pt x="7015933" y="9653"/>
                </a:cubicBezTo>
                <a:lnTo>
                  <a:pt x="7020592" y="1651"/>
                </a:lnTo>
                <a:lnTo>
                  <a:pt x="7025905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 txBox="1"/>
          <p:nvPr>
            <p:ph type="title"/>
          </p:nvPr>
        </p:nvSpPr>
        <p:spPr>
          <a:xfrm>
            <a:off x="1184744" y="5198168"/>
            <a:ext cx="9859618" cy="7940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lang="en-US" sz="4500"/>
              <a:t>Terima Kasih</a:t>
            </a:r>
            <a:endParaRPr/>
          </a:p>
        </p:txBody>
      </p:sp>
      <p:sp>
        <p:nvSpPr>
          <p:cNvPr id="357" name="Google Shape;357;p18"/>
          <p:cNvSpPr/>
          <p:nvPr/>
        </p:nvSpPr>
        <p:spPr>
          <a:xfrm>
            <a:off x="1917950" y="647758"/>
            <a:ext cx="8355105" cy="4392652"/>
          </a:xfrm>
          <a:custGeom>
            <a:rect b="b" l="l" r="r" t="t"/>
            <a:pathLst>
              <a:path extrusionOk="0"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rotWithShape="0" algn="tl" dir="3000000" dist="12700">
              <a:srgbClr val="000000">
                <a:alpha val="2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andle in a cage&#10;&#10;Description automatically generated" id="358" name="Google Shape;358;p18"/>
          <p:cNvPicPr preferRelativeResize="0"/>
          <p:nvPr/>
        </p:nvPicPr>
        <p:blipFill rotWithShape="1">
          <a:blip r:embed="rId3">
            <a:alphaModFix/>
          </a:blip>
          <a:srcRect b="11542" l="0" r="1" t="11542"/>
          <a:stretch/>
        </p:blipFill>
        <p:spPr>
          <a:xfrm>
            <a:off x="2079812" y="805516"/>
            <a:ext cx="8032376" cy="407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QW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2023-09-18T14:26:58Z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b1f5e78e-7400-486a-bd47-9d77097b4474</vt:lpwstr>
  </property>
  <property fmtid="{D5CDD505-2E9C-101B-9397-08002B2CF9AE}" pid="8" name="MSIP_Label_38b525e5-f3da-4501-8f1e-526b6769fc56_ContentBits">
    <vt:lpwstr>0</vt:lpwstr>
  </property>
</Properties>
</file>